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6"/>
  </p:notesMasterIdLst>
  <p:sldIdLst>
    <p:sldId id="256" r:id="rId2"/>
    <p:sldId id="261" r:id="rId3"/>
    <p:sldId id="262" r:id="rId4"/>
    <p:sldId id="263" r:id="rId5"/>
    <p:sldId id="264" r:id="rId6"/>
    <p:sldId id="267" r:id="rId7"/>
    <p:sldId id="266" r:id="rId8"/>
    <p:sldId id="268" r:id="rId9"/>
    <p:sldId id="283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8" r:id="rId19"/>
    <p:sldId id="277" r:id="rId20"/>
    <p:sldId id="279" r:id="rId21"/>
    <p:sldId id="280" r:id="rId22"/>
    <p:sldId id="281" r:id="rId23"/>
    <p:sldId id="284" r:id="rId24"/>
    <p:sldId id="282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11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7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2305C-3B4A-4CEA-9B78-30452B89202A}" type="datetimeFigureOut">
              <a:rPr lang="ko-KR" altLang="en-US" smtClean="0"/>
              <a:t>2022-06-08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E29B41-DE66-4CCD-8EF4-D4A2091FF0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684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none"/>
        </p:style>
        <p:txBody>
          <a:bodyPr anchor="ctr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b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2022-06-08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7846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5793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235676"/>
            <a:ext cx="10515600" cy="5099221"/>
          </a:xfrm>
        </p:spPr>
        <p:txBody>
          <a:bodyPr/>
          <a:lstStyle>
            <a:lvl1pPr>
              <a:lnSpc>
                <a:spcPct val="120000"/>
              </a:lnSpc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411156"/>
            <a:ext cx="2743200" cy="26912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E82D2FF9-85B3-4DB3-BCC0-C2DF320F10A8}" type="datetimeFigureOut">
              <a:rPr lang="ko-KR" altLang="en-US" smtClean="0"/>
              <a:t>2022-06-08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411156"/>
            <a:ext cx="4114800" cy="26912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411156"/>
            <a:ext cx="2743200" cy="269129"/>
          </a:xfrm>
        </p:spPr>
        <p:txBody>
          <a:bodyPr/>
          <a:lstStyle>
            <a:lvl1pPr>
              <a:defRPr sz="1200"/>
            </a:lvl1pPr>
          </a:lstStyle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9052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2022-06-08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684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2022-06-08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252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2022-06-08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42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2022-06-08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765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2022-06-08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314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2022-06-08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895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2022-06-08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429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2022-06-08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612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2022-06-08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0108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9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344168"/>
            <a:ext cx="10515600" cy="50121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8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ko-KR" altLang="en-US" sz="4400" kern="1200" dirty="0" smtClean="0">
          <a:solidFill>
            <a:schemeClr val="bg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ü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C++</a:t>
            </a:r>
            <a:r>
              <a:rPr lang="ko-KR" altLang="en-US" dirty="0"/>
              <a:t> 파일 다루기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0199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/>
              <a:t>학습목표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파일 입출력</a:t>
            </a:r>
          </a:p>
          <a:p>
            <a:r>
              <a:rPr lang="ko-KR" altLang="en-US" sz="1800" dirty="0"/>
              <a:t>텍스트 파일과 이진 파일</a:t>
            </a:r>
            <a:endParaRPr lang="en-US" altLang="ko-KR" sz="1800" dirty="0"/>
          </a:p>
          <a:p>
            <a:r>
              <a:rPr lang="ko-KR" altLang="en-US" sz="1800" dirty="0"/>
              <a:t>순차 파일과 랜덤 파일</a:t>
            </a:r>
            <a:endParaRPr lang="en-US" altLang="ko-KR" sz="1800" dirty="0"/>
          </a:p>
          <a:p>
            <a:endParaRPr lang="en-US" altLang="ko-KR" sz="1800" dirty="0"/>
          </a:p>
          <a:p>
            <a:pPr>
              <a:lnSpc>
                <a:spcPct val="150000"/>
              </a:lnSpc>
            </a:pPr>
            <a:r>
              <a:rPr lang="ko-KR" altLang="en-US" sz="1600" dirty="0"/>
              <a:t>텍스트 파일을 </a:t>
            </a:r>
            <a:r>
              <a:rPr lang="ko-KR" altLang="en-US" sz="1600" dirty="0" err="1"/>
              <a:t>입출력하는</a:t>
            </a:r>
            <a:r>
              <a:rPr lang="ko-KR" altLang="en-US" sz="1600" dirty="0"/>
              <a:t> 방법을 익힌다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도스의 </a:t>
            </a:r>
            <a:r>
              <a:rPr lang="en-US" altLang="ko-KR" sz="1600" dirty="0"/>
              <a:t>type </a:t>
            </a:r>
            <a:r>
              <a:rPr lang="ko-KR" altLang="en-US" sz="1600" dirty="0"/>
              <a:t>명령어와 </a:t>
            </a:r>
            <a:r>
              <a:rPr lang="en-US" altLang="ko-KR" sz="1600" dirty="0"/>
              <a:t>copy </a:t>
            </a:r>
            <a:r>
              <a:rPr lang="ko-KR" altLang="en-US" sz="1600" dirty="0"/>
              <a:t>명령어를 작성하는 방법을 익힌다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이진 파일 형태로 </a:t>
            </a:r>
            <a:r>
              <a:rPr lang="ko-KR" altLang="en-US" sz="1600" dirty="0" err="1"/>
              <a:t>입출력하는</a:t>
            </a:r>
            <a:r>
              <a:rPr lang="ko-KR" altLang="en-US" sz="1600" dirty="0"/>
              <a:t> 방법을 익힌다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순차 파일의 단점과 랜덤 파일의 장점을 살펴본다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특정 위치의 레코드를 </a:t>
            </a:r>
            <a:r>
              <a:rPr lang="ko-KR" altLang="en-US" sz="1600" dirty="0" err="1"/>
              <a:t>읽어오기</a:t>
            </a:r>
            <a:r>
              <a:rPr lang="ko-KR" altLang="en-US" sz="1600" dirty="0"/>
              <a:t> 위해서 랜덤 파일을 사용하는 방법을 익힌다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564293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모니터 출력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구조체 </a:t>
            </a:r>
            <a:r>
              <a:rPr lang="ko-KR" altLang="en-US" sz="1600" dirty="0" err="1">
                <a:solidFill>
                  <a:srgbClr val="00A4E6"/>
                </a:solidFill>
                <a:latin typeface="+mj-ea"/>
              </a:rPr>
              <a:t>변숫값을</a:t>
            </a:r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 모니터에 출력하기</a:t>
            </a:r>
            <a:endParaRPr lang="ko-KR" altLang="en-US" sz="1600" dirty="0"/>
          </a:p>
        </p:txBody>
      </p:sp>
      <p:sp>
        <p:nvSpPr>
          <p:cNvPr id="4" name="직사각형 3"/>
          <p:cNvSpPr/>
          <p:nvPr/>
        </p:nvSpPr>
        <p:spPr>
          <a:xfrm>
            <a:off x="989030" y="2077126"/>
            <a:ext cx="924848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struct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USERINFO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char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name[20];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age;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char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address[20];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USERINFO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man = {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홍길동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20,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서울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man.name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 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man.age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 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man.address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949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/>
              <a:t>파일 입출력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600" dirty="0"/>
              <a:t>C++</a:t>
            </a:r>
            <a:r>
              <a:rPr lang="ko-KR" altLang="en-US" sz="1600" dirty="0"/>
              <a:t>에서는 파일의 입출력을 하려고 </a:t>
            </a:r>
            <a:r>
              <a:rPr lang="en-US" altLang="ko-KR" sz="1600" dirty="0" err="1"/>
              <a:t>fstream.h</a:t>
            </a:r>
            <a:r>
              <a:rPr lang="en-US" altLang="ko-KR" sz="1600" dirty="0"/>
              <a:t> </a:t>
            </a:r>
            <a:r>
              <a:rPr lang="ko-KR" altLang="en-US" sz="1600" dirty="0" err="1"/>
              <a:t>헤더파일을</a:t>
            </a:r>
            <a:r>
              <a:rPr lang="ko-KR" altLang="en-US" sz="1600" dirty="0"/>
              <a:t> 제공한다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ko-KR" altLang="en-US" sz="1600" b="1" dirty="0"/>
              <a:t>파일 출력</a:t>
            </a:r>
            <a:r>
              <a:rPr lang="ko-KR" altLang="en-US" sz="1600" dirty="0"/>
              <a:t>은 하드디스크에 파일을 생성하거나 존재하는 파일을 가져다 사용하는 것</a:t>
            </a:r>
            <a:r>
              <a:rPr lang="en-US" altLang="ko-KR" sz="1600" dirty="0"/>
              <a:t>.</a:t>
            </a:r>
          </a:p>
          <a:p>
            <a:pPr lvl="1"/>
            <a:r>
              <a:rPr lang="ko-KR" altLang="en-US" sz="1600" dirty="0"/>
              <a:t>파일 입출력의 준비 과정에서 하드디스크 내의 특정 파일을 </a:t>
            </a:r>
            <a:r>
              <a:rPr lang="ko-KR" altLang="en-US" sz="1600" b="1" dirty="0" err="1"/>
              <a:t>오픈</a:t>
            </a:r>
            <a:r>
              <a:rPr lang="ko-KR" altLang="en-US" sz="1600" dirty="0" err="1"/>
              <a:t>시켜</a:t>
            </a:r>
            <a:r>
              <a:rPr lang="ko-KR" altLang="en-US" sz="1600" dirty="0"/>
              <a:t> 놓아야 한다</a:t>
            </a:r>
            <a:r>
              <a:rPr lang="en-US" altLang="ko-KR" sz="1600" dirty="0"/>
              <a:t>.</a:t>
            </a:r>
          </a:p>
          <a:p>
            <a:pPr lvl="1"/>
            <a:r>
              <a:rPr lang="ko-KR" altLang="en-US" sz="1600" dirty="0"/>
              <a:t>오픈이란 사용하기 위해 정보를 메모리</a:t>
            </a:r>
            <a:r>
              <a:rPr lang="en-US" altLang="ko-KR" sz="1600" dirty="0"/>
              <a:t>(</a:t>
            </a:r>
            <a:r>
              <a:rPr lang="ko-KR" altLang="en-US" sz="1600" dirty="0"/>
              <a:t>램</a:t>
            </a:r>
            <a:r>
              <a:rPr lang="en-US" altLang="ko-KR" sz="1600" dirty="0"/>
              <a:t>)</a:t>
            </a:r>
            <a:r>
              <a:rPr lang="ko-KR" altLang="en-US" sz="1600" dirty="0"/>
              <a:t>에 등록시키는 과정이다</a:t>
            </a:r>
            <a:endParaRPr lang="en-US" altLang="ko-KR" sz="1600" dirty="0"/>
          </a:p>
          <a:p>
            <a:pPr lvl="1"/>
            <a:r>
              <a:rPr lang="ko-KR" altLang="en-US" sz="1600" dirty="0"/>
              <a:t>모든 파일을 오픈할 수 없으므로</a:t>
            </a:r>
            <a:r>
              <a:rPr lang="en-US" altLang="ko-KR" sz="1600" dirty="0"/>
              <a:t>, </a:t>
            </a:r>
            <a:r>
              <a:rPr lang="ko-KR" altLang="en-US" sz="1600" dirty="0"/>
              <a:t>현재 사용되는 파일들만 열어 사용하다가 더 이상 필요 없으면 닫는다</a:t>
            </a:r>
            <a:r>
              <a:rPr lang="en-US" altLang="ko-KR" sz="1600" dirty="0"/>
              <a:t>.</a:t>
            </a:r>
            <a:endParaRPr lang="en-US" altLang="ko-KR" sz="1600" b="1" dirty="0"/>
          </a:p>
          <a:p>
            <a:r>
              <a:rPr lang="ko-KR" altLang="en-US" sz="1600" b="1" dirty="0"/>
              <a:t>키보드와 모니터</a:t>
            </a:r>
            <a:r>
              <a:rPr lang="ko-KR" altLang="en-US" sz="1600" dirty="0"/>
              <a:t>는 이미 파일 형태로 </a:t>
            </a:r>
            <a:r>
              <a:rPr lang="ko-KR" altLang="en-US" sz="1600" dirty="0" err="1"/>
              <a:t>오픈되어</a:t>
            </a:r>
            <a:r>
              <a:rPr lang="ko-KR" altLang="en-US" sz="1600" dirty="0"/>
              <a:t> 있으므로 이러한 과정들이 생략된다</a:t>
            </a:r>
            <a:r>
              <a:rPr lang="en-US" altLang="ko-KR" sz="1600" dirty="0"/>
              <a:t>.</a:t>
            </a:r>
            <a:endParaRPr lang="en-US" altLang="ko-KR" sz="1200" b="1" dirty="0"/>
          </a:p>
          <a:p>
            <a:r>
              <a:rPr lang="ko-KR" altLang="en-US" sz="1600" b="1" dirty="0"/>
              <a:t>출력 방식</a:t>
            </a:r>
            <a:r>
              <a:rPr lang="ko-KR" altLang="en-US" sz="1600" dirty="0"/>
              <a:t>은 표준 출력과 유사하지만 출력 결과가 모니터가 아닌 파일로 저장된다</a:t>
            </a:r>
            <a:r>
              <a:rPr lang="en-US" altLang="ko-KR" sz="1600" dirty="0"/>
              <a:t>.</a:t>
            </a:r>
          </a:p>
          <a:p>
            <a:endParaRPr lang="ko-KR" altLang="en-US" sz="1600" dirty="0"/>
          </a:p>
        </p:txBody>
      </p:sp>
      <p:sp>
        <p:nvSpPr>
          <p:cNvPr id="4" name="직사각형 3"/>
          <p:cNvSpPr/>
          <p:nvPr/>
        </p:nvSpPr>
        <p:spPr>
          <a:xfrm>
            <a:off x="1309250" y="4671744"/>
            <a:ext cx="54562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fout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 “hello” &lt;&lt; </a:t>
            </a:r>
            <a:r>
              <a:rPr lang="en-US" altLang="ko-KR" dirty="0" err="1"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  <a:endParaRPr lang="ko-KR" altLang="en-US" dirty="0"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233749" y="1632377"/>
            <a:ext cx="24641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</a:t>
            </a:r>
            <a:r>
              <a:rPr lang="en-US" altLang="ko-KR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fstream</a:t>
            </a:r>
            <a:r>
              <a:rPr lang="en-US" altLang="ko-KR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</a:t>
            </a:r>
            <a:endParaRPr lang="ko-KR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089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출력</a:t>
            </a:r>
            <a:r>
              <a:rPr lang="en-US" altLang="ko-KR" dirty="0"/>
              <a:t> </a:t>
            </a:r>
            <a:r>
              <a:rPr lang="ko-KR" altLang="en-US" dirty="0"/>
              <a:t>예제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838200" y="1294505"/>
            <a:ext cx="8104909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</a:t>
            </a:r>
            <a:r>
              <a:rPr lang="en-US" altLang="ko-KR" sz="16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iostream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b="1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b="1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</a:t>
            </a:r>
            <a:r>
              <a:rPr lang="en-US" altLang="ko-KR" sz="1600" b="1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fstream</a:t>
            </a:r>
            <a:r>
              <a:rPr lang="en-US" altLang="ko-KR" sz="1600" b="1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</a:t>
            </a:r>
            <a:endParaRPr lang="en-US" altLang="ko-KR" sz="1600" b="1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using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struct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USERINFO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char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name[20];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age;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USERINFO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man </a:t>
            </a:r>
            <a:r>
              <a:rPr lang="en-US" altLang="ko-KR" sz="1600" dirty="0">
                <a:latin typeface="Consolas" panose="020B0609020204030204" pitchFamily="49" charset="0"/>
              </a:rPr>
              <a:t>= { "</a:t>
            </a:r>
            <a:r>
              <a:rPr lang="ko-KR" altLang="en-US" sz="1600" dirty="0">
                <a:latin typeface="Consolas" panose="020B0609020204030204" pitchFamily="49" charset="0"/>
              </a:rPr>
              <a:t>홍길동</a:t>
            </a:r>
            <a:r>
              <a:rPr lang="en-US" altLang="ko-KR" sz="1600" dirty="0">
                <a:latin typeface="Consolas" panose="020B0609020204030204" pitchFamily="49" charset="0"/>
              </a:rPr>
              <a:t>", 20 };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ofstream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b="1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b="1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fout.open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"myfile.dat"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b="1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man.name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 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man.age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b="1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fout.close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34819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출력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sz="1600" dirty="0"/>
              <a:t>파일에 데이터를 저장하기 위한 과정</a:t>
            </a:r>
            <a:endParaRPr lang="en-US" altLang="ko-KR" sz="1600" dirty="0"/>
          </a:p>
          <a:p>
            <a:endParaRPr lang="en-US" altLang="ko-KR" sz="1600" dirty="0"/>
          </a:p>
          <a:p>
            <a:pPr lvl="1">
              <a:buFont typeface="Wingdings" pitchFamily="2" charset="2"/>
              <a:buChar char=""/>
            </a:pPr>
            <a:r>
              <a:rPr lang="en-US" altLang="ko-KR" sz="1600" dirty="0" err="1"/>
              <a:t>fstream.h</a:t>
            </a:r>
            <a:r>
              <a:rPr lang="en-US" altLang="ko-KR" sz="1600" dirty="0"/>
              <a:t> </a:t>
            </a:r>
            <a:r>
              <a:rPr lang="ko-KR" altLang="en-US" sz="1600" dirty="0" err="1"/>
              <a:t>헤더파일을</a:t>
            </a:r>
            <a:r>
              <a:rPr lang="ko-KR" altLang="en-US" sz="1600" dirty="0"/>
              <a:t> 포함시킨다</a:t>
            </a:r>
            <a:r>
              <a:rPr lang="en-US" altLang="ko-KR" sz="1600" dirty="0"/>
              <a:t>.</a:t>
            </a:r>
          </a:p>
          <a:p>
            <a:pPr lvl="1">
              <a:buNone/>
            </a:pPr>
            <a:r>
              <a:rPr lang="en-US" altLang="ko-KR" sz="1600" dirty="0"/>
              <a:t>	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#include &lt;</a:t>
            </a:r>
            <a:r>
              <a:rPr lang="en-US" altLang="ko-KR" sz="16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fstream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pPr lvl="1">
              <a:buFont typeface="Wingdings" pitchFamily="2" charset="2"/>
              <a:buChar char=""/>
            </a:pPr>
            <a:r>
              <a:rPr lang="ko-KR" altLang="en-US" sz="1600" dirty="0"/>
              <a:t>출력 스트림을 관리하기 위한 객체를 선언한다</a:t>
            </a:r>
            <a:r>
              <a:rPr lang="en-US" altLang="ko-KR" sz="1600" dirty="0"/>
              <a:t>.</a:t>
            </a:r>
          </a:p>
          <a:p>
            <a:pPr lvl="1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ofstream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fout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>
              <a:buFont typeface="Wingdings" pitchFamily="2" charset="2"/>
              <a:buChar char=""/>
            </a:pPr>
            <a:r>
              <a:rPr lang="ko-KR" altLang="en-US" sz="1600" dirty="0"/>
              <a:t>선언된 출력 스트림 객체에 특정 파일을 지정해서 연다</a:t>
            </a:r>
            <a:r>
              <a:rPr lang="en-US" altLang="ko-KR" sz="1600" dirty="0"/>
              <a:t>.</a:t>
            </a:r>
          </a:p>
          <a:p>
            <a:pPr lvl="1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fout.open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(“myfile.dat");</a:t>
            </a:r>
          </a:p>
          <a:p>
            <a:pPr lvl="1">
              <a:buFont typeface="Wingdings" pitchFamily="2" charset="2"/>
              <a:buChar char=""/>
            </a:pPr>
            <a:r>
              <a:rPr lang="ko-KR" altLang="en-US" sz="1600" dirty="0"/>
              <a:t>선언된 객체에 출력 전용 연산자</a:t>
            </a:r>
            <a:r>
              <a:rPr lang="en-US" altLang="ko-KR" sz="1600" dirty="0"/>
              <a:t>(&lt;&lt;)</a:t>
            </a:r>
            <a:r>
              <a:rPr lang="ko-KR" altLang="en-US" sz="1600" dirty="0"/>
              <a:t>나 </a:t>
            </a:r>
            <a:r>
              <a:rPr lang="ko-KR" altLang="en-US" sz="1600" dirty="0" err="1"/>
              <a:t>멤버함수를</a:t>
            </a:r>
            <a:r>
              <a:rPr lang="ko-KR" altLang="en-US" sz="1600" dirty="0"/>
              <a:t> 통해야만 출력할 수 있다</a:t>
            </a:r>
            <a:r>
              <a:rPr lang="en-US" altLang="ko-KR" sz="1600" dirty="0"/>
              <a:t>.</a:t>
            </a:r>
          </a:p>
          <a:p>
            <a:pPr lvl="1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fout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 &lt;&lt; man.name&lt;&lt;“  “ &lt;&lt; </a:t>
            </a:r>
            <a:r>
              <a:rPr lang="en-US" altLang="ko-KR" sz="16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man.age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 &lt;&lt; </a:t>
            </a:r>
            <a:r>
              <a:rPr lang="en-US" altLang="ko-KR" sz="16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endl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>
              <a:buFont typeface="Wingdings" pitchFamily="2" charset="2"/>
              <a:buChar char=""/>
            </a:pPr>
            <a:r>
              <a:rPr lang="ko-KR" altLang="en-US" sz="1600" dirty="0"/>
              <a:t>열었던 파일을 닫는다</a:t>
            </a:r>
            <a:r>
              <a:rPr lang="en-US" altLang="ko-KR" sz="1600" dirty="0"/>
              <a:t>.</a:t>
            </a:r>
          </a:p>
          <a:p>
            <a:pPr lvl="1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fout.close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  <a:endParaRPr lang="ko-KR" altLang="en-US" sz="16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734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입력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/>
              <a:t>파일에서 데이터를 읽어오는 과정</a:t>
            </a:r>
            <a:endParaRPr lang="en-US" altLang="ko-KR" sz="1600" dirty="0"/>
          </a:p>
          <a:p>
            <a:endParaRPr lang="en-US" altLang="ko-KR" sz="1600" dirty="0"/>
          </a:p>
          <a:p>
            <a:pPr lvl="1">
              <a:buFont typeface="Wingdings" pitchFamily="2" charset="2"/>
              <a:buChar char=""/>
            </a:pPr>
            <a:r>
              <a:rPr lang="en-US" altLang="ko-KR" sz="1600" dirty="0" err="1"/>
              <a:t>fstream.h</a:t>
            </a:r>
            <a:r>
              <a:rPr lang="en-US" altLang="ko-KR" sz="1600" dirty="0"/>
              <a:t> </a:t>
            </a:r>
            <a:r>
              <a:rPr lang="ko-KR" altLang="en-US" sz="1600" dirty="0" err="1"/>
              <a:t>헤더파일을</a:t>
            </a:r>
            <a:r>
              <a:rPr lang="ko-KR" altLang="en-US" sz="1600" dirty="0"/>
              <a:t> 포함시킨다</a:t>
            </a:r>
            <a:r>
              <a:rPr lang="en-US" altLang="ko-KR" sz="1600" dirty="0"/>
              <a:t>.</a:t>
            </a:r>
          </a:p>
          <a:p>
            <a:pPr lvl="1">
              <a:buNone/>
            </a:pPr>
            <a:r>
              <a:rPr lang="en-US" altLang="ko-KR" sz="1600" dirty="0"/>
              <a:t>	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#include &lt;</a:t>
            </a:r>
            <a:r>
              <a:rPr lang="en-US" altLang="ko-KR" sz="16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fstream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pPr lvl="1">
              <a:buFont typeface="Wingdings" pitchFamily="2" charset="2"/>
              <a:buChar char=""/>
            </a:pPr>
            <a:r>
              <a:rPr lang="ko-KR" altLang="en-US" sz="1600" dirty="0"/>
              <a:t>입력 스트림을 관리하기 위한 객체를 선언한다</a:t>
            </a:r>
            <a:r>
              <a:rPr lang="en-US" altLang="ko-KR" sz="1600" dirty="0"/>
              <a:t>.</a:t>
            </a:r>
          </a:p>
          <a:p>
            <a:pPr lvl="1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ifstream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 fin;</a:t>
            </a:r>
          </a:p>
          <a:p>
            <a:pPr lvl="1">
              <a:buFont typeface="Wingdings" pitchFamily="2" charset="2"/>
              <a:buChar char=""/>
            </a:pPr>
            <a:r>
              <a:rPr lang="ko-KR" altLang="en-US" sz="1600" dirty="0"/>
              <a:t>선언된 파일 입력 스트림 객체에 특정 파일을 지정해서 연다</a:t>
            </a:r>
            <a:r>
              <a:rPr lang="en-US" altLang="ko-KR" sz="1600" dirty="0"/>
              <a:t>.</a:t>
            </a:r>
          </a:p>
          <a:p>
            <a:pPr lvl="1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fin.open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("myfile.dat");</a:t>
            </a:r>
          </a:p>
          <a:p>
            <a:pPr lvl="1">
              <a:buFont typeface="Wingdings" pitchFamily="2" charset="2"/>
              <a:buChar char=""/>
            </a:pPr>
            <a:r>
              <a:rPr lang="ko-KR" altLang="en-US" sz="1600" dirty="0"/>
              <a:t>파일에서 데이터를 읽으려고 파일을 연 경우 해당 파일이 반드시 존재해야 한다</a:t>
            </a:r>
            <a:r>
              <a:rPr lang="en-US" altLang="ko-KR" sz="1600" dirty="0"/>
              <a:t>. </a:t>
            </a:r>
          </a:p>
          <a:p>
            <a:pPr lvl="1">
              <a:buFont typeface="Wingdings" pitchFamily="2" charset="2"/>
              <a:buChar char=""/>
            </a:pPr>
            <a:r>
              <a:rPr lang="ko-KR" altLang="en-US" sz="1600" dirty="0"/>
              <a:t>처리 후 열었던 파일을 닫는다</a:t>
            </a:r>
            <a:r>
              <a:rPr lang="en-US" altLang="ko-KR" sz="1600" dirty="0"/>
              <a:t>.</a:t>
            </a:r>
          </a:p>
          <a:p>
            <a:pPr lvl="1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fin.close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  <a:endParaRPr lang="ko-KR" altLang="en-US" sz="16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2332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파일 입출력 상태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/>
              <a:t>파일 입력 스트림 객체로 </a:t>
            </a:r>
            <a:r>
              <a:rPr lang="en-US" altLang="ko-KR" sz="1600" dirty="0"/>
              <a:t>open </a:t>
            </a:r>
            <a:r>
              <a:rPr lang="ko-KR" altLang="en-US" sz="1600" dirty="0" err="1"/>
              <a:t>멤버함수를</a:t>
            </a:r>
            <a:r>
              <a:rPr lang="ko-KR" altLang="en-US" sz="1600" dirty="0"/>
              <a:t> 호출한 후 </a:t>
            </a:r>
            <a:endParaRPr lang="en-US" altLang="ko-KR" sz="1600" dirty="0"/>
          </a:p>
          <a:p>
            <a:r>
              <a:rPr lang="ko-KR" altLang="en-US" sz="1600" b="1" dirty="0"/>
              <a:t>파일 열기에 성공했는지</a:t>
            </a:r>
            <a:r>
              <a:rPr lang="ko-KR" altLang="en-US" sz="1600" dirty="0"/>
              <a:t> 알아보려고 다음 표에 있는 함수가 사용된다</a:t>
            </a:r>
            <a:r>
              <a:rPr lang="en-US" altLang="ko-KR" sz="1600" dirty="0"/>
              <a:t>. </a:t>
            </a:r>
            <a:endParaRPr lang="ko-KR" altLang="en-US" sz="1600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940316"/>
              </p:ext>
            </p:extLst>
          </p:nvPr>
        </p:nvGraphicFramePr>
        <p:xfrm>
          <a:off x="1194184" y="2290887"/>
          <a:ext cx="8391813" cy="1881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5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16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33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함수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kern="1200" baseline="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eof</a:t>
                      </a:r>
                      <a:r>
                        <a:rPr lang="en-US" altLang="ko-KR" sz="1800" kern="1200" baseline="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()</a:t>
                      </a:r>
                      <a:endParaRPr lang="ko-KR" altLang="en-US" sz="18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파일의 끝을 알리는 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EOF</a:t>
                      </a:r>
                      <a:r>
                        <a:rPr lang="ko-KR" altLang="en-US" sz="16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를 만나면 참을 반환한다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kern="1200" baseline="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bad()</a:t>
                      </a:r>
                      <a:endParaRPr lang="ko-KR" altLang="en-US" sz="18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올바르지 못한 입출력을 시도하려 할 때 참을 반환한다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kern="1200" baseline="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fail()</a:t>
                      </a:r>
                      <a:endParaRPr lang="ko-KR" altLang="en-US" sz="18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올바르지 못한 입출력이 일어났을 때 참을 반환한다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6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kern="1200" baseline="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good()</a:t>
                      </a:r>
                      <a:endParaRPr lang="ko-KR" altLang="en-US" sz="18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파일을 성공적으로 열거나 위의 세 함수가 거짓이면 참이다</a:t>
                      </a:r>
                      <a:r>
                        <a:rPr lang="en-US" altLang="ko-KR" sz="16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194184" y="4762406"/>
            <a:ext cx="878101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if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(</a:t>
            </a:r>
            <a:r>
              <a:rPr lang="en-US" altLang="ko-KR" sz="1600" b="1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fin.fail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()) {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파일 오픈에 실패했습니다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."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62726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오픈 모드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ko-KR" altLang="en-US" dirty="0" err="1"/>
              <a:t>객체명</a:t>
            </a:r>
            <a:r>
              <a:rPr lang="en-US" altLang="ko-KR" dirty="0"/>
              <a:t>.open("</a:t>
            </a:r>
            <a:r>
              <a:rPr lang="ko-KR" altLang="en-US" dirty="0"/>
              <a:t>파일명</a:t>
            </a:r>
            <a:r>
              <a:rPr lang="en-US" altLang="ko-KR" dirty="0"/>
              <a:t>" , open</a:t>
            </a:r>
            <a:r>
              <a:rPr lang="ko-KR" altLang="en-US" dirty="0"/>
              <a:t>모드</a:t>
            </a:r>
            <a:r>
              <a:rPr lang="en-US" altLang="ko-KR" dirty="0"/>
              <a:t>|open</a:t>
            </a:r>
            <a:r>
              <a:rPr lang="ko-KR" altLang="en-US" dirty="0"/>
              <a:t>모드</a:t>
            </a:r>
            <a:r>
              <a:rPr lang="en-US" altLang="ko-KR" dirty="0"/>
              <a:t>); </a:t>
            </a:r>
          </a:p>
          <a:p>
            <a:r>
              <a:rPr lang="en-US" altLang="ko-KR" dirty="0"/>
              <a:t>open</a:t>
            </a:r>
            <a:r>
              <a:rPr lang="ko-KR" altLang="en-US" dirty="0"/>
              <a:t>모드</a:t>
            </a:r>
            <a:endParaRPr lang="en-US" altLang="ko-KR" dirty="0"/>
          </a:p>
          <a:p>
            <a:pPr lvl="1"/>
            <a:r>
              <a:rPr lang="en-US" altLang="ko-KR" dirty="0" err="1">
                <a:latin typeface="Consolas" panose="020B0609020204030204" pitchFamily="49" charset="0"/>
              </a:rPr>
              <a:t>ios</a:t>
            </a:r>
            <a:r>
              <a:rPr lang="en-US" altLang="ko-KR" dirty="0">
                <a:latin typeface="Consolas" panose="020B0609020204030204" pitchFamily="49" charset="0"/>
              </a:rPr>
              <a:t>::in</a:t>
            </a:r>
          </a:p>
          <a:p>
            <a:pPr lvl="2"/>
            <a:r>
              <a:rPr lang="ko-KR" altLang="en-US" dirty="0"/>
              <a:t>읽기만 가능한 형태로 파일 오픈</a:t>
            </a:r>
          </a:p>
          <a:p>
            <a:pPr lvl="1"/>
            <a:r>
              <a:rPr lang="en-US" altLang="ko-KR" dirty="0" err="1">
                <a:latin typeface="Consolas" panose="020B0609020204030204" pitchFamily="49" charset="0"/>
              </a:rPr>
              <a:t>ios</a:t>
            </a:r>
            <a:r>
              <a:rPr lang="en-US" altLang="ko-KR" dirty="0">
                <a:latin typeface="Consolas" panose="020B0609020204030204" pitchFamily="49" charset="0"/>
              </a:rPr>
              <a:t>::ate</a:t>
            </a:r>
          </a:p>
          <a:p>
            <a:pPr lvl="2"/>
            <a:r>
              <a:rPr lang="ko-KR" altLang="en-US" dirty="0"/>
              <a:t>파일을 오픈하면서 파일포인터를 끝부분으로 옮김 </a:t>
            </a:r>
          </a:p>
          <a:p>
            <a:pPr lvl="1"/>
            <a:r>
              <a:rPr lang="en-US" altLang="ko-KR" dirty="0" err="1">
                <a:latin typeface="Consolas" panose="020B0609020204030204" pitchFamily="49" charset="0"/>
              </a:rPr>
              <a:t>ios</a:t>
            </a:r>
            <a:r>
              <a:rPr lang="en-US" altLang="ko-KR" dirty="0">
                <a:latin typeface="Consolas" panose="020B0609020204030204" pitchFamily="49" charset="0"/>
              </a:rPr>
              <a:t>::app</a:t>
            </a:r>
          </a:p>
          <a:p>
            <a:pPr lvl="2"/>
            <a:r>
              <a:rPr lang="ko-KR" altLang="en-US" dirty="0"/>
              <a:t>출력하는 데이터가 항상 파일의 끝에 기록 </a:t>
            </a:r>
          </a:p>
          <a:p>
            <a:pPr lvl="1"/>
            <a:r>
              <a:rPr lang="en-US" altLang="ko-KR" dirty="0" err="1">
                <a:latin typeface="Consolas" panose="020B0609020204030204" pitchFamily="49" charset="0"/>
              </a:rPr>
              <a:t>ios</a:t>
            </a:r>
            <a:r>
              <a:rPr lang="en-US" altLang="ko-KR" dirty="0">
                <a:latin typeface="Consolas" panose="020B0609020204030204" pitchFamily="49" charset="0"/>
              </a:rPr>
              <a:t>::</a:t>
            </a:r>
            <a:r>
              <a:rPr lang="en-US" altLang="ko-KR" dirty="0" err="1">
                <a:latin typeface="Consolas" panose="020B0609020204030204" pitchFamily="49" charset="0"/>
              </a:rPr>
              <a:t>trunc</a:t>
            </a:r>
            <a:endParaRPr lang="en-US" altLang="ko-KR" dirty="0">
              <a:latin typeface="Consolas" panose="020B0609020204030204" pitchFamily="49" charset="0"/>
            </a:endParaRPr>
          </a:p>
          <a:p>
            <a:pPr lvl="2"/>
            <a:r>
              <a:rPr lang="ko-KR" altLang="en-US" dirty="0"/>
              <a:t>오픈하고자 하는 파일이 이미 있는 경우</a:t>
            </a:r>
            <a:r>
              <a:rPr lang="en-US" altLang="ko-KR" dirty="0"/>
              <a:t>, </a:t>
            </a:r>
            <a:r>
              <a:rPr lang="ko-KR" altLang="en-US" dirty="0"/>
              <a:t>기존의 파일을 삭제하고 다시 만듦  </a:t>
            </a:r>
          </a:p>
          <a:p>
            <a:pPr lvl="1"/>
            <a:r>
              <a:rPr lang="en-US" altLang="ko-KR" dirty="0" err="1">
                <a:latin typeface="Consolas" panose="020B0609020204030204" pitchFamily="49" charset="0"/>
              </a:rPr>
              <a:t>ios</a:t>
            </a:r>
            <a:r>
              <a:rPr lang="en-US" altLang="ko-KR" dirty="0">
                <a:latin typeface="Consolas" panose="020B0609020204030204" pitchFamily="49" charset="0"/>
              </a:rPr>
              <a:t>::</a:t>
            </a:r>
            <a:r>
              <a:rPr lang="en-US" altLang="ko-KR" dirty="0" err="1">
                <a:latin typeface="Consolas" panose="020B0609020204030204" pitchFamily="49" charset="0"/>
              </a:rPr>
              <a:t>nocreate</a:t>
            </a:r>
            <a:endParaRPr lang="en-US" altLang="ko-KR" dirty="0">
              <a:latin typeface="Consolas" panose="020B0609020204030204" pitchFamily="49" charset="0"/>
            </a:endParaRPr>
          </a:p>
          <a:p>
            <a:pPr lvl="2"/>
            <a:r>
              <a:rPr lang="en-US" altLang="ko-KR" dirty="0"/>
              <a:t>file open </a:t>
            </a:r>
            <a:r>
              <a:rPr lang="ko-KR" altLang="en-US" dirty="0"/>
              <a:t>을 시도하지 않고 </a:t>
            </a:r>
            <a:r>
              <a:rPr lang="en-US" altLang="ko-KR" dirty="0"/>
              <a:t>file</a:t>
            </a:r>
            <a:r>
              <a:rPr lang="ko-KR" altLang="en-US" dirty="0"/>
              <a:t>의 존재 여부만 판단</a:t>
            </a:r>
            <a:r>
              <a:rPr lang="en-US" altLang="ko-KR" dirty="0"/>
              <a:t>. file</a:t>
            </a:r>
            <a:r>
              <a:rPr lang="ko-KR" altLang="en-US" dirty="0"/>
              <a:t>이 존재하지 않을 경우 에러를 발생 </a:t>
            </a:r>
            <a:r>
              <a:rPr lang="en-US" altLang="ko-KR" dirty="0"/>
              <a:t>(</a:t>
            </a:r>
            <a:r>
              <a:rPr lang="ko-KR" altLang="en-US" dirty="0"/>
              <a:t>파일을 생성하지 않음</a:t>
            </a:r>
            <a:r>
              <a:rPr lang="en-US" altLang="ko-KR" dirty="0"/>
              <a:t>) </a:t>
            </a:r>
          </a:p>
          <a:p>
            <a:pPr lvl="1"/>
            <a:r>
              <a:rPr lang="en-US" altLang="ko-KR" dirty="0" err="1">
                <a:latin typeface="Consolas" panose="020B0609020204030204" pitchFamily="49" charset="0"/>
              </a:rPr>
              <a:t>ios</a:t>
            </a:r>
            <a:r>
              <a:rPr lang="en-US" altLang="ko-KR" dirty="0">
                <a:latin typeface="Consolas" panose="020B0609020204030204" pitchFamily="49" charset="0"/>
              </a:rPr>
              <a:t>::</a:t>
            </a:r>
            <a:r>
              <a:rPr lang="en-US" altLang="ko-KR" dirty="0" err="1">
                <a:latin typeface="Consolas" panose="020B0609020204030204" pitchFamily="49" charset="0"/>
              </a:rPr>
              <a:t>noreplace</a:t>
            </a:r>
            <a:endParaRPr lang="en-US" altLang="ko-KR" dirty="0">
              <a:latin typeface="Consolas" panose="020B0609020204030204" pitchFamily="49" charset="0"/>
            </a:endParaRPr>
          </a:p>
          <a:p>
            <a:pPr lvl="2"/>
            <a:r>
              <a:rPr lang="en-US" altLang="ko-KR" dirty="0" err="1"/>
              <a:t>nocreate</a:t>
            </a:r>
            <a:r>
              <a:rPr lang="en-US" altLang="ko-KR" dirty="0"/>
              <a:t> </a:t>
            </a:r>
            <a:r>
              <a:rPr lang="ko-KR" altLang="en-US" dirty="0"/>
              <a:t>와 반대</a:t>
            </a:r>
            <a:r>
              <a:rPr lang="en-US" altLang="ko-KR" dirty="0"/>
              <a:t>. file</a:t>
            </a:r>
            <a:r>
              <a:rPr lang="ko-KR" altLang="en-US" dirty="0"/>
              <a:t>이 존재하면 에러를 발생</a:t>
            </a:r>
          </a:p>
          <a:p>
            <a:pPr lvl="1"/>
            <a:r>
              <a:rPr lang="en-US" altLang="ko-KR" dirty="0" err="1">
                <a:latin typeface="Consolas" panose="020B0609020204030204" pitchFamily="49" charset="0"/>
              </a:rPr>
              <a:t>ios</a:t>
            </a:r>
            <a:r>
              <a:rPr lang="en-US" altLang="ko-KR" dirty="0">
                <a:latin typeface="Consolas" panose="020B0609020204030204" pitchFamily="49" charset="0"/>
              </a:rPr>
              <a:t>::binary</a:t>
            </a:r>
          </a:p>
          <a:p>
            <a:pPr lvl="2"/>
            <a:r>
              <a:rPr lang="ko-KR" altLang="en-US" dirty="0"/>
              <a:t>바이너리 파일 모드로 오픈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6096000" y="1680399"/>
            <a:ext cx="43636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fin.open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"myfile.dat“, </a:t>
            </a:r>
            <a:r>
              <a:rPr lang="en-US" altLang="ko-KR" dirty="0" err="1">
                <a:latin typeface="Consolas" panose="020B0609020204030204" pitchFamily="49" charset="0"/>
                <a:ea typeface="돋움체" panose="020B0609000101010101" pitchFamily="49" charset="-127"/>
              </a:rPr>
              <a:t>ios</a:t>
            </a:r>
            <a:r>
              <a:rPr lang="en-US" altLang="ko-KR" dirty="0">
                <a:latin typeface="Consolas" panose="020B0609020204030204" pitchFamily="49" charset="0"/>
                <a:ea typeface="돋움체" panose="020B0609000101010101" pitchFamily="49" charset="-127"/>
              </a:rPr>
              <a:t>::app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9177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입력</a:t>
            </a:r>
            <a:r>
              <a:rPr lang="en-US" altLang="ko-KR" dirty="0"/>
              <a:t> </a:t>
            </a:r>
            <a:r>
              <a:rPr lang="ko-KR" altLang="en-US" dirty="0"/>
              <a:t>예제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838200" y="1235676"/>
            <a:ext cx="1000159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USERINFO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man2;</a:t>
            </a: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ifstream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fin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b="1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fin.open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"myfile.dat"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endParaRPr lang="en-US" altLang="ko-KR" sz="1600" dirty="0">
              <a:solidFill>
                <a:srgbClr val="0000FF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if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(</a:t>
            </a:r>
            <a:r>
              <a:rPr lang="en-US" altLang="ko-KR" sz="1600" b="1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fin.fail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()) {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파일 오픈에 실패했습니다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."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}</a:t>
            </a: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pPr lvl="1">
              <a:buNone/>
            </a:pP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fin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&gt;&gt;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man2.name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&gt;&gt;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man2.age;   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 err="1">
                <a:solidFill>
                  <a:srgbClr val="006600"/>
                </a:solidFill>
              </a:rPr>
              <a:t>입력받는</a:t>
            </a:r>
            <a:r>
              <a:rPr lang="ko-KR" altLang="en-US" sz="1600" dirty="0">
                <a:solidFill>
                  <a:srgbClr val="006600"/>
                </a:solidFill>
              </a:rPr>
              <a:t> 곳이 키보드가 아닌 파일이다</a:t>
            </a:r>
            <a:r>
              <a:rPr lang="en-US" altLang="ko-KR" sz="1600" dirty="0">
                <a:solidFill>
                  <a:srgbClr val="006600"/>
                </a:solidFill>
              </a:rPr>
              <a:t>.</a:t>
            </a:r>
          </a:p>
          <a:p>
            <a:pPr lvl="1">
              <a:buNone/>
            </a:pPr>
            <a:r>
              <a:rPr lang="en-US" altLang="ko-KR" sz="1600" b="1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fin.close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man2.name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 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man2.age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246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/>
              <a:t>파일 입출력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b="1" dirty="0"/>
              <a:t>함수</a:t>
            </a:r>
            <a:r>
              <a:rPr lang="ko-KR" altLang="en-US" sz="1600" dirty="0"/>
              <a:t>를 이용한 파일 입출력</a:t>
            </a:r>
          </a:p>
          <a:p>
            <a:pPr lvl="1"/>
            <a:r>
              <a:rPr lang="en-US" altLang="ko-KR" sz="1600" b="1" dirty="0"/>
              <a:t>get</a:t>
            </a:r>
            <a:r>
              <a:rPr lang="en-US" altLang="ko-KR" sz="1600" dirty="0"/>
              <a:t> </a:t>
            </a:r>
            <a:r>
              <a:rPr lang="ko-KR" altLang="en-US" sz="1600" dirty="0"/>
              <a:t>함수 </a:t>
            </a:r>
            <a:r>
              <a:rPr lang="en-US" altLang="ko-KR" sz="1600" dirty="0"/>
              <a:t>: </a:t>
            </a:r>
            <a:r>
              <a:rPr lang="en-US" altLang="ko-KR" sz="1600" dirty="0" err="1"/>
              <a:t>istream</a:t>
            </a:r>
            <a:r>
              <a:rPr lang="en-US" altLang="ko-KR" sz="1600" dirty="0"/>
              <a:t> </a:t>
            </a:r>
            <a:r>
              <a:rPr lang="ko-KR" altLang="en-US" sz="1600" dirty="0"/>
              <a:t>클래스의 </a:t>
            </a:r>
            <a:r>
              <a:rPr lang="ko-KR" altLang="en-US" sz="1600" dirty="0" err="1"/>
              <a:t>멤버함수</a:t>
            </a:r>
            <a:r>
              <a:rPr lang="ko-KR" altLang="en-US" sz="1600" dirty="0"/>
              <a:t> 중에서 </a:t>
            </a:r>
            <a:r>
              <a:rPr lang="ko-KR" altLang="en-US" sz="1600" b="1" dirty="0"/>
              <a:t>단일 문자 형태</a:t>
            </a:r>
            <a:r>
              <a:rPr lang="ko-KR" altLang="en-US" sz="1600" dirty="0"/>
              <a:t>로만 데이터를 읽어온다</a:t>
            </a:r>
            <a:r>
              <a:rPr lang="en-US" altLang="ko-KR" sz="1600" dirty="0"/>
              <a:t>.</a:t>
            </a:r>
          </a:p>
          <a:p>
            <a:pPr lvl="1"/>
            <a:r>
              <a:rPr lang="en-US" altLang="ko-KR" sz="1600" b="1" dirty="0"/>
              <a:t>put</a:t>
            </a:r>
            <a:r>
              <a:rPr lang="en-US" altLang="ko-KR" sz="1600" dirty="0"/>
              <a:t> </a:t>
            </a:r>
            <a:r>
              <a:rPr lang="ko-KR" altLang="en-US" sz="1600" dirty="0"/>
              <a:t>함수 </a:t>
            </a:r>
            <a:r>
              <a:rPr lang="en-US" altLang="ko-KR" sz="1600" dirty="0"/>
              <a:t>: </a:t>
            </a:r>
            <a:r>
              <a:rPr lang="en-US" altLang="ko-KR" sz="1600" dirty="0" err="1"/>
              <a:t>istream</a:t>
            </a:r>
            <a:r>
              <a:rPr lang="en-US" altLang="ko-KR" sz="1600" dirty="0"/>
              <a:t> </a:t>
            </a:r>
            <a:r>
              <a:rPr lang="ko-KR" altLang="en-US" sz="1600" dirty="0"/>
              <a:t>클래스의 </a:t>
            </a:r>
            <a:r>
              <a:rPr lang="ko-KR" altLang="en-US" sz="1600" dirty="0" err="1"/>
              <a:t>멤버함수</a:t>
            </a:r>
            <a:r>
              <a:rPr lang="ko-KR" altLang="en-US" sz="1600" dirty="0"/>
              <a:t> 중에서 </a:t>
            </a:r>
            <a:r>
              <a:rPr lang="ko-KR" altLang="en-US" sz="1600" b="1" dirty="0"/>
              <a:t>문자 한 개를 출력</a:t>
            </a:r>
            <a:r>
              <a:rPr lang="ko-KR" altLang="en-US" sz="1600" dirty="0"/>
              <a:t>하는 함수이다</a:t>
            </a:r>
            <a:r>
              <a:rPr lang="en-US" altLang="ko-KR" sz="1600" dirty="0"/>
              <a:t>. put </a:t>
            </a:r>
            <a:r>
              <a:rPr lang="ko-KR" altLang="en-US" sz="1600" dirty="0"/>
              <a:t>함수 앞에 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</a:t>
            </a:r>
            <a:r>
              <a:rPr lang="ko-KR" altLang="en-US" sz="1600" dirty="0"/>
              <a:t>객체를 기술하면 모니터에 출력하지만 파일 출력 스트림 객체를 </a:t>
            </a:r>
            <a:r>
              <a:rPr lang="en-US" altLang="ko-KR" sz="1600" dirty="0"/>
              <a:t>put </a:t>
            </a:r>
            <a:r>
              <a:rPr lang="ko-KR" altLang="en-US" sz="1600" dirty="0"/>
              <a:t>함수 앞에 기술하면 데이터를 파일에 출력하게 된다</a:t>
            </a:r>
            <a:r>
              <a:rPr lang="en-US" altLang="ko-KR" sz="1600" dirty="0"/>
              <a:t>.</a:t>
            </a:r>
          </a:p>
          <a:p>
            <a:pPr lvl="1"/>
            <a:endParaRPr lang="en-US" altLang="ko-KR" sz="1600" dirty="0"/>
          </a:p>
          <a:p>
            <a:r>
              <a:rPr lang="ko-KR" altLang="en-US" sz="1600" b="1" dirty="0"/>
              <a:t>명령행</a:t>
            </a:r>
            <a:r>
              <a:rPr lang="ko-KR" altLang="en-US" sz="1600" dirty="0"/>
              <a:t>에서 문자열 읽어 오기</a:t>
            </a:r>
          </a:p>
          <a:p>
            <a:pPr lvl="1"/>
            <a:r>
              <a:rPr lang="en-US" altLang="ko-KR" sz="1600" dirty="0"/>
              <a:t>main </a:t>
            </a:r>
            <a:r>
              <a:rPr lang="ko-KR" altLang="en-US" sz="1600" dirty="0"/>
              <a:t>함수는 일반적으로 소괄호 안에 형식 매개변수를 기술하지 않지만 항상 매개변수를 갖지 않는 것은 아니다</a:t>
            </a:r>
            <a:r>
              <a:rPr lang="en-US" altLang="ko-KR" sz="1600" dirty="0"/>
              <a:t>. main </a:t>
            </a:r>
            <a:r>
              <a:rPr lang="ko-KR" altLang="en-US" sz="1600" dirty="0"/>
              <a:t>함수가 매개변수를 가질 경우에는 다음과 같은 형태로 기술해야 한다</a:t>
            </a:r>
            <a:r>
              <a:rPr lang="en-US" altLang="ko-KR" sz="1600" dirty="0"/>
              <a:t>. </a:t>
            </a:r>
            <a:r>
              <a:rPr lang="ko-KR" altLang="en-US" sz="1600" dirty="0"/>
              <a:t>다음 예는 매개변수가 </a:t>
            </a:r>
            <a:r>
              <a:rPr lang="en-US" altLang="ko-KR" sz="1600" dirty="0"/>
              <a:t>2</a:t>
            </a:r>
            <a:r>
              <a:rPr lang="ko-KR" altLang="en-US" sz="1600" dirty="0"/>
              <a:t>개 인데</a:t>
            </a:r>
            <a:r>
              <a:rPr lang="en-US" altLang="ko-KR" sz="1600" dirty="0"/>
              <a:t>, </a:t>
            </a:r>
            <a:r>
              <a:rPr lang="ko-KR" altLang="en-US" sz="1600" dirty="0"/>
              <a:t>첫 번째는 </a:t>
            </a:r>
            <a:r>
              <a:rPr lang="ko-KR" altLang="en-US" sz="1600" dirty="0" err="1"/>
              <a:t>정수형이고</a:t>
            </a:r>
            <a:r>
              <a:rPr lang="ko-KR" altLang="en-US" sz="1600" dirty="0"/>
              <a:t> 두 번째는 포인터 배열이다</a:t>
            </a:r>
            <a:r>
              <a:rPr lang="en-US" altLang="ko-KR" sz="1600" dirty="0"/>
              <a:t>.</a:t>
            </a:r>
            <a:endParaRPr lang="en-US" altLang="ko-KR" sz="1600" b="1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r>
              <a:rPr lang="en-US" altLang="ko-KR" sz="1600" dirty="0"/>
              <a:t>main </a:t>
            </a:r>
            <a:r>
              <a:rPr lang="ko-KR" altLang="en-US" sz="1600" dirty="0"/>
              <a:t>함수의 형식 매개변수는 다음과 같이 도스 상태에서 </a:t>
            </a:r>
            <a:r>
              <a:rPr lang="ko-KR" altLang="en-US" sz="1600" dirty="0" err="1"/>
              <a:t>명령행에</a:t>
            </a:r>
            <a:r>
              <a:rPr lang="ko-KR" altLang="en-US" sz="1600" dirty="0"/>
              <a:t> 입력한 문자열을 전달받는다</a:t>
            </a:r>
            <a:r>
              <a:rPr lang="en-US" altLang="ko-KR" sz="1600" dirty="0"/>
              <a:t>.</a:t>
            </a:r>
          </a:p>
          <a:p>
            <a:pPr marL="457200" lvl="1" indent="0">
              <a:buNone/>
            </a:pPr>
            <a:r>
              <a:rPr lang="ko-KR" altLang="en-US" sz="1400" b="1" dirty="0"/>
              <a:t>   실행파일이름</a:t>
            </a:r>
            <a:r>
              <a:rPr lang="en-US" altLang="ko-KR" sz="1400" b="1" dirty="0"/>
              <a:t>.exe  one two three four</a:t>
            </a:r>
            <a:endParaRPr lang="ko-KR" altLang="en-US" sz="1400" b="1" dirty="0"/>
          </a:p>
          <a:p>
            <a:pPr lvl="1"/>
            <a:endParaRPr lang="ko-KR" altLang="en-US" sz="1400" dirty="0"/>
          </a:p>
        </p:txBody>
      </p:sp>
      <p:sp>
        <p:nvSpPr>
          <p:cNvPr id="4" name="직사각형 3"/>
          <p:cNvSpPr/>
          <p:nvPr/>
        </p:nvSpPr>
        <p:spPr>
          <a:xfrm>
            <a:off x="1530665" y="4798814"/>
            <a:ext cx="43636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argc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</a:t>
            </a:r>
            <a:r>
              <a:rPr lang="en-US" altLang="ko-KR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argv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[])</a:t>
            </a:r>
            <a:endParaRPr lang="ko-KR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681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sz="1800" dirty="0">
              <a:solidFill>
                <a:srgbClr val="00A4E6"/>
              </a:solidFill>
              <a:latin typeface="+mj-ea"/>
            </a:endParaRPr>
          </a:p>
          <a:p>
            <a:endParaRPr lang="en-US" altLang="ko-KR" sz="1800" dirty="0">
              <a:solidFill>
                <a:srgbClr val="00A4E6"/>
              </a:solidFill>
              <a:latin typeface="+mj-ea"/>
            </a:endParaRPr>
          </a:p>
          <a:p>
            <a:endParaRPr lang="en-US" altLang="ko-KR" sz="1800" dirty="0">
              <a:solidFill>
                <a:srgbClr val="00A4E6"/>
              </a:solidFill>
              <a:latin typeface="+mj-ea"/>
            </a:endParaRPr>
          </a:p>
          <a:p>
            <a:endParaRPr lang="en-US" altLang="ko-KR" sz="1800" dirty="0">
              <a:solidFill>
                <a:srgbClr val="00A4E6"/>
              </a:solidFill>
              <a:latin typeface="+mj-ea"/>
            </a:endParaRPr>
          </a:p>
          <a:p>
            <a:endParaRPr lang="en-US" altLang="ko-KR" sz="1800" dirty="0">
              <a:solidFill>
                <a:srgbClr val="00A4E6"/>
              </a:solidFill>
              <a:latin typeface="+mj-ea"/>
            </a:endParaRPr>
          </a:p>
          <a:p>
            <a:endParaRPr lang="en-US" altLang="ko-KR" sz="1600" dirty="0">
              <a:solidFill>
                <a:srgbClr val="00A4E6"/>
              </a:solidFill>
              <a:latin typeface="+mj-ea"/>
            </a:endParaRPr>
          </a:p>
          <a:p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키보드로 </a:t>
            </a:r>
            <a:r>
              <a:rPr lang="ko-KR" altLang="en-US" sz="1600" dirty="0" err="1">
                <a:solidFill>
                  <a:srgbClr val="00A4E6"/>
                </a:solidFill>
                <a:latin typeface="+mj-ea"/>
              </a:rPr>
              <a:t>입력받은</a:t>
            </a:r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 문자를 파일에 출력하기</a:t>
            </a:r>
            <a:r>
              <a:rPr lang="en-US" altLang="ko-KR" sz="1600" dirty="0">
                <a:solidFill>
                  <a:srgbClr val="00A4E6"/>
                </a:solidFill>
                <a:latin typeface="+mj-ea"/>
              </a:rPr>
              <a:t>(13_05.cpp)</a:t>
            </a:r>
          </a:p>
          <a:p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문자 단위로 파일에서 </a:t>
            </a:r>
            <a:r>
              <a:rPr lang="ko-KR" altLang="en-US" sz="1600" dirty="0" err="1">
                <a:solidFill>
                  <a:srgbClr val="00A4E6"/>
                </a:solidFill>
                <a:latin typeface="+mj-ea"/>
              </a:rPr>
              <a:t>입력받기</a:t>
            </a:r>
            <a:r>
              <a:rPr lang="en-US" altLang="ko-KR" sz="1600" dirty="0">
                <a:solidFill>
                  <a:srgbClr val="00A4E6"/>
                </a:solidFill>
                <a:latin typeface="+mj-ea"/>
              </a:rPr>
              <a:t>(13_06.cpp)</a:t>
            </a:r>
          </a:p>
          <a:p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명령행에서 문자열 </a:t>
            </a:r>
            <a:r>
              <a:rPr lang="ko-KR" altLang="en-US" sz="1600" dirty="0" err="1">
                <a:solidFill>
                  <a:srgbClr val="00A4E6"/>
                </a:solidFill>
                <a:latin typeface="+mj-ea"/>
              </a:rPr>
              <a:t>읽어오기</a:t>
            </a:r>
            <a:r>
              <a:rPr lang="en-US" altLang="ko-KR" sz="1600" dirty="0">
                <a:solidFill>
                  <a:srgbClr val="00A4E6"/>
                </a:solidFill>
                <a:latin typeface="+mj-ea"/>
              </a:rPr>
              <a:t>(13_07.cpp)</a:t>
            </a:r>
            <a:endParaRPr lang="ko-KR" altLang="en-US" sz="1600" dirty="0"/>
          </a:p>
        </p:txBody>
      </p:sp>
      <p:sp>
        <p:nvSpPr>
          <p:cNvPr id="4" name="직사각형 3"/>
          <p:cNvSpPr/>
          <p:nvPr/>
        </p:nvSpPr>
        <p:spPr>
          <a:xfrm>
            <a:off x="943279" y="1520906"/>
            <a:ext cx="6113690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6600"/>
                </a:solidFill>
              </a:rPr>
              <a:t>// </a:t>
            </a:r>
            <a:r>
              <a:rPr lang="ko-KR" altLang="en-US" sz="1600" dirty="0">
                <a:solidFill>
                  <a:srgbClr val="006600"/>
                </a:solidFill>
              </a:rPr>
              <a:t>프로젝트 속성 </a:t>
            </a:r>
            <a:r>
              <a:rPr lang="en-US" altLang="ko-KR" sz="1600" dirty="0">
                <a:solidFill>
                  <a:srgbClr val="006600"/>
                </a:solidFill>
              </a:rPr>
              <a:t>/ </a:t>
            </a:r>
            <a:r>
              <a:rPr lang="ko-KR" altLang="en-US" sz="1600" dirty="0">
                <a:solidFill>
                  <a:srgbClr val="006600"/>
                </a:solidFill>
              </a:rPr>
              <a:t>디버깅 </a:t>
            </a:r>
            <a:r>
              <a:rPr lang="en-US" altLang="ko-KR" sz="1600" dirty="0">
                <a:solidFill>
                  <a:srgbClr val="006600"/>
                </a:solidFill>
              </a:rPr>
              <a:t>/ </a:t>
            </a:r>
            <a:r>
              <a:rPr lang="ko-KR" altLang="en-US" sz="1600" dirty="0">
                <a:solidFill>
                  <a:srgbClr val="006600"/>
                </a:solidFill>
              </a:rPr>
              <a:t>명령 인수</a:t>
            </a:r>
            <a:endParaRPr lang="en-US" altLang="ko-KR" sz="1600" dirty="0">
              <a:solidFill>
                <a:srgbClr val="0066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argc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</a:t>
            </a:r>
            <a:r>
              <a:rPr lang="en-US" altLang="ko-KR" sz="16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argv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[])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argc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nn-NO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nn-NO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for</a:t>
            </a:r>
            <a:r>
              <a:rPr lang="nn-NO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(</a:t>
            </a:r>
            <a:r>
              <a:rPr lang="nn-NO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nn-NO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i = 0; i &lt; </a:t>
            </a:r>
            <a:r>
              <a:rPr lang="nn-NO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argc</a:t>
            </a:r>
            <a:r>
              <a:rPr lang="nn-NO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i++)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argv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[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]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6520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도스의 </a:t>
            </a:r>
            <a:r>
              <a:rPr lang="en-US" altLang="ko-KR" dirty="0"/>
              <a:t>type </a:t>
            </a:r>
            <a:r>
              <a:rPr lang="ko-KR" altLang="en-US" dirty="0"/>
              <a:t>명령어 만들기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>
                <a:latin typeface="+mj-ea"/>
              </a:rPr>
              <a:t>명령프롬프트</a:t>
            </a:r>
            <a:endParaRPr lang="en-US" altLang="ko-KR" sz="1800" dirty="0">
              <a:latin typeface="+mj-ea"/>
            </a:endParaRPr>
          </a:p>
          <a:p>
            <a:pPr marL="457200" lvl="1" indent="0">
              <a:buNone/>
            </a:pPr>
            <a:r>
              <a:rPr lang="en-US" altLang="ko-KR" sz="1600" dirty="0">
                <a:latin typeface="+mj-ea"/>
              </a:rPr>
              <a:t>C:\Users\kadco&gt;</a:t>
            </a:r>
            <a:r>
              <a:rPr lang="en-US" altLang="ko-KR" sz="1600" b="1" dirty="0">
                <a:latin typeface="+mj-ea"/>
              </a:rPr>
              <a:t>cd</a:t>
            </a:r>
            <a:r>
              <a:rPr lang="en-US" altLang="ko-KR" sz="1600" dirty="0">
                <a:latin typeface="+mj-ea"/>
              </a:rPr>
              <a:t> C:\Users\kadco\source\repos\MyCode\MyCoe</a:t>
            </a:r>
          </a:p>
          <a:p>
            <a:pPr marL="457200" lvl="1" indent="0">
              <a:buNone/>
            </a:pPr>
            <a:endParaRPr lang="en-US" altLang="ko-KR" sz="1600" dirty="0">
              <a:latin typeface="+mj-ea"/>
            </a:endParaRPr>
          </a:p>
          <a:p>
            <a:pPr marL="457200" lvl="1" indent="0">
              <a:buNone/>
            </a:pPr>
            <a:r>
              <a:rPr lang="en-US" altLang="ko-KR" sz="1600" dirty="0">
                <a:latin typeface="+mj-ea"/>
              </a:rPr>
              <a:t>C:\Users\kadco\source\repos\MyCode\MyCode&gt;</a:t>
            </a:r>
            <a:r>
              <a:rPr lang="en-US" altLang="ko-KR" sz="1600" b="1" dirty="0">
                <a:latin typeface="+mj-ea"/>
              </a:rPr>
              <a:t>type</a:t>
            </a:r>
            <a:r>
              <a:rPr lang="en-US" altLang="ko-KR" sz="1600" dirty="0">
                <a:latin typeface="+mj-ea"/>
              </a:rPr>
              <a:t> MyCode.cpp</a:t>
            </a:r>
          </a:p>
          <a:p>
            <a:pPr marL="457200" lvl="1" indent="0">
              <a:buNone/>
            </a:pPr>
            <a:endParaRPr lang="en-US" altLang="ko-KR" sz="1600" dirty="0">
              <a:latin typeface="+mj-ea"/>
            </a:endParaRPr>
          </a:p>
          <a:p>
            <a:pPr marL="457200" lvl="1" indent="0">
              <a:buNone/>
            </a:pPr>
            <a:r>
              <a:rPr lang="en-US" altLang="ko-KR" sz="1600" dirty="0">
                <a:latin typeface="+mj-ea"/>
              </a:rPr>
              <a:t>C:\Users\kadco\source\repos\MyCode\MyCode&gt;</a:t>
            </a:r>
            <a:r>
              <a:rPr lang="en-US" altLang="ko-KR" sz="1600" b="1" dirty="0">
                <a:latin typeface="+mj-ea"/>
              </a:rPr>
              <a:t>copy</a:t>
            </a:r>
            <a:r>
              <a:rPr lang="en-US" altLang="ko-KR" sz="1600" dirty="0">
                <a:latin typeface="+mj-ea"/>
              </a:rPr>
              <a:t> MyCode.cpp 111</a:t>
            </a:r>
          </a:p>
          <a:p>
            <a:pPr marL="457200" lvl="1" indent="0">
              <a:buNone/>
            </a:pPr>
            <a:r>
              <a:rPr lang="en-US" altLang="ko-KR" sz="1600" dirty="0">
                <a:latin typeface="+mj-ea"/>
              </a:rPr>
              <a:t>        1</a:t>
            </a:r>
            <a:r>
              <a:rPr lang="ko-KR" altLang="en-US" sz="1600" dirty="0">
                <a:latin typeface="+mj-ea"/>
              </a:rPr>
              <a:t>개 파일이 복사되었습니다</a:t>
            </a:r>
            <a:r>
              <a:rPr lang="en-US" altLang="ko-KR" sz="1600" dirty="0">
                <a:latin typeface="+mj-ea"/>
              </a:rPr>
              <a:t>.</a:t>
            </a:r>
          </a:p>
          <a:p>
            <a:endParaRPr lang="en-US" altLang="ko-KR" sz="1600" dirty="0">
              <a:solidFill>
                <a:srgbClr val="00A4E6"/>
              </a:solidFill>
              <a:latin typeface="+mj-ea"/>
            </a:endParaRPr>
          </a:p>
          <a:p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도스의 </a:t>
            </a:r>
            <a:r>
              <a:rPr lang="en-US" altLang="ko-KR" sz="1600" dirty="0">
                <a:solidFill>
                  <a:srgbClr val="00A4E6"/>
                </a:solidFill>
                <a:latin typeface="+mj-ea"/>
              </a:rPr>
              <a:t>type </a:t>
            </a:r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명령어 만들기</a:t>
            </a:r>
            <a:r>
              <a:rPr lang="en-US" altLang="ko-KR" sz="1600" dirty="0">
                <a:solidFill>
                  <a:srgbClr val="00A4E6"/>
                </a:solidFill>
                <a:latin typeface="+mj-ea"/>
              </a:rPr>
              <a:t>(13_08.cpp)</a:t>
            </a:r>
          </a:p>
          <a:p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파일에서 </a:t>
            </a:r>
            <a:r>
              <a:rPr lang="ko-KR" altLang="en-US" sz="1600" dirty="0" err="1">
                <a:solidFill>
                  <a:srgbClr val="00A4E6"/>
                </a:solidFill>
                <a:latin typeface="+mj-ea"/>
              </a:rPr>
              <a:t>입력받은</a:t>
            </a:r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 내용을 파일에 출력하기</a:t>
            </a:r>
            <a:r>
              <a:rPr lang="en-US" altLang="ko-KR" sz="1600" dirty="0">
                <a:solidFill>
                  <a:srgbClr val="00A4E6"/>
                </a:solidFill>
                <a:latin typeface="+mj-ea"/>
              </a:rPr>
              <a:t>(13_09.cpp)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790110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도스의 </a:t>
            </a:r>
            <a:r>
              <a:rPr lang="en-US" altLang="ko-KR" dirty="0"/>
              <a:t>copy </a:t>
            </a:r>
            <a:r>
              <a:rPr lang="ko-KR" altLang="en-US" dirty="0"/>
              <a:t>명령 만들기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도스의 </a:t>
            </a:r>
            <a:r>
              <a:rPr lang="en-US" altLang="ko-KR" sz="1600" dirty="0">
                <a:solidFill>
                  <a:srgbClr val="00A4E6"/>
                </a:solidFill>
                <a:latin typeface="+mj-ea"/>
              </a:rPr>
              <a:t>copy </a:t>
            </a:r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명령어 만들기</a:t>
            </a:r>
            <a:endParaRPr lang="ko-KR" alt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730A67-6133-4626-8AB0-D40F921EAD15}"/>
              </a:ext>
            </a:extLst>
          </p:cNvPr>
          <p:cNvSpPr txBox="1"/>
          <p:nvPr/>
        </p:nvSpPr>
        <p:spPr>
          <a:xfrm>
            <a:off x="4246228" y="1235676"/>
            <a:ext cx="6629400" cy="5001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&lt;iostream&gt;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                                          </a:t>
            </a:r>
          </a:p>
          <a:p>
            <a:r>
              <a:rPr lang="en-US" altLang="ko-KR" sz="11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</a:t>
            </a:r>
            <a:r>
              <a:rPr lang="en-US" altLang="ko-KR" sz="11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fstream</a:t>
            </a:r>
            <a:r>
              <a:rPr lang="en-US" altLang="ko-KR" sz="11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                                           </a:t>
            </a:r>
          </a:p>
          <a:p>
            <a:r>
              <a:rPr lang="en-US" altLang="ko-KR" sz="11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using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std;</a:t>
            </a:r>
          </a:p>
          <a:p>
            <a:endParaRPr lang="ko-KR" altLang="en-US" sz="11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</a:t>
            </a:r>
            <a:r>
              <a:rPr lang="en-US" altLang="ko-KR" sz="11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argc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sz="11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</a:t>
            </a:r>
            <a:r>
              <a:rPr lang="en-US" altLang="ko-KR" sz="11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argv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[])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1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ifstream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fin;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1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ofstream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fout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endParaRPr lang="ko-KR" altLang="en-US" sz="11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  <a:endParaRPr lang="ko-KR" altLang="en-US" sz="11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if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(</a:t>
            </a:r>
            <a:r>
              <a:rPr lang="en-US" altLang="ko-KR" sz="11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argc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!= 3) {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1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명령어 입력한 후 원본 파일명과 복사본 파일명을 입력하세요</a:t>
            </a:r>
            <a:r>
              <a:rPr lang="en-US" altLang="ko-KR" sz="11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ko-KR" altLang="en-US" sz="11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fin.open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1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argv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[1]);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fout.open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1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argv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[2]);</a:t>
            </a:r>
          </a:p>
          <a:p>
            <a:endParaRPr lang="ko-KR" altLang="en-US" sz="11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if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(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fin.fail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|| 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fout.fail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()) {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1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파일 오픈을 실패했습니다</a:t>
            </a:r>
            <a:r>
              <a:rPr lang="en-US" altLang="ko-KR" sz="11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."</a:t>
            </a:r>
            <a:r>
              <a:rPr lang="ko-KR" altLang="en-US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ko-KR" altLang="en-US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ko-KR" altLang="en-US" sz="11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while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(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fin.get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))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fout.put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endParaRPr lang="ko-KR" altLang="en-US" sz="11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fin.close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fout.close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565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/>
              <a:t>텍스트 파일과 이진 파일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sz="1600" dirty="0"/>
              <a:t>텍스트 파일로 </a:t>
            </a:r>
            <a:r>
              <a:rPr lang="ko-KR" altLang="en-US" sz="1600" dirty="0" err="1"/>
              <a:t>입출력하기</a:t>
            </a:r>
            <a:endParaRPr lang="en-US" altLang="ko-KR" sz="1600" dirty="0"/>
          </a:p>
          <a:p>
            <a:pPr lvl="1"/>
            <a:r>
              <a:rPr lang="ko-KR" altLang="en-US" sz="1600" dirty="0"/>
              <a:t>정수형 데이터 </a:t>
            </a:r>
            <a:r>
              <a:rPr lang="en-US" altLang="ko-KR" sz="1600" dirty="0"/>
              <a:t>1004</a:t>
            </a:r>
            <a:r>
              <a:rPr lang="ko-KR" altLang="en-US" sz="1600" dirty="0"/>
              <a:t>가 메모리에 저장되어 있다고 가정하고</a:t>
            </a:r>
            <a:r>
              <a:rPr lang="en-US" altLang="ko-KR" sz="1600" dirty="0"/>
              <a:t>, </a:t>
            </a:r>
            <a:r>
              <a:rPr lang="ko-KR" altLang="en-US" sz="1600" dirty="0"/>
              <a:t>이 </a:t>
            </a:r>
            <a:r>
              <a:rPr lang="ko-KR" altLang="en-US" sz="1600" dirty="0" err="1"/>
              <a:t>변숫값을</a:t>
            </a:r>
            <a:r>
              <a:rPr lang="ko-KR" altLang="en-US" sz="1600" dirty="0"/>
              <a:t> 텍스트 파일 형태로 출력한다면 파일에 저장된 데이터는 다음과 같다</a:t>
            </a:r>
            <a:r>
              <a:rPr lang="en-US" altLang="ko-KR" sz="1600" dirty="0"/>
              <a:t>.</a:t>
            </a:r>
          </a:p>
          <a:p>
            <a:pPr lvl="1"/>
            <a:r>
              <a:rPr lang="en-US" altLang="ko-KR" sz="1600" b="1" dirty="0">
                <a:solidFill>
                  <a:schemeClr val="accent2">
                    <a:lumMod val="75000"/>
                  </a:schemeClr>
                </a:solidFill>
              </a:rPr>
              <a:t>&lt;&lt; </a:t>
            </a:r>
            <a:r>
              <a:rPr lang="ko-KR" altLang="en-US" sz="1600" b="1" dirty="0">
                <a:solidFill>
                  <a:schemeClr val="accent2">
                    <a:lumMod val="75000"/>
                  </a:schemeClr>
                </a:solidFill>
              </a:rPr>
              <a:t>연산자는 </a:t>
            </a:r>
            <a:r>
              <a:rPr lang="ko-KR" altLang="en-US" sz="1600" dirty="0"/>
              <a:t>변수 </a:t>
            </a:r>
            <a:r>
              <a:rPr lang="en-US" altLang="ko-KR" sz="1600" dirty="0"/>
              <a:t>a</a:t>
            </a:r>
            <a:r>
              <a:rPr lang="ko-KR" altLang="en-US" sz="1600" dirty="0"/>
              <a:t>에 저장된 </a:t>
            </a:r>
            <a:r>
              <a:rPr lang="en-US" altLang="ko-KR" sz="1600" dirty="0"/>
              <a:t>1004</a:t>
            </a:r>
            <a:r>
              <a:rPr lang="ko-KR" altLang="en-US" sz="1600" dirty="0"/>
              <a:t>와 같은 </a:t>
            </a:r>
            <a:r>
              <a:rPr lang="ko-KR" altLang="en-US" sz="1600" b="1" dirty="0"/>
              <a:t>수치 형태</a:t>
            </a:r>
            <a:r>
              <a:rPr lang="ko-KR" altLang="en-US" sz="1600" dirty="0"/>
              <a:t>를 </a:t>
            </a:r>
            <a:r>
              <a:rPr lang="ko-KR" altLang="en-US" sz="1600" b="1" dirty="0"/>
              <a:t>문자열 형태</a:t>
            </a:r>
            <a:r>
              <a:rPr lang="ko-KR" altLang="en-US" sz="1600" dirty="0"/>
              <a:t>로 </a:t>
            </a:r>
            <a:r>
              <a:rPr lang="ko-KR" altLang="en-US" sz="1600" dirty="0">
                <a:solidFill>
                  <a:srgbClr val="FF0000"/>
                </a:solidFill>
              </a:rPr>
              <a:t>변환</a:t>
            </a:r>
            <a:r>
              <a:rPr lang="ko-KR" altLang="en-US" sz="1600" dirty="0"/>
              <a:t>해 </a:t>
            </a:r>
            <a:r>
              <a:rPr lang="ko-KR" altLang="en-US" sz="1600" b="1" dirty="0"/>
              <a:t>텍스트 파일</a:t>
            </a:r>
            <a:r>
              <a:rPr lang="ko-KR" altLang="en-US" sz="1600" dirty="0"/>
              <a:t>로 저장한다</a:t>
            </a:r>
            <a:r>
              <a:rPr lang="en-US" altLang="ko-KR" sz="1600" dirty="0"/>
              <a:t>. </a:t>
            </a:r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r>
              <a:rPr lang="ko-KR" altLang="en-US" sz="1600" dirty="0"/>
              <a:t>텍스트 파일에서 데이터를 읽어와 정수형 변수에 저장할 경우에는 반대 작업이 일어난다</a:t>
            </a:r>
            <a:r>
              <a:rPr lang="en-US" altLang="ko-KR" sz="1600" dirty="0"/>
              <a:t>. </a:t>
            </a:r>
            <a:r>
              <a:rPr lang="ko-KR" altLang="en-US" sz="1600" dirty="0"/>
              <a:t>문자열 형태의 데이터를 읽어서 정수형으로 변환한다</a:t>
            </a:r>
            <a:r>
              <a:rPr lang="en-US" altLang="ko-KR" sz="1600" dirty="0"/>
              <a:t>.</a:t>
            </a:r>
          </a:p>
          <a:p>
            <a:pPr lvl="1"/>
            <a:r>
              <a:rPr lang="en-US" altLang="ko-KR" sz="1600" b="1" dirty="0">
                <a:solidFill>
                  <a:schemeClr val="accent2">
                    <a:lumMod val="75000"/>
                  </a:schemeClr>
                </a:solidFill>
              </a:rPr>
              <a:t>&gt;&gt; </a:t>
            </a:r>
            <a:r>
              <a:rPr lang="ko-KR" altLang="en-US" sz="1600" b="1" dirty="0">
                <a:solidFill>
                  <a:schemeClr val="accent2">
                    <a:lumMod val="75000"/>
                  </a:schemeClr>
                </a:solidFill>
              </a:rPr>
              <a:t>연산자는 </a:t>
            </a:r>
            <a:r>
              <a:rPr lang="ko-KR" altLang="en-US" sz="1600" dirty="0"/>
              <a:t>파일에 저장된 </a:t>
            </a:r>
            <a:r>
              <a:rPr lang="ko-KR" altLang="en-US" sz="1600" b="1" dirty="0"/>
              <a:t>문자열 데이터 </a:t>
            </a:r>
            <a:r>
              <a:rPr lang="en-US" altLang="ko-KR" sz="1600" b="1" dirty="0"/>
              <a:t>1004</a:t>
            </a:r>
            <a:r>
              <a:rPr lang="ko-KR" altLang="en-US" sz="1600" b="1" dirty="0"/>
              <a:t>를</a:t>
            </a:r>
            <a:r>
              <a:rPr lang="ko-KR" altLang="en-US" sz="1600" dirty="0"/>
              <a:t> </a:t>
            </a:r>
            <a:r>
              <a:rPr lang="ko-KR" altLang="en-US" sz="1600" b="1" dirty="0" err="1"/>
              <a:t>정수형으로</a:t>
            </a:r>
            <a:r>
              <a:rPr lang="ko-KR" altLang="en-US" sz="1600" b="1" dirty="0"/>
              <a:t> </a:t>
            </a:r>
            <a:r>
              <a:rPr lang="ko-KR" altLang="en-US" sz="1600" b="1" dirty="0" err="1"/>
              <a:t>형변환한다</a:t>
            </a:r>
            <a:r>
              <a:rPr lang="en-US" altLang="ko-KR" sz="1600" dirty="0"/>
              <a:t>. </a:t>
            </a:r>
          </a:p>
          <a:p>
            <a:pPr lvl="1"/>
            <a:r>
              <a:rPr lang="ko-KR" altLang="en-US" sz="1600" dirty="0"/>
              <a:t>그래서 변수 </a:t>
            </a:r>
            <a:r>
              <a:rPr lang="en-US" altLang="ko-KR" sz="1600" dirty="0"/>
              <a:t>a</a:t>
            </a:r>
            <a:r>
              <a:rPr lang="ko-KR" altLang="en-US" sz="1600" dirty="0"/>
              <a:t>에는 </a:t>
            </a:r>
            <a:r>
              <a:rPr lang="en-US" altLang="ko-KR" sz="1600" dirty="0"/>
              <a:t>1004</a:t>
            </a:r>
            <a:r>
              <a:rPr lang="ko-KR" altLang="en-US" sz="1600" dirty="0"/>
              <a:t>와 같은 </a:t>
            </a:r>
            <a:r>
              <a:rPr lang="ko-KR" altLang="en-US" sz="1600" dirty="0" err="1"/>
              <a:t>수치형으로</a:t>
            </a:r>
            <a:r>
              <a:rPr lang="ko-KR" altLang="en-US" sz="1600" dirty="0"/>
              <a:t> 저장된다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592051"/>
              </p:ext>
            </p:extLst>
          </p:nvPr>
        </p:nvGraphicFramePr>
        <p:xfrm>
          <a:off x="7479676" y="2927309"/>
          <a:ext cx="2880320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3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00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57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‘1’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‘0’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‘0’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‘4’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‘\0’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직사각형 16"/>
          <p:cNvSpPr/>
          <p:nvPr/>
        </p:nvSpPr>
        <p:spPr>
          <a:xfrm>
            <a:off x="3422821" y="2630893"/>
            <a:ext cx="1518319" cy="609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 err="1"/>
              <a:t>int</a:t>
            </a:r>
            <a:r>
              <a:rPr lang="en-US" altLang="ko-KR" sz="1400" dirty="0"/>
              <a:t> a=1004;</a:t>
            </a:r>
          </a:p>
          <a:p>
            <a:pPr>
              <a:lnSpc>
                <a:spcPct val="120000"/>
              </a:lnSpc>
            </a:pPr>
            <a:r>
              <a:rPr lang="en-US" altLang="ko-KR" sz="1400" dirty="0" err="1"/>
              <a:t>fout</a:t>
            </a:r>
            <a:r>
              <a:rPr lang="en-US" altLang="ko-KR" sz="1400" dirty="0"/>
              <a:t>&lt;&lt;a;</a:t>
            </a:r>
            <a:endParaRPr lang="ko-KR" altLang="en-US" sz="1400" dirty="0"/>
          </a:p>
        </p:txBody>
      </p:sp>
      <p:sp>
        <p:nvSpPr>
          <p:cNvPr id="18" name="직사각형 17"/>
          <p:cNvSpPr/>
          <p:nvPr/>
        </p:nvSpPr>
        <p:spPr>
          <a:xfrm>
            <a:off x="4941140" y="2630893"/>
            <a:ext cx="2466528" cy="286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50" dirty="0"/>
              <a:t>변수 </a:t>
            </a:r>
            <a:r>
              <a:rPr lang="en-US" altLang="ko-KR" sz="1050" dirty="0"/>
              <a:t>a</a:t>
            </a:r>
            <a:r>
              <a:rPr lang="ko-KR" altLang="en-US" sz="1050" dirty="0"/>
              <a:t>에 </a:t>
            </a:r>
            <a:r>
              <a:rPr lang="en-US" altLang="ko-KR" sz="1050" dirty="0"/>
              <a:t>1004</a:t>
            </a:r>
            <a:r>
              <a:rPr lang="ko-KR" altLang="en-US" sz="1050" dirty="0"/>
              <a:t>가 저장되어 있는 형태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7857625" y="2649943"/>
            <a:ext cx="2304256" cy="286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50" dirty="0"/>
              <a:t>파일에 </a:t>
            </a:r>
            <a:r>
              <a:rPr lang="en-US" altLang="ko-KR" sz="1050" dirty="0"/>
              <a:t>1004</a:t>
            </a:r>
            <a:r>
              <a:rPr lang="ko-KR" altLang="en-US" sz="1050" dirty="0"/>
              <a:t>가 저장되어 있는 형태</a:t>
            </a:r>
          </a:p>
        </p:txBody>
      </p:sp>
      <p:cxnSp>
        <p:nvCxnSpPr>
          <p:cNvPr id="20" name="직선 연결선 19"/>
          <p:cNvCxnSpPr/>
          <p:nvPr/>
        </p:nvCxnSpPr>
        <p:spPr>
          <a:xfrm rot="5400000">
            <a:off x="5847875" y="3341448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5919883" y="3413456"/>
            <a:ext cx="6766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 rot="5400000">
            <a:off x="6524521" y="3341448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 rot="5400000">
            <a:off x="7417193" y="3350973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7489201" y="3422981"/>
            <a:ext cx="28707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rot="5400000">
            <a:off x="10287988" y="3350973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/>
          <p:nvPr/>
        </p:nvCxnSpPr>
        <p:spPr>
          <a:xfrm>
            <a:off x="6543572" y="3048083"/>
            <a:ext cx="936104" cy="15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표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707619"/>
              </p:ext>
            </p:extLst>
          </p:nvPr>
        </p:nvGraphicFramePr>
        <p:xfrm>
          <a:off x="5931504" y="2927309"/>
          <a:ext cx="648072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37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1004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직사각형 27"/>
          <p:cNvSpPr/>
          <p:nvPr/>
        </p:nvSpPr>
        <p:spPr>
          <a:xfrm>
            <a:off x="5919882" y="3417648"/>
            <a:ext cx="667123" cy="286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50" dirty="0"/>
              <a:t>4</a:t>
            </a:r>
            <a:r>
              <a:rPr lang="ko-KR" altLang="en-US" sz="1050" dirty="0"/>
              <a:t>바이트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8635845" y="3413875"/>
            <a:ext cx="667123" cy="286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50" dirty="0"/>
              <a:t>5</a:t>
            </a:r>
            <a:r>
              <a:rPr lang="ko-KR" altLang="en-US" sz="1050" dirty="0"/>
              <a:t>바이트</a:t>
            </a:r>
          </a:p>
        </p:txBody>
      </p:sp>
      <p:graphicFrame>
        <p:nvGraphicFramePr>
          <p:cNvPr id="30" name="표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87775"/>
              </p:ext>
            </p:extLst>
          </p:nvPr>
        </p:nvGraphicFramePr>
        <p:xfrm>
          <a:off x="5282140" y="5356371"/>
          <a:ext cx="2880320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3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00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57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‘1’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‘0’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‘0’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‘4’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‘\0’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직사각형 30"/>
          <p:cNvSpPr/>
          <p:nvPr/>
        </p:nvSpPr>
        <p:spPr>
          <a:xfrm>
            <a:off x="3422821" y="5059955"/>
            <a:ext cx="151831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err="1"/>
              <a:t>int</a:t>
            </a:r>
            <a:r>
              <a:rPr lang="en-US" altLang="ko-KR" sz="1400" dirty="0"/>
              <a:t> a;</a:t>
            </a:r>
          </a:p>
          <a:p>
            <a:r>
              <a:rPr lang="en-US" altLang="ko-KR" sz="1400" dirty="0"/>
              <a:t>fin&gt;&gt;a;</a:t>
            </a:r>
            <a:endParaRPr lang="ko-KR" altLang="en-US" sz="1400" dirty="0"/>
          </a:p>
        </p:txBody>
      </p:sp>
      <p:sp>
        <p:nvSpPr>
          <p:cNvPr id="32" name="직사각형 31"/>
          <p:cNvSpPr/>
          <p:nvPr/>
        </p:nvSpPr>
        <p:spPr>
          <a:xfrm>
            <a:off x="8275221" y="5051571"/>
            <a:ext cx="2683161" cy="286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50" dirty="0"/>
              <a:t>변수 </a:t>
            </a:r>
            <a:r>
              <a:rPr lang="en-US" altLang="ko-KR" sz="1050" dirty="0"/>
              <a:t>a</a:t>
            </a:r>
            <a:r>
              <a:rPr lang="ko-KR" altLang="en-US" sz="1050" dirty="0"/>
              <a:t>에 </a:t>
            </a:r>
            <a:r>
              <a:rPr lang="en-US" altLang="ko-KR" sz="1050" dirty="0"/>
              <a:t>1004</a:t>
            </a:r>
            <a:r>
              <a:rPr lang="ko-KR" altLang="en-US" sz="1050" dirty="0"/>
              <a:t>가 저장되어 있는 형태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5660089" y="5079005"/>
            <a:ext cx="2304256" cy="286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50" dirty="0"/>
              <a:t>파일에 </a:t>
            </a:r>
            <a:r>
              <a:rPr lang="en-US" altLang="ko-KR" sz="1050" dirty="0"/>
              <a:t>1004</a:t>
            </a:r>
            <a:r>
              <a:rPr lang="ko-KR" altLang="en-US" sz="1050" dirty="0"/>
              <a:t>가 저장되어 있는 형태</a:t>
            </a:r>
          </a:p>
        </p:txBody>
      </p:sp>
      <p:cxnSp>
        <p:nvCxnSpPr>
          <p:cNvPr id="34" name="직선 연결선 33"/>
          <p:cNvCxnSpPr/>
          <p:nvPr/>
        </p:nvCxnSpPr>
        <p:spPr>
          <a:xfrm rot="5400000">
            <a:off x="9019685" y="5762126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>
            <a:off x="9091693" y="5834134"/>
            <a:ext cx="6766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 rot="5400000">
            <a:off x="9696331" y="5762126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 rot="5400000">
            <a:off x="5219657" y="5780035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>
            <a:off x="5291665" y="5852043"/>
            <a:ext cx="28707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 rot="5400000">
            <a:off x="8090452" y="5780035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/>
          <p:nvPr/>
        </p:nvCxnSpPr>
        <p:spPr>
          <a:xfrm>
            <a:off x="8167793" y="5471812"/>
            <a:ext cx="936104" cy="15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표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810267"/>
              </p:ext>
            </p:extLst>
          </p:nvPr>
        </p:nvGraphicFramePr>
        <p:xfrm>
          <a:off x="9103314" y="5347987"/>
          <a:ext cx="648072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37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1004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2" name="직사각형 41"/>
          <p:cNvSpPr/>
          <p:nvPr/>
        </p:nvSpPr>
        <p:spPr>
          <a:xfrm>
            <a:off x="9091692" y="5838326"/>
            <a:ext cx="667123" cy="286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50"/>
              <a:t>4</a:t>
            </a:r>
            <a:r>
              <a:rPr lang="ko-KR" altLang="en-US" sz="1050" dirty="0"/>
              <a:t>바이트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6386642" y="5865760"/>
            <a:ext cx="667123" cy="286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50" dirty="0"/>
              <a:t>5</a:t>
            </a:r>
            <a:r>
              <a:rPr lang="ko-KR" altLang="en-US" sz="1050" dirty="0"/>
              <a:t>바이트</a:t>
            </a:r>
          </a:p>
        </p:txBody>
      </p:sp>
    </p:spTree>
    <p:extLst>
      <p:ext uri="{BB962C8B-B14F-4D97-AF65-F5344CB8AC3E}">
        <p14:creationId xmlns:p14="http://schemas.microsoft.com/office/powerpoint/2010/main" val="7009445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텍스트 파일과 이진 파일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sz="1600" dirty="0"/>
              <a:t>이진 파일로 </a:t>
            </a:r>
            <a:r>
              <a:rPr lang="ko-KR" altLang="en-US" sz="1600" dirty="0" err="1"/>
              <a:t>입출력하기</a:t>
            </a:r>
            <a:endParaRPr lang="en-US" altLang="ko-KR" sz="1600" dirty="0"/>
          </a:p>
          <a:p>
            <a:pPr lvl="1"/>
            <a:r>
              <a:rPr lang="ko-KR" altLang="en-US" sz="1600" b="1" dirty="0"/>
              <a:t>이진 파일</a:t>
            </a:r>
            <a:r>
              <a:rPr lang="ko-KR" altLang="en-US" sz="1600" dirty="0"/>
              <a:t> 형태로 파일을 </a:t>
            </a:r>
            <a:r>
              <a:rPr lang="ko-KR" altLang="en-US" sz="1600" dirty="0" err="1"/>
              <a:t>입출력할</a:t>
            </a:r>
            <a:r>
              <a:rPr lang="ko-KR" altLang="en-US" sz="1600" dirty="0"/>
              <a:t> 경우에는 메모리에 저장되어 있는 상태의 </a:t>
            </a:r>
            <a:r>
              <a:rPr lang="ko-KR" altLang="en-US" sz="1600" dirty="0">
                <a:solidFill>
                  <a:srgbClr val="FF0000"/>
                </a:solidFill>
              </a:rPr>
              <a:t>값을 그대로</a:t>
            </a:r>
            <a:r>
              <a:rPr lang="ko-KR" altLang="en-US" sz="1600" dirty="0"/>
              <a:t> 파일에 저장한</a:t>
            </a:r>
            <a:endParaRPr lang="en-US" altLang="ko-KR" sz="1600" dirty="0"/>
          </a:p>
          <a:p>
            <a:pPr lvl="1">
              <a:buNone/>
            </a:pPr>
            <a:r>
              <a:rPr lang="en-US" altLang="ko-KR" sz="1600" dirty="0"/>
              <a:t>	</a:t>
            </a:r>
            <a:r>
              <a:rPr lang="ko-KR" altLang="en-US" sz="1600" dirty="0"/>
              <a:t>다</a:t>
            </a:r>
            <a:r>
              <a:rPr lang="en-US" altLang="ko-KR" sz="1600" dirty="0"/>
              <a:t>. </a:t>
            </a:r>
            <a:r>
              <a:rPr lang="ko-KR" altLang="en-US" sz="1600" dirty="0"/>
              <a:t>이진 파일을 만들려면 블록 단위로 파일 출력을 하는 함수인 </a:t>
            </a:r>
            <a:r>
              <a:rPr lang="en-US" altLang="ko-KR" sz="1600" dirty="0"/>
              <a:t>write</a:t>
            </a:r>
            <a:r>
              <a:rPr lang="ko-KR" altLang="en-US" sz="1600" dirty="0"/>
              <a:t>를 사용해야 한다</a:t>
            </a:r>
            <a:r>
              <a:rPr lang="en-US" altLang="ko-KR" sz="1600" dirty="0"/>
              <a:t>.</a:t>
            </a:r>
          </a:p>
          <a:p>
            <a:pPr lvl="1">
              <a:buNone/>
            </a:pPr>
            <a:r>
              <a:rPr lang="en-US" altLang="ko-KR" sz="1400" dirty="0"/>
              <a:t>	</a:t>
            </a:r>
          </a:p>
          <a:p>
            <a:pPr lvl="1">
              <a:buNone/>
            </a:pPr>
            <a:endParaRPr lang="en-US" altLang="ko-KR" sz="1400" dirty="0"/>
          </a:p>
          <a:p>
            <a:pPr lvl="1"/>
            <a:r>
              <a:rPr lang="en-US" altLang="ko-KR" sz="1600" dirty="0"/>
              <a:t>write </a:t>
            </a:r>
            <a:r>
              <a:rPr lang="ko-KR" altLang="en-US" sz="1600" dirty="0"/>
              <a:t>함수는 </a:t>
            </a:r>
            <a:r>
              <a:rPr lang="ko-KR" altLang="en-US" sz="1600" dirty="0">
                <a:solidFill>
                  <a:schemeClr val="accent2">
                    <a:lumMod val="50000"/>
                  </a:schemeClr>
                </a:solidFill>
              </a:rPr>
              <a:t>첫 번째 매개변수</a:t>
            </a:r>
            <a:r>
              <a:rPr lang="ko-KR" altLang="en-US" sz="1600" dirty="0"/>
              <a:t>에서 정해준 </a:t>
            </a:r>
            <a:r>
              <a:rPr lang="ko-KR" altLang="en-US" sz="1600" b="1" dirty="0" err="1"/>
              <a:t>주소값</a:t>
            </a:r>
            <a:r>
              <a:rPr lang="ko-KR" altLang="en-US" sz="1600" dirty="0" err="1"/>
              <a:t>에</a:t>
            </a:r>
            <a:r>
              <a:rPr lang="ko-KR" altLang="en-US" sz="1600" dirty="0"/>
              <a:t> 해당되는 메모리 위치로 가서 </a:t>
            </a:r>
            <a:r>
              <a:rPr lang="ko-KR" altLang="en-US" sz="1600" dirty="0">
                <a:solidFill>
                  <a:schemeClr val="accent2">
                    <a:lumMod val="50000"/>
                  </a:schemeClr>
                </a:solidFill>
              </a:rPr>
              <a:t>두 번째 매개변수</a:t>
            </a:r>
            <a:r>
              <a:rPr lang="ko-KR" altLang="en-US" sz="1600" dirty="0"/>
              <a:t>에 정</a:t>
            </a:r>
            <a:endParaRPr lang="en-US" altLang="ko-KR" sz="1600" dirty="0"/>
          </a:p>
          <a:p>
            <a:pPr lvl="1">
              <a:buNone/>
            </a:pPr>
            <a:r>
              <a:rPr lang="en-US" altLang="ko-KR" sz="1600" dirty="0"/>
              <a:t>	</a:t>
            </a:r>
            <a:r>
              <a:rPr lang="ko-KR" altLang="en-US" sz="1600" dirty="0"/>
              <a:t>해진 </a:t>
            </a:r>
            <a:r>
              <a:rPr lang="ko-KR" altLang="en-US" sz="1600" b="1" dirty="0"/>
              <a:t>크기</a:t>
            </a:r>
            <a:r>
              <a:rPr lang="ko-KR" altLang="en-US" sz="1600" dirty="0"/>
              <a:t>만큼 읽어서 파일에 기록한다</a:t>
            </a:r>
            <a:r>
              <a:rPr lang="en-US" altLang="ko-KR" sz="1600" dirty="0"/>
              <a:t>. </a:t>
            </a:r>
            <a:r>
              <a:rPr lang="ko-KR" altLang="en-US" sz="1600" dirty="0"/>
              <a:t>그리고 메모리 주소로 찾아가 원하는 크기만큼 파일에 전송하므로 </a:t>
            </a:r>
            <a:endParaRPr lang="en-US" altLang="ko-KR" sz="1600" dirty="0"/>
          </a:p>
          <a:p>
            <a:pPr lvl="1">
              <a:buNone/>
            </a:pPr>
            <a:r>
              <a:rPr lang="en-US" altLang="ko-KR" sz="1600" dirty="0"/>
              <a:t>	</a:t>
            </a:r>
            <a:r>
              <a:rPr lang="ko-KR" altLang="en-US" sz="1600" b="1" dirty="0" err="1"/>
              <a:t>자료형에</a:t>
            </a:r>
            <a:r>
              <a:rPr lang="ko-KR" altLang="en-US" sz="1600" b="1" dirty="0"/>
              <a:t> 의존적이지 않고 기계적으로 입출력</a:t>
            </a:r>
            <a:r>
              <a:rPr lang="ko-KR" altLang="en-US" sz="1600" dirty="0"/>
              <a:t>이 일어난다</a:t>
            </a:r>
            <a:r>
              <a:rPr lang="en-US" altLang="ko-KR" sz="1600" dirty="0"/>
              <a:t>.</a:t>
            </a:r>
          </a:p>
          <a:p>
            <a:pPr lvl="2"/>
            <a:endParaRPr lang="en-US" altLang="ko-KR" sz="1100" dirty="0"/>
          </a:p>
          <a:p>
            <a:pPr lvl="2"/>
            <a:endParaRPr lang="en-US" altLang="ko-KR" sz="1100" dirty="0"/>
          </a:p>
          <a:p>
            <a:pPr lvl="2"/>
            <a:endParaRPr lang="en-US" altLang="ko-KR" sz="1100" dirty="0"/>
          </a:p>
          <a:p>
            <a:pPr lvl="2"/>
            <a:endParaRPr lang="en-US" altLang="ko-KR" sz="1100" dirty="0"/>
          </a:p>
          <a:p>
            <a:pPr lvl="2"/>
            <a:endParaRPr lang="en-US" altLang="ko-KR" sz="1100" dirty="0"/>
          </a:p>
          <a:p>
            <a:pPr lvl="1"/>
            <a:r>
              <a:rPr lang="ko-KR" altLang="en-US" sz="1600" dirty="0">
                <a:solidFill>
                  <a:schemeClr val="accent2">
                    <a:lumMod val="50000"/>
                  </a:schemeClr>
                </a:solidFill>
              </a:rPr>
              <a:t>구조체</a:t>
            </a:r>
            <a:r>
              <a:rPr lang="ko-KR" altLang="en-US" sz="1600" dirty="0"/>
              <a:t>에 저장된 데이터를 저장할 경우에는 텍스트 형식으로 출력하는 것보다 이진 파일로 저장하는 것이 </a:t>
            </a:r>
            <a:r>
              <a:rPr lang="ko-KR" altLang="en-US" sz="1600" dirty="0" err="1"/>
              <a:t>훨</a:t>
            </a:r>
            <a:r>
              <a:rPr lang="en-US" altLang="ko-KR" sz="1600" dirty="0"/>
              <a:t>	</a:t>
            </a:r>
            <a:r>
              <a:rPr lang="ko-KR" altLang="en-US" sz="1600" dirty="0"/>
              <a:t>씬 간단하다</a:t>
            </a:r>
            <a:r>
              <a:rPr lang="en-US" altLang="ko-KR" sz="1600" dirty="0"/>
              <a:t>. </a:t>
            </a:r>
            <a:endParaRPr lang="ko-KR" altLang="en-US" sz="1600" dirty="0"/>
          </a:p>
        </p:txBody>
      </p:sp>
      <p:sp>
        <p:nvSpPr>
          <p:cNvPr id="4" name="직사각형 3"/>
          <p:cNvSpPr/>
          <p:nvPr/>
        </p:nvSpPr>
        <p:spPr>
          <a:xfrm>
            <a:off x="1729883" y="2430800"/>
            <a:ext cx="277486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b="1" dirty="0"/>
              <a:t>write</a:t>
            </a:r>
            <a:r>
              <a:rPr lang="en-US" altLang="ko-KR" sz="2000" dirty="0"/>
              <a:t> </a:t>
            </a:r>
            <a:r>
              <a:rPr lang="en-US" altLang="ko-KR" sz="2000" b="1" dirty="0"/>
              <a:t>(</a:t>
            </a:r>
            <a:r>
              <a:rPr lang="en-US" altLang="ko-KR" sz="2000" dirty="0"/>
              <a:t> char *, </a:t>
            </a:r>
            <a:r>
              <a:rPr lang="en-US" altLang="ko-KR" sz="2000" dirty="0" err="1"/>
              <a:t>int</a:t>
            </a:r>
            <a:r>
              <a:rPr lang="en-US" altLang="ko-KR" sz="2000" dirty="0"/>
              <a:t> n </a:t>
            </a:r>
            <a:r>
              <a:rPr lang="en-US" altLang="ko-KR" sz="2000" b="1" dirty="0"/>
              <a:t>) </a:t>
            </a:r>
            <a:r>
              <a:rPr lang="en-US" altLang="ko-KR" sz="2000" dirty="0"/>
              <a:t>;</a:t>
            </a:r>
            <a:endParaRPr lang="ko-KR" altLang="en-US" sz="2000" dirty="0"/>
          </a:p>
        </p:txBody>
      </p:sp>
      <p:sp>
        <p:nvSpPr>
          <p:cNvPr id="5" name="직사각형 4"/>
          <p:cNvSpPr/>
          <p:nvPr/>
        </p:nvSpPr>
        <p:spPr>
          <a:xfrm>
            <a:off x="2907589" y="4427200"/>
            <a:ext cx="16994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err="1"/>
              <a:t>int</a:t>
            </a:r>
            <a:r>
              <a:rPr lang="en-US" altLang="ko-KR" sz="1600" dirty="0"/>
              <a:t> a=1004;</a:t>
            </a:r>
          </a:p>
          <a:p>
            <a:r>
              <a:rPr lang="en-US" altLang="ko-KR" sz="1600" dirty="0" err="1"/>
              <a:t>fin.write</a:t>
            </a:r>
            <a:r>
              <a:rPr lang="en-US" altLang="ko-KR" sz="1600" dirty="0"/>
              <a:t>(&amp;a, 2);</a:t>
            </a:r>
            <a:endParaRPr lang="ko-KR" altLang="en-US" sz="1600" dirty="0"/>
          </a:p>
        </p:txBody>
      </p:sp>
      <p:sp>
        <p:nvSpPr>
          <p:cNvPr id="6" name="직사각형 5"/>
          <p:cNvSpPr/>
          <p:nvPr/>
        </p:nvSpPr>
        <p:spPr>
          <a:xfrm>
            <a:off x="4937357" y="4229412"/>
            <a:ext cx="2304256" cy="461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50" dirty="0"/>
              <a:t>변수 </a:t>
            </a:r>
            <a:r>
              <a:rPr lang="en-US" altLang="ko-KR" sz="1050" dirty="0"/>
              <a:t>a</a:t>
            </a:r>
            <a:r>
              <a:rPr lang="ko-KR" altLang="en-US" sz="1050" dirty="0"/>
              <a:t>에 </a:t>
            </a:r>
            <a:r>
              <a:rPr lang="en-US" altLang="ko-KR" sz="1050" dirty="0"/>
              <a:t>1004</a:t>
            </a:r>
            <a:r>
              <a:rPr lang="ko-KR" altLang="en-US" sz="1050" dirty="0"/>
              <a:t>가 저장되어 있는 형태</a:t>
            </a:r>
          </a:p>
        </p:txBody>
      </p:sp>
      <p:cxnSp>
        <p:nvCxnSpPr>
          <p:cNvPr id="7" name="직선 연결선 6"/>
          <p:cNvCxnSpPr/>
          <p:nvPr/>
        </p:nvCxnSpPr>
        <p:spPr>
          <a:xfrm rot="5400000">
            <a:off x="5681820" y="4939967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5753828" y="5011975"/>
            <a:ext cx="6766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 rot="5400000">
            <a:off x="6358466" y="4939967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/>
          <p:nvPr/>
        </p:nvCxnSpPr>
        <p:spPr>
          <a:xfrm>
            <a:off x="6377517" y="4646602"/>
            <a:ext cx="2016224" cy="15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874043"/>
              </p:ext>
            </p:extLst>
          </p:nvPr>
        </p:nvGraphicFramePr>
        <p:xfrm>
          <a:off x="5765449" y="4525828"/>
          <a:ext cx="648072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37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1004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직사각형 11"/>
          <p:cNvSpPr/>
          <p:nvPr/>
        </p:nvSpPr>
        <p:spPr>
          <a:xfrm>
            <a:off x="5758019" y="5017308"/>
            <a:ext cx="672453" cy="286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50" dirty="0"/>
              <a:t>4</a:t>
            </a:r>
            <a:r>
              <a:rPr lang="ko-KR" altLang="en-US" sz="1050" dirty="0"/>
              <a:t>바이트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7611178" y="4229412"/>
            <a:ext cx="2304256" cy="286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50" dirty="0"/>
              <a:t>파일에 </a:t>
            </a:r>
            <a:r>
              <a:rPr lang="en-US" altLang="ko-KR" sz="1050" dirty="0"/>
              <a:t>1004</a:t>
            </a:r>
            <a:r>
              <a:rPr lang="ko-KR" altLang="en-US" sz="1050" dirty="0"/>
              <a:t>가 저장되어 있는 형태</a:t>
            </a:r>
          </a:p>
        </p:txBody>
      </p:sp>
      <p:cxnSp>
        <p:nvCxnSpPr>
          <p:cNvPr id="14" name="직선 연결선 13"/>
          <p:cNvCxnSpPr/>
          <p:nvPr/>
        </p:nvCxnSpPr>
        <p:spPr>
          <a:xfrm rot="5400000">
            <a:off x="8308016" y="4939967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8380024" y="5011975"/>
            <a:ext cx="6766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 rot="5400000">
            <a:off x="8984662" y="4939967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0680235"/>
              </p:ext>
            </p:extLst>
          </p:nvPr>
        </p:nvGraphicFramePr>
        <p:xfrm>
          <a:off x="8391645" y="4525828"/>
          <a:ext cx="648072" cy="25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37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1004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직사각형 17"/>
          <p:cNvSpPr/>
          <p:nvPr/>
        </p:nvSpPr>
        <p:spPr>
          <a:xfrm>
            <a:off x="8384215" y="5017308"/>
            <a:ext cx="672453" cy="286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50" dirty="0"/>
              <a:t>4</a:t>
            </a:r>
            <a:r>
              <a:rPr lang="ko-KR" altLang="en-US" sz="1050" dirty="0"/>
              <a:t>바이트</a:t>
            </a:r>
          </a:p>
        </p:txBody>
      </p:sp>
    </p:spTree>
    <p:extLst>
      <p:ext uri="{BB962C8B-B14F-4D97-AF65-F5344CB8AC3E}">
        <p14:creationId xmlns:p14="http://schemas.microsoft.com/office/powerpoint/2010/main" val="3835109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이진 파일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/>
              <a:t>이진 파일로 구조체를 출력한다면 훨씬 간단하게 처리할 수 있다</a:t>
            </a:r>
            <a:endParaRPr lang="en-US" altLang="ko-KR" sz="1600" dirty="0"/>
          </a:p>
          <a:p>
            <a:pPr marL="457200" lvl="1" indent="0">
              <a:buNone/>
            </a:pPr>
            <a:r>
              <a:rPr lang="en-US" altLang="ko-KR" sz="1400" dirty="0"/>
              <a:t> </a:t>
            </a:r>
          </a:p>
          <a:p>
            <a:pPr marL="457200" lvl="1" indent="0">
              <a:buNone/>
            </a:pPr>
            <a:endParaRPr lang="en-US" altLang="ko-KR" sz="1400" dirty="0"/>
          </a:p>
          <a:p>
            <a:r>
              <a:rPr lang="ko-KR" altLang="en-US" sz="1600" dirty="0"/>
              <a:t>이진</a:t>
            </a:r>
            <a:r>
              <a:rPr lang="en-US" altLang="ko-KR" sz="1600" dirty="0"/>
              <a:t> </a:t>
            </a:r>
            <a:r>
              <a:rPr lang="ko-KR" altLang="en-US" sz="1600" dirty="0"/>
              <a:t>파일의 장점</a:t>
            </a:r>
            <a:endParaRPr lang="en-US" altLang="ko-KR" sz="1600" dirty="0"/>
          </a:p>
          <a:p>
            <a:pPr lvl="1"/>
            <a:r>
              <a:rPr lang="ko-KR" altLang="en-US" sz="1600" dirty="0"/>
              <a:t>메모리에 저장되어 있는 데이터 전체를 하나의 단위로 출력한다</a:t>
            </a:r>
            <a:r>
              <a:rPr lang="en-US" altLang="ko-KR" sz="1600" dirty="0"/>
              <a:t>. </a:t>
            </a:r>
            <a:r>
              <a:rPr lang="ko-KR" altLang="en-US" sz="1600" dirty="0"/>
              <a:t>데이터가 텍스트로 변환되어 읽어오는 텍스트 모드보다 정확하고</a:t>
            </a:r>
            <a:r>
              <a:rPr lang="en-US" altLang="ko-KR" sz="1600" dirty="0"/>
              <a:t>, </a:t>
            </a:r>
            <a:r>
              <a:rPr lang="ko-KR" altLang="en-US" sz="1600" b="1" dirty="0"/>
              <a:t>처리 속도</a:t>
            </a:r>
            <a:r>
              <a:rPr lang="ko-KR" altLang="en-US" sz="1600" dirty="0"/>
              <a:t>도 이진 파일 형태가 훨씬 빠르다</a:t>
            </a:r>
            <a:r>
              <a:rPr lang="en-US" altLang="ko-KR" sz="1600" dirty="0"/>
              <a:t>.</a:t>
            </a:r>
          </a:p>
          <a:p>
            <a:pPr lvl="1"/>
            <a:endParaRPr lang="en-US" altLang="ko-KR" sz="1600" dirty="0"/>
          </a:p>
          <a:p>
            <a:r>
              <a:rPr lang="ko-KR" altLang="en-US" sz="1600" dirty="0"/>
              <a:t>이진 파일로 입력하기</a:t>
            </a:r>
            <a:endParaRPr lang="en-US" altLang="ko-KR" sz="1600" dirty="0"/>
          </a:p>
          <a:p>
            <a:pPr lvl="1"/>
            <a:r>
              <a:rPr lang="en-US" altLang="ko-KR" sz="1600" dirty="0"/>
              <a:t>read (char *, 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n);</a:t>
            </a:r>
          </a:p>
          <a:p>
            <a:pPr lvl="1"/>
            <a:r>
              <a:rPr lang="ko-KR" altLang="en-US" sz="1600" dirty="0"/>
              <a:t>함수 </a:t>
            </a:r>
            <a:r>
              <a:rPr lang="en-US" altLang="ko-KR" sz="1600" dirty="0"/>
              <a:t>read</a:t>
            </a:r>
            <a:r>
              <a:rPr lang="ko-KR" altLang="en-US" sz="1600" dirty="0"/>
              <a:t>는 함수 </a:t>
            </a:r>
            <a:r>
              <a:rPr lang="en-US" altLang="ko-KR" sz="1600" dirty="0"/>
              <a:t>write</a:t>
            </a:r>
            <a:r>
              <a:rPr lang="ko-KR" altLang="en-US" sz="1600" dirty="0"/>
              <a:t>와 서로 보완적인 관계에 있다</a:t>
            </a:r>
            <a:r>
              <a:rPr lang="en-US" altLang="ko-KR" sz="1600" dirty="0"/>
              <a:t>.</a:t>
            </a:r>
            <a:endParaRPr lang="ko-KR" altLang="en-US" sz="1600" dirty="0"/>
          </a:p>
          <a:p>
            <a:pPr lvl="1"/>
            <a:r>
              <a:rPr lang="en-US" altLang="ko-KR" sz="1600" dirty="0"/>
              <a:t>read </a:t>
            </a:r>
            <a:r>
              <a:rPr lang="ko-KR" altLang="en-US" sz="1600" dirty="0"/>
              <a:t>함수의 매개변수는 </a:t>
            </a:r>
            <a:r>
              <a:rPr lang="en-US" altLang="ko-KR" sz="1600" dirty="0"/>
              <a:t>write </a:t>
            </a:r>
            <a:r>
              <a:rPr lang="ko-KR" altLang="en-US" sz="1600" dirty="0"/>
              <a:t>함수와 동일하지만 방향이 반대다</a:t>
            </a:r>
            <a:endParaRPr lang="en-US" altLang="ko-KR" sz="1600" dirty="0"/>
          </a:p>
          <a:p>
            <a:pPr lvl="1"/>
            <a:endParaRPr lang="en-US" altLang="ko-KR" sz="1600" dirty="0"/>
          </a:p>
          <a:p>
            <a:pPr marL="457200" lvl="1" indent="0">
              <a:buNone/>
            </a:pPr>
            <a:r>
              <a:rPr lang="en-US" altLang="ko-KR" sz="1400" dirty="0"/>
              <a:t> </a:t>
            </a:r>
          </a:p>
          <a:p>
            <a:pPr marL="457200" lvl="1" indent="0">
              <a:buNone/>
            </a:pPr>
            <a:endParaRPr lang="ko-KR" altLang="en-US" sz="1400" dirty="0"/>
          </a:p>
          <a:p>
            <a:endParaRPr lang="ko-KR" altLang="en-US" sz="1600" dirty="0"/>
          </a:p>
        </p:txBody>
      </p:sp>
      <p:sp>
        <p:nvSpPr>
          <p:cNvPr id="4" name="직사각형 3"/>
          <p:cNvSpPr/>
          <p:nvPr/>
        </p:nvSpPr>
        <p:spPr>
          <a:xfrm>
            <a:off x="1318952" y="1774274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b="1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fout.write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((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*)&amp;man, 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sizeof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(man));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318952" y="553435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b="1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fin.read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((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*)&amp;man, </a:t>
            </a:r>
            <a:r>
              <a:rPr lang="en-US" altLang="ko-KR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sizeof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(man));</a:t>
            </a:r>
            <a:endParaRPr lang="ko-KR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459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연습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/>
              <a:t>출력</a:t>
            </a:r>
            <a:r>
              <a:rPr lang="en-US" altLang="ko-KR" sz="1600" dirty="0"/>
              <a:t> </a:t>
            </a:r>
            <a:r>
              <a:rPr lang="ko-KR" altLang="en-US" sz="1600" dirty="0"/>
              <a:t>예제와 입력 예제를 이진 파일 형태로 바꿔보자</a:t>
            </a:r>
            <a:endParaRPr lang="en-US" altLang="ko-KR" sz="1600" dirty="0"/>
          </a:p>
          <a:p>
            <a:endParaRPr lang="en-US" altLang="ko-KR" sz="1600" dirty="0"/>
          </a:p>
        </p:txBody>
      </p:sp>
      <p:sp>
        <p:nvSpPr>
          <p:cNvPr id="4" name="직사각형 3"/>
          <p:cNvSpPr/>
          <p:nvPr/>
        </p:nvSpPr>
        <p:spPr>
          <a:xfrm>
            <a:off x="1065610" y="2043945"/>
            <a:ext cx="6796345" cy="156966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fout.open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"myfile.dat"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man.name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 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man.age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en-US" altLang="ko-KR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fout.write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((char*)&amp;man, </a:t>
            </a:r>
            <a:r>
              <a:rPr lang="en-US" altLang="ko-KR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sizeof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(man));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fout.close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endParaRPr lang="ko-KR" altLang="en-US" sz="1600" dirty="0"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065610" y="3872478"/>
            <a:ext cx="6796345" cy="156966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fin.open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"myfile.dat"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fin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&gt;&gt;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man2.name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&gt;&gt;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man2.age;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en-US" altLang="ko-KR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fin.read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((char*)&amp;man2, </a:t>
            </a:r>
            <a:r>
              <a:rPr lang="en-US" altLang="ko-KR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sizeof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(man2));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fin.close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3676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600" dirty="0">
                <a:solidFill>
                  <a:srgbClr val="00A4E6"/>
                </a:solidFill>
                <a:latin typeface="+mj-ea"/>
              </a:rPr>
              <a:t>5</a:t>
            </a:r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명의 인사 정보를 이진 파일에 출력하기</a:t>
            </a:r>
            <a:endParaRPr lang="en-US" altLang="ko-KR" sz="1600" dirty="0">
              <a:solidFill>
                <a:srgbClr val="00A4E6"/>
              </a:solidFill>
              <a:latin typeface="+mj-ea"/>
            </a:endParaRPr>
          </a:p>
          <a:p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이진 파일에서 인사 정보를 </a:t>
            </a:r>
            <a:r>
              <a:rPr lang="ko-KR" altLang="en-US" sz="1600" dirty="0" err="1">
                <a:solidFill>
                  <a:srgbClr val="00A4E6"/>
                </a:solidFill>
                <a:latin typeface="+mj-ea"/>
              </a:rPr>
              <a:t>읽어오기</a:t>
            </a:r>
            <a:endParaRPr lang="ko-KR" alt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5EEE14-E24D-41DB-A85B-8EC182FCF9A3}"/>
              </a:ext>
            </a:extLst>
          </p:cNvPr>
          <p:cNvSpPr txBox="1"/>
          <p:nvPr/>
        </p:nvSpPr>
        <p:spPr>
          <a:xfrm>
            <a:off x="1928448" y="2202997"/>
            <a:ext cx="4167552" cy="413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&lt;iostream&gt;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          </a:t>
            </a:r>
          </a:p>
          <a:p>
            <a:r>
              <a:rPr lang="en-US" altLang="ko-KR" sz="105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</a:t>
            </a:r>
            <a:r>
              <a:rPr lang="en-US" altLang="ko-KR" sz="105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fstream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           </a:t>
            </a:r>
          </a:p>
          <a:p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using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std;                    </a:t>
            </a:r>
          </a:p>
          <a:p>
            <a:r>
              <a:rPr lang="ko-KR" altLang="en-US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                             </a:t>
            </a:r>
          </a:p>
          <a:p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struct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5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insa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                          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name[20];                         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age;                               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address[20];                      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                                      </a:t>
            </a:r>
          </a:p>
          <a:p>
            <a:r>
              <a:rPr lang="ko-KR" altLang="en-US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                             </a:t>
            </a:r>
          </a:p>
          <a:p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                            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                                     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insa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man[5]={ {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05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성윤정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20, 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서울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},   </a:t>
            </a:r>
          </a:p>
          <a:p>
            <a:r>
              <a:rPr lang="ko-KR" altLang="en-US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     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전혜영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30, 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부산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},                 </a:t>
            </a:r>
          </a:p>
          <a:p>
            <a:r>
              <a:rPr lang="ko-KR" altLang="en-US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     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이은정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24, 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대구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},                 </a:t>
            </a:r>
          </a:p>
          <a:p>
            <a:r>
              <a:rPr lang="ko-KR" altLang="en-US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     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오경주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34, 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서울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},                 </a:t>
            </a:r>
          </a:p>
          <a:p>
            <a:r>
              <a:rPr lang="ko-KR" altLang="en-US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     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05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채제원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25, 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마산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                 </a:t>
            </a:r>
          </a:p>
          <a:p>
            <a:r>
              <a:rPr lang="ko-KR" altLang="en-US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   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                                     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ofstream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5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fout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                       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fout.open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05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insa.bin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                  </a:t>
            </a:r>
          </a:p>
          <a:p>
            <a:r>
              <a:rPr lang="ko-KR" altLang="en-US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                            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fout.write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((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*)man, </a:t>
            </a:r>
            <a:r>
              <a:rPr lang="en-US" altLang="ko-KR" sz="105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sizeof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05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insa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)*5);</a:t>
            </a:r>
          </a:p>
          <a:p>
            <a:r>
              <a:rPr lang="ko-KR" altLang="en-US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                            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fout.close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                         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  <a:endParaRPr lang="ko-KR" altLang="en-US" sz="1050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2A6416-0CD2-4A9A-8B9D-D11BA5A209E4}"/>
              </a:ext>
            </a:extLst>
          </p:cNvPr>
          <p:cNvSpPr txBox="1"/>
          <p:nvPr/>
        </p:nvSpPr>
        <p:spPr>
          <a:xfrm>
            <a:off x="6726787" y="1315379"/>
            <a:ext cx="4405884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&lt;iostream&gt;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                       </a:t>
            </a:r>
          </a:p>
          <a:p>
            <a:r>
              <a:rPr lang="en-US" altLang="ko-KR" sz="105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</a:t>
            </a:r>
            <a:r>
              <a:rPr lang="en-US" altLang="ko-KR" sz="105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fstream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                        </a:t>
            </a:r>
          </a:p>
          <a:p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using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std;                                 </a:t>
            </a:r>
          </a:p>
          <a:p>
            <a:r>
              <a:rPr lang="ko-KR" altLang="en-US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                                          </a:t>
            </a:r>
          </a:p>
          <a:p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struct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5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insa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                                       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name[20];                                      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age;                                            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address[20];                                   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                                                   </a:t>
            </a:r>
          </a:p>
          <a:p>
            <a:r>
              <a:rPr lang="ko-KR" altLang="en-US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                                          </a:t>
            </a:r>
          </a:p>
          <a:p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                                         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                                                  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insa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man;                                           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ifstream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fin;                                        </a:t>
            </a:r>
          </a:p>
          <a:p>
            <a:r>
              <a:rPr lang="ko-KR" altLang="en-US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                                          </a:t>
            </a:r>
          </a:p>
          <a:p>
            <a:r>
              <a:rPr lang="de-DE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fin.open(</a:t>
            </a:r>
            <a:r>
              <a:rPr lang="de-DE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"..\\13_12\\insa.bin"</a:t>
            </a:r>
            <a:r>
              <a:rPr lang="de-DE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                 </a:t>
            </a:r>
            <a:r>
              <a:rPr lang="ko-KR" altLang="en-US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                                         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if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05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fin.fail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()){                                     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</a:t>
            </a:r>
            <a:r>
              <a:rPr lang="en-US" altLang="ko-KR" sz="105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printf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"Error: file open error\n"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                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                                            </a:t>
            </a:r>
          </a:p>
          <a:p>
            <a:r>
              <a:rPr lang="ko-KR" altLang="en-US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                                                   </a:t>
            </a:r>
          </a:p>
          <a:p>
            <a:r>
              <a:rPr lang="ko-KR" altLang="en-US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                                          </a:t>
            </a:r>
          </a:p>
          <a:p>
            <a:r>
              <a:rPr lang="ko-KR" altLang="en-US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05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 &gt;&gt; </a:t>
            </a:r>
            <a:r>
              <a:rPr lang="ko-KR" altLang="en-US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파일에서 읽어온 데이터 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 \n"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        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05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"-----------------------------------\n"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    </a:t>
            </a:r>
          </a:p>
          <a:p>
            <a:r>
              <a:rPr lang="ko-KR" altLang="en-US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05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 </a:t>
            </a:r>
            <a:r>
              <a:rPr lang="ko-KR" altLang="en-US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이름 나이 주소 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\n"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                      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05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"-----------------------------------\n"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   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while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 </a:t>
            </a:r>
            <a:r>
              <a:rPr lang="en-US" altLang="ko-KR" sz="105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fin.read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((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*) &amp;man, </a:t>
            </a:r>
            <a:r>
              <a:rPr lang="en-US" altLang="ko-KR" sz="105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sizeof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(man)) )       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05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05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man.name</a:t>
            </a:r>
            <a:r>
              <a:rPr lang="en-US" altLang="ko-KR" sz="105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 "</a:t>
            </a:r>
            <a:r>
              <a:rPr lang="en-US" altLang="ko-KR" sz="105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05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man.age</a:t>
            </a:r>
            <a:r>
              <a:rPr lang="en-US" altLang="ko-KR" sz="105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 "</a:t>
            </a:r>
            <a:r>
              <a:rPr lang="en-US" altLang="ko-KR" sz="105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05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man.address</a:t>
            </a:r>
            <a:r>
              <a:rPr lang="en-US" altLang="ko-KR" sz="105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05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ko-KR" altLang="en-US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                                         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fin.close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      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  <a:endParaRPr lang="ko-KR" altLang="en-US" sz="105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596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/>
              <a:t>순차 파일과 랜덤 파일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ko-KR" altLang="en-US" b="1" dirty="0"/>
              <a:t>순차</a:t>
            </a:r>
            <a:r>
              <a:rPr lang="ko-KR" altLang="en-US" dirty="0"/>
              <a:t> 파일로 </a:t>
            </a:r>
            <a:r>
              <a:rPr lang="ko-KR" altLang="en-US" dirty="0" err="1"/>
              <a:t>입출력하기</a:t>
            </a:r>
            <a:endParaRPr lang="en-US" altLang="ko-KR" dirty="0"/>
          </a:p>
          <a:p>
            <a:pPr lvl="1"/>
            <a:r>
              <a:rPr lang="ko-KR" altLang="en-US" dirty="0"/>
              <a:t>원하는 위치를 </a:t>
            </a:r>
            <a:r>
              <a:rPr lang="ko-KR" altLang="en-US" dirty="0" err="1"/>
              <a:t>입력받아</a:t>
            </a:r>
            <a:r>
              <a:rPr lang="ko-KR" altLang="en-US" dirty="0"/>
              <a:t> 그 위치의 데이터만 출력하는 프로그램을 작성해 보자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파일을 읽기 전용으로 열면 파일 포인터가 파일의 처음 위치에 놓인다</a:t>
            </a:r>
            <a:r>
              <a:rPr lang="en-US" altLang="ko-KR" dirty="0"/>
              <a:t>. </a:t>
            </a:r>
            <a:r>
              <a:rPr lang="ko-KR" altLang="en-US" dirty="0"/>
              <a:t>파일을 열자마자 데이터를 읽어오면 </a:t>
            </a:r>
            <a:endParaRPr lang="en-US" altLang="ko-KR" dirty="0"/>
          </a:p>
          <a:p>
            <a:pPr lvl="1">
              <a:buNone/>
            </a:pPr>
            <a:r>
              <a:rPr lang="en-US" altLang="ko-KR" dirty="0"/>
              <a:t>	</a:t>
            </a:r>
            <a:r>
              <a:rPr lang="ko-KR" altLang="en-US" dirty="0"/>
              <a:t>첫 번째 레코드가 변수에 저장된다</a:t>
            </a:r>
            <a:r>
              <a:rPr lang="en-US" altLang="ko-KR" dirty="0"/>
              <a:t>. </a:t>
            </a:r>
            <a:r>
              <a:rPr lang="ko-KR" altLang="en-US" dirty="0"/>
              <a:t>그리고 파일 포인터는 두 번째 레코드를 가리키게 된다</a:t>
            </a:r>
            <a:r>
              <a:rPr lang="en-US" altLang="ko-KR" dirty="0"/>
              <a:t>. </a:t>
            </a:r>
            <a:r>
              <a:rPr lang="ko-KR" altLang="en-US" dirty="0"/>
              <a:t>이런 식으로 데이</a:t>
            </a:r>
            <a:endParaRPr lang="en-US" altLang="ko-KR" dirty="0"/>
          </a:p>
          <a:p>
            <a:pPr lvl="1">
              <a:buNone/>
            </a:pPr>
            <a:r>
              <a:rPr lang="en-US" altLang="ko-KR" dirty="0"/>
              <a:t>	</a:t>
            </a:r>
            <a:r>
              <a:rPr lang="ko-KR" altLang="en-US" dirty="0"/>
              <a:t>터를 읽어 가기 때문에 만일 </a:t>
            </a:r>
            <a:r>
              <a:rPr lang="en-US" altLang="ko-KR" dirty="0"/>
              <a:t>1,000,000</a:t>
            </a:r>
            <a:r>
              <a:rPr lang="ko-KR" altLang="en-US" dirty="0"/>
              <a:t>번째 기록된 사람의 정보가 궁금할 때는 순차적으로 </a:t>
            </a:r>
            <a:r>
              <a:rPr lang="en-US" altLang="ko-KR" dirty="0"/>
              <a:t>1,000,000</a:t>
            </a:r>
            <a:r>
              <a:rPr lang="ko-KR" altLang="en-US" dirty="0"/>
              <a:t>번을 읽</a:t>
            </a:r>
            <a:endParaRPr lang="en-US" altLang="ko-KR" dirty="0"/>
          </a:p>
          <a:p>
            <a:pPr lvl="1">
              <a:buNone/>
            </a:pPr>
            <a:r>
              <a:rPr lang="en-US" altLang="ko-KR" dirty="0"/>
              <a:t>	</a:t>
            </a:r>
            <a:r>
              <a:rPr lang="ko-KR" altLang="en-US" dirty="0"/>
              <a:t>어 내려가야 원하는 위치의 레코드를 읽게 된다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418323"/>
              </p:ext>
            </p:extLst>
          </p:nvPr>
        </p:nvGraphicFramePr>
        <p:xfrm>
          <a:off x="3310741" y="2457434"/>
          <a:ext cx="309634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2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2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2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성윤정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서울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전혜영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부산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이은정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오경주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서울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채제원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마산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658750" y="2457434"/>
            <a:ext cx="100811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/>
              <a:t>파일 포인터</a:t>
            </a:r>
            <a:endParaRPr lang="ko-KR" altLang="en-US" sz="1200" dirty="0"/>
          </a:p>
        </p:txBody>
      </p:sp>
      <p:cxnSp>
        <p:nvCxnSpPr>
          <p:cNvPr id="6" name="직선 화살표 연결선 5"/>
          <p:cNvCxnSpPr>
            <a:stCxn id="5" idx="3"/>
          </p:cNvCxnSpPr>
          <p:nvPr/>
        </p:nvCxnSpPr>
        <p:spPr>
          <a:xfrm>
            <a:off x="2666862" y="2595934"/>
            <a:ext cx="648072" cy="55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42989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랜덤 </a:t>
            </a:r>
            <a:r>
              <a:rPr lang="ko-KR" altLang="en-US"/>
              <a:t>파일 입출력</a:t>
            </a:r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sz="1600" b="1" dirty="0"/>
              <a:t>랜덤</a:t>
            </a:r>
            <a:r>
              <a:rPr lang="ko-KR" altLang="en-US" sz="1600" dirty="0"/>
              <a:t> 파일로 </a:t>
            </a:r>
            <a:r>
              <a:rPr lang="ko-KR" altLang="en-US" sz="1600" dirty="0" err="1"/>
              <a:t>입출력하기</a:t>
            </a:r>
            <a:endParaRPr lang="en-US" altLang="ko-KR" sz="1600" dirty="0"/>
          </a:p>
          <a:p>
            <a:pPr lvl="1"/>
            <a:r>
              <a:rPr lang="ko-KR" altLang="en-US" sz="1600" dirty="0" err="1"/>
              <a:t>랜덤하게</a:t>
            </a:r>
            <a:r>
              <a:rPr lang="ko-KR" altLang="en-US" sz="1600" dirty="0"/>
              <a:t> 데이터를 읽어오는 방법은 </a:t>
            </a:r>
            <a:r>
              <a:rPr lang="ko-KR" altLang="en-US" sz="1600" b="1" dirty="0"/>
              <a:t>파일 포인터</a:t>
            </a:r>
            <a:r>
              <a:rPr lang="ko-KR" altLang="en-US" sz="1600" dirty="0"/>
              <a:t>를 원하는 레코드 </a:t>
            </a:r>
            <a:r>
              <a:rPr lang="ko-KR" altLang="en-US" sz="1600" b="1" dirty="0"/>
              <a:t>위치로</a:t>
            </a:r>
            <a:r>
              <a:rPr lang="ko-KR" altLang="en-US" sz="1600" dirty="0"/>
              <a:t> </a:t>
            </a:r>
            <a:r>
              <a:rPr lang="ko-KR" altLang="en-US" sz="1600" b="1" dirty="0"/>
              <a:t>옮겨주고</a:t>
            </a:r>
            <a:r>
              <a:rPr lang="ko-KR" altLang="en-US" sz="1600" dirty="0"/>
              <a:t> 나서 </a:t>
            </a:r>
            <a:r>
              <a:rPr lang="ko-KR" altLang="en-US" sz="1600" dirty="0" err="1"/>
              <a:t>한번만에</a:t>
            </a:r>
            <a:r>
              <a:rPr lang="ko-KR" altLang="en-US" sz="1600" dirty="0"/>
              <a:t> 데이터를 읽어오는 방식이다</a:t>
            </a:r>
            <a:r>
              <a:rPr lang="en-US" altLang="ko-KR" sz="1600" dirty="0"/>
              <a:t>. </a:t>
            </a:r>
            <a:r>
              <a:rPr lang="ko-KR" altLang="en-US" sz="1600" dirty="0"/>
              <a:t>기본적으로 데이터들이 </a:t>
            </a:r>
            <a:r>
              <a:rPr lang="ko-KR" altLang="en-US" sz="1600" dirty="0">
                <a:solidFill>
                  <a:schemeClr val="accent2">
                    <a:lumMod val="50000"/>
                  </a:schemeClr>
                </a:solidFill>
              </a:rPr>
              <a:t>일정한 크기</a:t>
            </a:r>
            <a:r>
              <a:rPr lang="ko-KR" altLang="en-US" sz="1600" dirty="0"/>
              <a:t>로 저장되어 있어야 한다</a:t>
            </a:r>
            <a:r>
              <a:rPr lang="en-US" altLang="ko-KR" sz="1600" dirty="0"/>
              <a:t>. </a:t>
            </a:r>
          </a:p>
          <a:p>
            <a:pPr lvl="1"/>
            <a:r>
              <a:rPr lang="ko-KR" altLang="en-US" sz="1600" dirty="0"/>
              <a:t>이진 파일은 </a:t>
            </a:r>
            <a:r>
              <a:rPr lang="en-US" altLang="ko-KR" sz="1600" dirty="0"/>
              <a:t>write </a:t>
            </a:r>
            <a:r>
              <a:rPr lang="ko-KR" altLang="en-US" sz="1600" dirty="0"/>
              <a:t>함수를 이용해 메모리에 저장되어 있는 구조체 그대로를 파일에 저장하므로 원하는 위치를 찾아가려면 파일 포인터를 </a:t>
            </a:r>
            <a:r>
              <a:rPr lang="ko-KR" altLang="en-US" sz="1600" b="1" dirty="0"/>
              <a:t>구조체의 크기 만큼씩 이동</a:t>
            </a:r>
            <a:r>
              <a:rPr lang="ko-KR" altLang="en-US" sz="1600" dirty="0"/>
              <a:t>시키면 된다</a:t>
            </a:r>
            <a:r>
              <a:rPr lang="en-US" altLang="ko-KR" sz="1600" dirty="0"/>
              <a:t>. </a:t>
            </a:r>
            <a:r>
              <a:rPr lang="ko-KR" altLang="en-US" sz="1600" dirty="0"/>
              <a:t>레코드 포인터를 원하는 위치로 이</a:t>
            </a:r>
            <a:r>
              <a:rPr lang="en-US" altLang="ko-KR" sz="1600" dirty="0"/>
              <a:t>	</a:t>
            </a:r>
            <a:r>
              <a:rPr lang="ko-KR" altLang="en-US" sz="1600" dirty="0"/>
              <a:t>동하려면 </a:t>
            </a:r>
            <a:r>
              <a:rPr lang="en-US" altLang="ko-KR" sz="1600" dirty="0" err="1">
                <a:solidFill>
                  <a:schemeClr val="accent2">
                    <a:lumMod val="75000"/>
                  </a:schemeClr>
                </a:solidFill>
              </a:rPr>
              <a:t>seekg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함수</a:t>
            </a:r>
            <a:r>
              <a:rPr lang="ko-KR" altLang="en-US" sz="1600" dirty="0"/>
              <a:t>를 사용해야 한다</a:t>
            </a:r>
            <a:r>
              <a:rPr lang="en-US" altLang="ko-KR" sz="1600" dirty="0"/>
              <a:t>.   </a:t>
            </a:r>
          </a:p>
          <a:p>
            <a:pPr lvl="1">
              <a:buNone/>
            </a:pPr>
            <a:endParaRPr lang="en-US" altLang="ko-KR" sz="400" dirty="0"/>
          </a:p>
          <a:p>
            <a:pPr lvl="1">
              <a:buNone/>
            </a:pPr>
            <a:r>
              <a:rPr lang="en-US" altLang="ko-KR" dirty="0"/>
              <a:t>  </a:t>
            </a:r>
            <a:r>
              <a:rPr lang="en-US" altLang="ko-KR" dirty="0" err="1"/>
              <a:t>istream</a:t>
            </a:r>
            <a:r>
              <a:rPr lang="en-US" altLang="ko-KR" dirty="0"/>
              <a:t>&amp; </a:t>
            </a:r>
            <a:r>
              <a:rPr lang="en-US" altLang="ko-KR" b="1" dirty="0" err="1"/>
              <a:t>seekg</a:t>
            </a:r>
            <a:r>
              <a:rPr lang="en-US" altLang="ko-KR" dirty="0"/>
              <a:t> ( long offset, </a:t>
            </a:r>
            <a:r>
              <a:rPr lang="en-US" altLang="ko-KR" dirty="0" err="1"/>
              <a:t>seek_dir</a:t>
            </a:r>
            <a:r>
              <a:rPr lang="en-US" altLang="ko-KR" dirty="0"/>
              <a:t> );</a:t>
            </a:r>
            <a:endParaRPr lang="en-US" altLang="ko-KR" sz="100" dirty="0"/>
          </a:p>
          <a:p>
            <a:pPr lvl="1">
              <a:buNone/>
            </a:pPr>
            <a:endParaRPr lang="en-US" altLang="ko-KR" sz="400" dirty="0"/>
          </a:p>
          <a:p>
            <a:pPr lvl="1"/>
            <a:r>
              <a:rPr lang="ko-KR" altLang="en-US" sz="1600" dirty="0"/>
              <a:t>첫 번째 매개변수인 </a:t>
            </a:r>
            <a:r>
              <a:rPr lang="en-US" altLang="ko-KR" sz="1600" dirty="0" err="1">
                <a:solidFill>
                  <a:schemeClr val="accent2">
                    <a:lumMod val="50000"/>
                  </a:schemeClr>
                </a:solidFill>
              </a:rPr>
              <a:t>offfset</a:t>
            </a:r>
            <a:r>
              <a:rPr lang="ko-KR" altLang="en-US" sz="1600" dirty="0"/>
              <a:t>은 </a:t>
            </a:r>
            <a:r>
              <a:rPr lang="en-US" altLang="ko-KR" sz="1600" dirty="0" err="1"/>
              <a:t>seek_dir</a:t>
            </a:r>
            <a:r>
              <a:rPr lang="ko-KR" altLang="en-US" sz="1600" dirty="0"/>
              <a:t>로부터 접근하고자 하는 바이트가 얼마나 되는지를 알려준다</a:t>
            </a:r>
            <a:r>
              <a:rPr lang="en-US" altLang="ko-KR" sz="1600" dirty="0"/>
              <a:t>. </a:t>
            </a:r>
          </a:p>
          <a:p>
            <a:pPr lvl="1"/>
            <a:r>
              <a:rPr lang="ko-KR" altLang="en-US" sz="1600" dirty="0"/>
              <a:t>두 번째 매개변수인 </a:t>
            </a:r>
            <a:r>
              <a:rPr lang="en-US" altLang="ko-KR" sz="1600" dirty="0" err="1">
                <a:solidFill>
                  <a:schemeClr val="accent2">
                    <a:lumMod val="50000"/>
                  </a:schemeClr>
                </a:solidFill>
              </a:rPr>
              <a:t>seek_dir</a:t>
            </a:r>
            <a:r>
              <a:rPr lang="ko-KR" altLang="en-US" sz="1600" dirty="0"/>
              <a:t>은 </a:t>
            </a:r>
            <a:r>
              <a:rPr lang="en-US" altLang="ko-KR" sz="1600" dirty="0" err="1"/>
              <a:t>ios</a:t>
            </a:r>
            <a:r>
              <a:rPr lang="en-US" altLang="ko-KR" sz="1600" dirty="0"/>
              <a:t>::beg, </a:t>
            </a:r>
            <a:r>
              <a:rPr lang="en-US" altLang="ko-KR" sz="1600" dirty="0" err="1"/>
              <a:t>ios</a:t>
            </a:r>
            <a:r>
              <a:rPr lang="en-US" altLang="ko-KR" sz="1600" dirty="0"/>
              <a:t>::cur, </a:t>
            </a:r>
            <a:r>
              <a:rPr lang="en-US" altLang="ko-KR" sz="1600" dirty="0" err="1"/>
              <a:t>ios</a:t>
            </a:r>
            <a:r>
              <a:rPr lang="en-US" altLang="ko-KR" sz="1600" dirty="0"/>
              <a:t>::end </a:t>
            </a:r>
            <a:r>
              <a:rPr lang="ko-KR" altLang="en-US" sz="1600" dirty="0"/>
              <a:t>중의 하나를 사용한다</a:t>
            </a:r>
            <a:r>
              <a:rPr lang="en-US" altLang="ko-KR" sz="1600" dirty="0"/>
              <a:t>.</a:t>
            </a:r>
          </a:p>
          <a:p>
            <a:endParaRPr lang="ko-KR" altLang="en-US" sz="1600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097383"/>
              </p:ext>
            </p:extLst>
          </p:nvPr>
        </p:nvGraphicFramePr>
        <p:xfrm>
          <a:off x="1550004" y="4840608"/>
          <a:ext cx="5256451" cy="1238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7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9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61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seek_dir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ios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::beg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파일의 시작 바이트를 참조한다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6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ios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::cur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파일 포인터의 현재 위치를 참조한다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6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ios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::end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파일의 마지막 바이트를 참조한다</a:t>
                      </a:r>
                      <a:r>
                        <a:rPr lang="en-US" altLang="ko-KR" sz="12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4089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순차 파일과 랜덤 파일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sz="1600" dirty="0"/>
              <a:t>파일 입력을 담당하는 클래스인 </a:t>
            </a:r>
            <a:r>
              <a:rPr lang="en-US" altLang="ko-KR" sz="1600" dirty="0" err="1"/>
              <a:t>ifstream</a:t>
            </a:r>
            <a:r>
              <a:rPr lang="ko-KR" altLang="en-US" sz="1600" dirty="0"/>
              <a:t>으로 객체 </a:t>
            </a:r>
            <a:r>
              <a:rPr lang="en-US" altLang="ko-KR" sz="1600" dirty="0"/>
              <a:t>fin</a:t>
            </a:r>
            <a:r>
              <a:rPr lang="ko-KR" altLang="en-US" sz="1600" dirty="0"/>
              <a:t>을 선언한 후</a:t>
            </a:r>
            <a:r>
              <a:rPr lang="en-US" altLang="ko-KR" sz="1600" dirty="0"/>
              <a:t>, open </a:t>
            </a:r>
            <a:r>
              <a:rPr lang="ko-KR" altLang="en-US" sz="1600" dirty="0"/>
              <a:t>함수로 파일을 열었다는 전제에서 몇 가지 예를 살펴보자</a:t>
            </a:r>
            <a:r>
              <a:rPr lang="en-US" altLang="ko-KR" sz="1600" dirty="0"/>
              <a:t>.</a:t>
            </a:r>
          </a:p>
          <a:p>
            <a:pPr lvl="1">
              <a:buFont typeface="Wingdings" pitchFamily="2" charset="2"/>
              <a:buChar char=""/>
            </a:pPr>
            <a:r>
              <a:rPr lang="ko-KR" altLang="en-US" sz="1600" dirty="0"/>
              <a:t>파일 포인터를 파일의 처음으로 이동하는 예</a:t>
            </a:r>
            <a:endParaRPr lang="en-US" altLang="ko-KR" sz="1600" dirty="0"/>
          </a:p>
          <a:p>
            <a:pPr lvl="1">
              <a:buNone/>
            </a:pPr>
            <a:r>
              <a:rPr lang="en-US" altLang="ko-KR" sz="1600" dirty="0"/>
              <a:t>	</a:t>
            </a:r>
            <a:r>
              <a:rPr lang="en-US" altLang="ko-KR" sz="1600" b="1" dirty="0" err="1"/>
              <a:t>fin.seekg</a:t>
            </a:r>
            <a:r>
              <a:rPr lang="en-US" altLang="ko-KR" sz="1600" dirty="0"/>
              <a:t> (0, </a:t>
            </a:r>
            <a:r>
              <a:rPr lang="en-US" altLang="ko-KR" sz="1600" dirty="0" err="1"/>
              <a:t>ios</a:t>
            </a:r>
            <a:r>
              <a:rPr lang="en-US" altLang="ko-KR" sz="1600" dirty="0"/>
              <a:t>::</a:t>
            </a:r>
            <a:r>
              <a:rPr lang="en-US" altLang="ko-KR" sz="1600" b="1" dirty="0"/>
              <a:t>beg</a:t>
            </a:r>
            <a:r>
              <a:rPr lang="en-US" altLang="ko-KR" sz="1600" dirty="0"/>
              <a:t>);</a:t>
            </a:r>
          </a:p>
          <a:p>
            <a:pPr lvl="1">
              <a:buNone/>
            </a:pPr>
            <a:endParaRPr lang="en-US" altLang="ko-KR" sz="1600" dirty="0"/>
          </a:p>
          <a:p>
            <a:pPr lvl="1">
              <a:buFont typeface="Wingdings" pitchFamily="2" charset="2"/>
              <a:buChar char=""/>
            </a:pPr>
            <a:r>
              <a:rPr lang="ko-KR" altLang="en-US" sz="1600" dirty="0"/>
              <a:t>파일 포인터를 파일의 마지막으로 이동하는 예</a:t>
            </a:r>
          </a:p>
          <a:p>
            <a:pPr lvl="1">
              <a:buNone/>
            </a:pPr>
            <a:r>
              <a:rPr lang="en-US" altLang="ko-KR" sz="1600" dirty="0"/>
              <a:t>	</a:t>
            </a:r>
            <a:r>
              <a:rPr lang="en-US" altLang="ko-KR" sz="1600" b="1" dirty="0" err="1"/>
              <a:t>file.seekg</a:t>
            </a:r>
            <a:r>
              <a:rPr lang="en-US" altLang="ko-KR" sz="1600" dirty="0"/>
              <a:t> (0, </a:t>
            </a:r>
            <a:r>
              <a:rPr lang="en-US" altLang="ko-KR" sz="1600" dirty="0" err="1"/>
              <a:t>ios</a:t>
            </a:r>
            <a:r>
              <a:rPr lang="en-US" altLang="ko-KR" sz="1600" dirty="0"/>
              <a:t>::</a:t>
            </a:r>
            <a:r>
              <a:rPr lang="en-US" altLang="ko-KR" sz="1600" b="1" dirty="0"/>
              <a:t>end</a:t>
            </a:r>
            <a:r>
              <a:rPr lang="en-US" altLang="ko-KR" sz="1600" dirty="0"/>
              <a:t>);</a:t>
            </a:r>
          </a:p>
          <a:p>
            <a:pPr lvl="1">
              <a:buNone/>
            </a:pPr>
            <a:endParaRPr lang="en-US" altLang="ko-KR" sz="1600" dirty="0"/>
          </a:p>
          <a:p>
            <a:pPr lvl="1">
              <a:buFont typeface="Wingdings" pitchFamily="2" charset="2"/>
              <a:buChar char=""/>
            </a:pPr>
            <a:r>
              <a:rPr lang="ko-KR" altLang="en-US" sz="1600" dirty="0"/>
              <a:t>파일 포인터를 파일의 처음을 </a:t>
            </a:r>
            <a:r>
              <a:rPr lang="en-US" altLang="ko-KR" sz="1600" dirty="0"/>
              <a:t>10</a:t>
            </a:r>
            <a:r>
              <a:rPr lang="ko-KR" altLang="en-US" sz="1600" dirty="0"/>
              <a:t>바이트 지난 위치로 이동하는 예</a:t>
            </a:r>
          </a:p>
          <a:p>
            <a:pPr lvl="1">
              <a:buNone/>
            </a:pPr>
            <a:r>
              <a:rPr lang="en-US" altLang="ko-KR" sz="1600" dirty="0"/>
              <a:t>	</a:t>
            </a:r>
            <a:r>
              <a:rPr lang="en-US" altLang="ko-KR" sz="1600" b="1" dirty="0" err="1"/>
              <a:t>file.seekg</a:t>
            </a:r>
            <a:r>
              <a:rPr lang="en-US" altLang="ko-KR" sz="1600" dirty="0"/>
              <a:t> (10, </a:t>
            </a:r>
            <a:r>
              <a:rPr lang="en-US" altLang="ko-KR" sz="1600" dirty="0" err="1"/>
              <a:t>ios</a:t>
            </a:r>
            <a:r>
              <a:rPr lang="en-US" altLang="ko-KR" sz="1600" dirty="0"/>
              <a:t>::</a:t>
            </a:r>
            <a:r>
              <a:rPr lang="en-US" altLang="ko-KR" sz="1600" b="1" dirty="0"/>
              <a:t>beg</a:t>
            </a:r>
            <a:r>
              <a:rPr lang="en-US" altLang="ko-KR" sz="1600" dirty="0"/>
              <a:t>);</a:t>
            </a:r>
          </a:p>
          <a:p>
            <a:pPr lvl="1">
              <a:buNone/>
            </a:pPr>
            <a:endParaRPr lang="en-US" altLang="ko-KR" sz="1600" dirty="0"/>
          </a:p>
          <a:p>
            <a:pPr lvl="1">
              <a:buFont typeface="Wingdings" pitchFamily="2" charset="2"/>
              <a:buChar char=""/>
            </a:pPr>
            <a:r>
              <a:rPr lang="ko-KR" altLang="en-US" sz="1600" dirty="0"/>
              <a:t>파일 포인터를 파일의 끝으로부터 </a:t>
            </a:r>
            <a:r>
              <a:rPr lang="en-US" altLang="ko-KR" sz="1600" dirty="0"/>
              <a:t>10</a:t>
            </a:r>
            <a:r>
              <a:rPr lang="ko-KR" altLang="en-US" sz="1600" dirty="0"/>
              <a:t>바이트 앞으로 이동하는 예</a:t>
            </a:r>
          </a:p>
          <a:p>
            <a:pPr lvl="1">
              <a:buNone/>
            </a:pPr>
            <a:r>
              <a:rPr lang="en-US" altLang="ko-KR" sz="1600" dirty="0"/>
              <a:t>	</a:t>
            </a:r>
            <a:r>
              <a:rPr lang="en-US" altLang="ko-KR" sz="1600" b="1" dirty="0" err="1"/>
              <a:t>file.seekg</a:t>
            </a:r>
            <a:r>
              <a:rPr lang="en-US" altLang="ko-KR" sz="1600" dirty="0"/>
              <a:t> (-10, </a:t>
            </a:r>
            <a:r>
              <a:rPr lang="en-US" altLang="ko-KR" sz="1600" dirty="0" err="1"/>
              <a:t>ios</a:t>
            </a:r>
            <a:r>
              <a:rPr lang="en-US" altLang="ko-KR" sz="1600" dirty="0"/>
              <a:t>::</a:t>
            </a:r>
            <a:r>
              <a:rPr lang="en-US" altLang="ko-KR" sz="1600" b="1" dirty="0"/>
              <a:t>end</a:t>
            </a:r>
            <a:r>
              <a:rPr lang="en-US" altLang="ko-KR" sz="1600" dirty="0"/>
              <a:t>);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6083445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838200" y="1311283"/>
            <a:ext cx="915865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info[10] =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"ABCDEFGHI"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ofstream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fout.open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6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info.bin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fout.write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*)info,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sizeof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(info));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fout.close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pos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3;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ifstream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fin;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fin.open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6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info.bin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if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(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fin.fail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()) {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printf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"file open error\n"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}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fin.</a:t>
            </a:r>
            <a:r>
              <a:rPr lang="en-US" altLang="ko-KR" sz="1600" b="1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seekg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pos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ios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::beg ); 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en-US" altLang="ko-KR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seekg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위치 이동                              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fin.read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*)&amp;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sizeof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fin.close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871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순차 파일로 원하는 위치의 레코드 </a:t>
            </a:r>
            <a:r>
              <a:rPr lang="ko-KR" altLang="en-US" sz="1600" dirty="0" err="1">
                <a:solidFill>
                  <a:srgbClr val="00A4E6"/>
                </a:solidFill>
                <a:latin typeface="+mj-ea"/>
              </a:rPr>
              <a:t>읽어오기</a:t>
            </a:r>
            <a:r>
              <a:rPr lang="en-US" altLang="ko-KR" sz="1600" dirty="0">
                <a:solidFill>
                  <a:srgbClr val="00A4E6"/>
                </a:solidFill>
                <a:latin typeface="+mj-ea"/>
              </a:rPr>
              <a:t>(13_14.cpp)</a:t>
            </a:r>
          </a:p>
          <a:p>
            <a:r>
              <a:rPr lang="ko-KR" altLang="en-US" sz="1600" dirty="0">
                <a:solidFill>
                  <a:srgbClr val="00A4E6"/>
                </a:solidFill>
                <a:latin typeface="+mj-ea"/>
              </a:rPr>
              <a:t>랜덤 파일로 원하는 위치의 레코드 </a:t>
            </a:r>
            <a:r>
              <a:rPr lang="ko-KR" altLang="en-US" sz="1600" dirty="0" err="1">
                <a:solidFill>
                  <a:srgbClr val="00A4E6"/>
                </a:solidFill>
                <a:latin typeface="+mj-ea"/>
              </a:rPr>
              <a:t>읽어오기</a:t>
            </a:r>
            <a:r>
              <a:rPr lang="en-US" altLang="ko-KR" sz="1600" dirty="0">
                <a:solidFill>
                  <a:srgbClr val="00A4E6"/>
                </a:solidFill>
                <a:latin typeface="+mj-ea"/>
              </a:rPr>
              <a:t>(13_15.cpp)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933049763"/>
      </p:ext>
    </p:extLst>
  </p:cSld>
  <p:clrMapOvr>
    <a:masterClrMapping/>
  </p:clrMapOvr>
</p:sld>
</file>

<file path=ppt/theme/theme1.xml><?xml version="1.0" encoding="utf-8"?>
<a:theme xmlns:a="http://schemas.openxmlformats.org/drawingml/2006/main" name="kdw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dw" id="{F28DBF1B-01D0-4FBC-BB1B-5659CB34DC19}" vid="{4A242179-4008-4EAD-92AB-026544F4F03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kdw</Template>
  <TotalTime>2410</TotalTime>
  <Words>2468</Words>
  <Application>Microsoft Office PowerPoint</Application>
  <PresentationFormat>와이드스크린</PresentationFormat>
  <Paragraphs>431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0" baseType="lpstr">
      <vt:lpstr>HY헤드라인M</vt:lpstr>
      <vt:lpstr>맑은 고딕</vt:lpstr>
      <vt:lpstr>Arial</vt:lpstr>
      <vt:lpstr>Consolas</vt:lpstr>
      <vt:lpstr>Wingdings</vt:lpstr>
      <vt:lpstr>kdw</vt:lpstr>
      <vt:lpstr>C++ 파일 다루기</vt:lpstr>
      <vt:lpstr>학습목표</vt:lpstr>
      <vt:lpstr>모니터 출력</vt:lpstr>
      <vt:lpstr>파일 입출력</vt:lpstr>
      <vt:lpstr>출력 예제</vt:lpstr>
      <vt:lpstr>파일 출력</vt:lpstr>
      <vt:lpstr>파일 입력</vt:lpstr>
      <vt:lpstr>파일 입출력 상태</vt:lpstr>
      <vt:lpstr>파일 오픈 모드</vt:lpstr>
      <vt:lpstr>입력 예제</vt:lpstr>
      <vt:lpstr>파일 입출력</vt:lpstr>
      <vt:lpstr>예제</vt:lpstr>
      <vt:lpstr>도스의 type 명령어 만들기</vt:lpstr>
      <vt:lpstr>도스의 copy 명령 만들기</vt:lpstr>
      <vt:lpstr>텍스트 파일과 이진 파일</vt:lpstr>
      <vt:lpstr>텍스트 파일과 이진 파일</vt:lpstr>
      <vt:lpstr>이진 파일</vt:lpstr>
      <vt:lpstr>연습 문제</vt:lpstr>
      <vt:lpstr>예제</vt:lpstr>
      <vt:lpstr>순차 파일과 랜덤 파일</vt:lpstr>
      <vt:lpstr>랜덤 파일 입출력 </vt:lpstr>
      <vt:lpstr>순차 파일과 랜덤 파일</vt:lpstr>
      <vt:lpstr>예제</vt:lpstr>
      <vt:lpstr>예제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C언어와 프로그래밍</dc:title>
  <dc:creator>kdw</dc:creator>
  <cp:lastModifiedBy>kdw</cp:lastModifiedBy>
  <cp:revision>489</cp:revision>
  <dcterms:created xsi:type="dcterms:W3CDTF">2020-02-16T05:20:05Z</dcterms:created>
  <dcterms:modified xsi:type="dcterms:W3CDTF">2022-06-08T07:11:28Z</dcterms:modified>
</cp:coreProperties>
</file>