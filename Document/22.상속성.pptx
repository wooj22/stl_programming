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1"/>
  </p:notesMasterIdLst>
  <p:sldIdLst>
    <p:sldId id="256" r:id="rId2"/>
    <p:sldId id="261" r:id="rId3"/>
    <p:sldId id="268" r:id="rId4"/>
    <p:sldId id="269" r:id="rId5"/>
    <p:sldId id="304" r:id="rId6"/>
    <p:sldId id="270" r:id="rId7"/>
    <p:sldId id="301" r:id="rId8"/>
    <p:sldId id="271" r:id="rId9"/>
    <p:sldId id="272" r:id="rId10"/>
    <p:sldId id="297" r:id="rId11"/>
    <p:sldId id="274" r:id="rId12"/>
    <p:sldId id="276" r:id="rId13"/>
    <p:sldId id="275" r:id="rId14"/>
    <p:sldId id="278" r:id="rId15"/>
    <p:sldId id="305" r:id="rId16"/>
    <p:sldId id="277" r:id="rId17"/>
    <p:sldId id="279" r:id="rId18"/>
    <p:sldId id="281" r:id="rId19"/>
    <p:sldId id="282" r:id="rId20"/>
    <p:sldId id="283" r:id="rId21"/>
    <p:sldId id="284" r:id="rId22"/>
    <p:sldId id="285" r:id="rId23"/>
    <p:sldId id="280" r:id="rId24"/>
    <p:sldId id="286" r:id="rId25"/>
    <p:sldId id="300" r:id="rId26"/>
    <p:sldId id="287" r:id="rId27"/>
    <p:sldId id="288" r:id="rId28"/>
    <p:sldId id="289" r:id="rId29"/>
    <p:sldId id="290" r:id="rId30"/>
    <p:sldId id="299" r:id="rId31"/>
    <p:sldId id="294" r:id="rId32"/>
    <p:sldId id="291" r:id="rId33"/>
    <p:sldId id="293" r:id="rId34"/>
    <p:sldId id="292" r:id="rId35"/>
    <p:sldId id="298" r:id="rId36"/>
    <p:sldId id="302" r:id="rId37"/>
    <p:sldId id="295" r:id="rId38"/>
    <p:sldId id="296" r:id="rId39"/>
    <p:sldId id="303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IM혜민 Bold" panose="02020803000000000000" pitchFamily="18" charset="-127"/>
                <a:ea typeface="IM혜민 Bold" panose="02020803000000000000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11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714085"/>
          </a:xfr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ABCD </a:t>
            </a:r>
            <a:r>
              <a:rPr lang="en-US" altLang="ko-KR" dirty="0" err="1"/>
              <a:t>abcd</a:t>
            </a:r>
            <a:r>
              <a:rPr lang="en-US" altLang="ko-KR" dirty="0"/>
              <a:t> 1234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05344"/>
            <a:ext cx="10515600" cy="5129553"/>
          </a:xfrm>
        </p:spPr>
        <p:txBody>
          <a:bodyPr/>
          <a:lstStyle>
            <a:lvl1pPr>
              <a:lnSpc>
                <a:spcPct val="120000"/>
              </a:lnSpc>
              <a:defRPr sz="2000" b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  <a:lvl2pPr>
              <a:lnSpc>
                <a:spcPct val="120000"/>
              </a:lnSpc>
              <a:defRPr sz="18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2pPr>
            <a:lvl3pPr>
              <a:lnSpc>
                <a:spcPct val="120000"/>
              </a:lnSpc>
              <a:defRPr sz="16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3pPr>
            <a:lvl4pPr>
              <a:lnSpc>
                <a:spcPct val="120000"/>
              </a:lnSpc>
              <a:defRPr sz="14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4pPr>
            <a:lvl5pPr>
              <a:lnSpc>
                <a:spcPct val="120000"/>
              </a:lnSpc>
              <a:defRPr sz="14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8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3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28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80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8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27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75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32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98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84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</a:t>
            </a:r>
            <a:r>
              <a:rPr lang="ko-KR" altLang="en-US" dirty="0" err="1"/>
              <a:t>상속성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클래스간의 상속 관계 </a:t>
            </a:r>
            <a:r>
              <a:rPr lang="en-US" altLang="ko-KR" sz="1800" dirty="0"/>
              <a:t>– </a:t>
            </a:r>
            <a:r>
              <a:rPr lang="ko-KR" altLang="en-US" sz="1800" dirty="0"/>
              <a:t>상속의 대상</a:t>
            </a:r>
          </a:p>
          <a:p>
            <a:r>
              <a:rPr lang="ko-KR" altLang="en-US" sz="1800" dirty="0"/>
              <a:t>상속 관계에서의 </a:t>
            </a:r>
            <a:r>
              <a:rPr lang="ko-KR" altLang="en-US" sz="1800" dirty="0" err="1"/>
              <a:t>생성자</a:t>
            </a:r>
            <a:endParaRPr lang="en-US" altLang="ko-KR" sz="1800" dirty="0"/>
          </a:p>
          <a:p>
            <a:r>
              <a:rPr lang="ko-KR" altLang="en-US" sz="1800" dirty="0"/>
              <a:t>업 캐스팅과 다운 캐스팅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동적 바인딩과 가상함수</a:t>
            </a:r>
            <a:r>
              <a:rPr lang="en-US" altLang="ko-KR" sz="1800" dirty="0"/>
              <a:t>  ( virtual )</a:t>
            </a:r>
          </a:p>
          <a:p>
            <a:r>
              <a:rPr lang="ko-KR" altLang="en-US" sz="1800" dirty="0" err="1"/>
              <a:t>오버라이드</a:t>
            </a:r>
            <a:r>
              <a:rPr lang="ko-KR" altLang="en-US" sz="1800" dirty="0"/>
              <a:t> </a:t>
            </a:r>
            <a:r>
              <a:rPr lang="en-US" altLang="ko-KR" sz="1800" dirty="0"/>
              <a:t>( override )</a:t>
            </a:r>
          </a:p>
          <a:p>
            <a:r>
              <a:rPr lang="ko-KR" altLang="en-US" sz="1800" dirty="0" err="1"/>
              <a:t>다형성</a:t>
            </a:r>
            <a:r>
              <a:rPr lang="ko-KR" altLang="en-US" sz="1800" dirty="0"/>
              <a:t> </a:t>
            </a:r>
            <a:r>
              <a:rPr lang="en-US" altLang="ko-KR" sz="1800" dirty="0"/>
              <a:t>( polymorphism )</a:t>
            </a:r>
          </a:p>
          <a:p>
            <a:endParaRPr lang="en-US" altLang="ko-KR" sz="1800" dirty="0"/>
          </a:p>
          <a:p>
            <a:r>
              <a:rPr lang="ko-KR" altLang="en-US" sz="1800" dirty="0"/>
              <a:t>완전 가상함수와 추상 클래스 </a:t>
            </a:r>
            <a:r>
              <a:rPr lang="en-US" altLang="ko-KR" sz="1800" dirty="0"/>
              <a:t>( abstract</a:t>
            </a:r>
            <a:r>
              <a:rPr lang="ko-KR" altLang="en-US" sz="1800" dirty="0"/>
              <a:t> </a:t>
            </a:r>
            <a:r>
              <a:rPr lang="en-US" altLang="ko-KR" sz="1800" dirty="0"/>
              <a:t>) – </a:t>
            </a:r>
            <a:r>
              <a:rPr lang="ko-KR" altLang="en-US" sz="1800" dirty="0"/>
              <a:t>인터페이스</a:t>
            </a:r>
            <a:endParaRPr lang="en-US" altLang="ko-KR" sz="1800" dirty="0"/>
          </a:p>
          <a:p>
            <a:r>
              <a:rPr lang="ko-KR" altLang="en-US" sz="1800" dirty="0"/>
              <a:t>다중상속</a:t>
            </a:r>
            <a:endParaRPr lang="en-US" altLang="ko-KR" sz="1800" dirty="0"/>
          </a:p>
          <a:p>
            <a:r>
              <a:rPr lang="ko-KR" altLang="en-US" sz="1800" dirty="0"/>
              <a:t>상속 제한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상속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상속의 의미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프로그램을 개발하다 보면 중복되는 내용이 많아서 이 </a:t>
            </a:r>
            <a:r>
              <a:rPr lang="ko-KR" altLang="en-US" sz="1600" b="1" dirty="0">
                <a:solidFill>
                  <a:srgbClr val="FF0000"/>
                </a:solidFill>
              </a:rPr>
              <a:t>코드</a:t>
            </a:r>
            <a:r>
              <a:rPr lang="ko-KR" altLang="en-US" sz="1600" dirty="0">
                <a:solidFill>
                  <a:srgbClr val="FF0000"/>
                </a:solidFill>
              </a:rPr>
              <a:t>를 </a:t>
            </a:r>
            <a:r>
              <a:rPr lang="ko-KR" altLang="en-US" sz="1600" b="1" dirty="0">
                <a:solidFill>
                  <a:srgbClr val="FF0000"/>
                </a:solidFill>
              </a:rPr>
              <a:t>재활용</a:t>
            </a:r>
            <a:r>
              <a:rPr lang="ko-KR" altLang="en-US" sz="1600" dirty="0"/>
              <a:t>하려고 나온 개념이 상속이다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상속은 부모에게 무엇인가를 물려받는 것을 의미한다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새로 만드는 클래스를 이미 정의된 훌륭한 클래스에서 상속받는다면 많은 기능을 모두 물려받아 사용할 수 있다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b="1" dirty="0"/>
              <a:t>부모</a:t>
            </a:r>
            <a:r>
              <a:rPr lang="ko-KR" altLang="en-US" sz="1600" dirty="0"/>
              <a:t>가 되는 클래스를 </a:t>
            </a:r>
            <a:r>
              <a:rPr lang="ko-KR" altLang="en-US" sz="1600" b="1" dirty="0"/>
              <a:t>기반 클래스</a:t>
            </a:r>
            <a:r>
              <a:rPr lang="en-US" altLang="ko-KR" sz="1600" dirty="0"/>
              <a:t>(base class), </a:t>
            </a:r>
            <a:r>
              <a:rPr lang="ko-KR" altLang="en-US" sz="1600" b="1" dirty="0"/>
              <a:t>기초 클래스</a:t>
            </a:r>
            <a:r>
              <a:rPr lang="en-US" altLang="ko-KR" sz="1600" dirty="0"/>
              <a:t>, </a:t>
            </a:r>
            <a:r>
              <a:rPr lang="ko-KR" altLang="en-US" sz="1600" b="1" dirty="0"/>
              <a:t>베이스 클래스</a:t>
            </a:r>
            <a:r>
              <a:rPr lang="ko-KR" altLang="en-US" sz="1600" dirty="0"/>
              <a:t>라 하고 </a:t>
            </a:r>
            <a:endParaRPr lang="en-US" altLang="ko-KR" sz="1600" dirty="0"/>
          </a:p>
          <a:p>
            <a:pPr lvl="1">
              <a:buFont typeface="Wingdings" pitchFamily="2" charset="2"/>
              <a:buChar char=""/>
            </a:pPr>
            <a:r>
              <a:rPr lang="ko-KR" altLang="en-US" sz="1600" b="1" dirty="0"/>
              <a:t>자식</a:t>
            </a:r>
            <a:r>
              <a:rPr lang="ko-KR" altLang="en-US" sz="1600" dirty="0"/>
              <a:t> 클래스에 해당되는 클래스를 </a:t>
            </a:r>
            <a:r>
              <a:rPr lang="ko-KR" altLang="en-US" sz="1600" b="1" dirty="0"/>
              <a:t>파생 클래스</a:t>
            </a:r>
            <a:r>
              <a:rPr lang="en-US" altLang="ko-KR" sz="1600" dirty="0"/>
              <a:t>(derived class), </a:t>
            </a:r>
            <a:r>
              <a:rPr lang="ko-KR" altLang="en-US" sz="1600" b="1" dirty="0"/>
              <a:t>유도 클래스</a:t>
            </a:r>
            <a:r>
              <a:rPr lang="ko-KR" altLang="en-US" sz="1600" dirty="0"/>
              <a:t> 라고 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"/>
            </a:pPr>
            <a:endParaRPr lang="en-US" altLang="ko-KR" sz="1800" dirty="0"/>
          </a:p>
          <a:p>
            <a:r>
              <a:rPr lang="ko-KR" altLang="en-US" sz="1800" dirty="0"/>
              <a:t>상속하기 적합한 관계</a:t>
            </a:r>
            <a:endParaRPr lang="en-US" altLang="ko-KR" sz="1800" dirty="0"/>
          </a:p>
          <a:p>
            <a:pPr lvl="1"/>
            <a:r>
              <a:rPr lang="ko-KR" altLang="en-US" sz="1600" dirty="0"/>
              <a:t>문법상 상속이 가능하더라도 상속을 하기에 적합하지 않은 경우가 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일반적으로 </a:t>
            </a:r>
            <a:r>
              <a:rPr lang="ko-KR" altLang="en-US" sz="1600" b="1" dirty="0"/>
              <a:t>부모클래스</a:t>
            </a:r>
            <a:r>
              <a:rPr lang="ko-KR" altLang="en-US" sz="1600" dirty="0"/>
              <a:t>는 더욱 </a:t>
            </a:r>
            <a:r>
              <a:rPr lang="ko-KR" altLang="en-US" sz="1600" b="1" dirty="0"/>
              <a:t>추상화</a:t>
            </a:r>
            <a:r>
              <a:rPr lang="ko-KR" altLang="en-US" sz="1600" dirty="0"/>
              <a:t>되어 있다</a:t>
            </a:r>
            <a:r>
              <a:rPr lang="en-US" altLang="ko-KR" sz="1600" dirty="0"/>
              <a:t>.  </a:t>
            </a:r>
            <a:r>
              <a:rPr lang="ko-KR" altLang="en-US" sz="1600" dirty="0"/>
              <a:t>동물</a:t>
            </a:r>
            <a:r>
              <a:rPr lang="en-US" altLang="ko-KR" sz="1600" dirty="0"/>
              <a:t>(</a:t>
            </a:r>
            <a:r>
              <a:rPr lang="ko-KR" altLang="en-US" sz="1600" dirty="0"/>
              <a:t>부모클래스</a:t>
            </a:r>
            <a:r>
              <a:rPr lang="en-US" altLang="ko-KR" sz="1600" dirty="0"/>
              <a:t>), </a:t>
            </a:r>
            <a:r>
              <a:rPr lang="ko-KR" altLang="en-US" sz="1600" dirty="0"/>
              <a:t>고양이</a:t>
            </a:r>
            <a:r>
              <a:rPr lang="en-US" altLang="ko-KR" sz="1600" dirty="0"/>
              <a:t>(</a:t>
            </a:r>
            <a:r>
              <a:rPr lang="ko-KR" altLang="en-US" sz="1600" dirty="0"/>
              <a:t>자식클래스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Is</a:t>
            </a:r>
            <a:r>
              <a:rPr lang="ko-KR" altLang="en-US" sz="1600" dirty="0"/>
              <a:t> </a:t>
            </a:r>
            <a:r>
              <a:rPr lang="en-US" altLang="ko-KR" sz="1600" dirty="0"/>
              <a:t>a </a:t>
            </a:r>
            <a:r>
              <a:rPr lang="ko-KR" altLang="en-US" sz="1600" dirty="0"/>
              <a:t>관계 </a:t>
            </a:r>
            <a:r>
              <a:rPr lang="en-US" altLang="ko-KR" sz="1600" dirty="0"/>
              <a:t>( </a:t>
            </a:r>
            <a:r>
              <a:rPr lang="ko-KR" altLang="en-US" sz="1600" dirty="0"/>
              <a:t>고양이 </a:t>
            </a:r>
            <a:r>
              <a:rPr lang="en-US" altLang="ko-KR" sz="1600" dirty="0"/>
              <a:t>is</a:t>
            </a:r>
            <a:r>
              <a:rPr lang="ko-KR" altLang="en-US" sz="1600" dirty="0"/>
              <a:t> </a:t>
            </a:r>
            <a:r>
              <a:rPr lang="en-US" altLang="ko-KR" sz="1600" dirty="0"/>
              <a:t>a </a:t>
            </a:r>
            <a:r>
              <a:rPr lang="ko-KR" altLang="en-US" sz="1600" dirty="0"/>
              <a:t>동물</a:t>
            </a:r>
            <a:r>
              <a:rPr lang="en-US" altLang="ko-KR" sz="1600" dirty="0"/>
              <a:t> ) – </a:t>
            </a:r>
            <a:r>
              <a:rPr lang="ko-KR" altLang="en-US" sz="1600" dirty="0"/>
              <a:t>상속 관계 성립</a:t>
            </a:r>
            <a:endParaRPr lang="en-US" altLang="ko-KR" sz="1600" dirty="0"/>
          </a:p>
          <a:p>
            <a:pPr lvl="1"/>
            <a:r>
              <a:rPr lang="en-US" altLang="ko-KR" sz="1600" dirty="0"/>
              <a:t>Has</a:t>
            </a:r>
            <a:r>
              <a:rPr lang="ko-KR" altLang="en-US" sz="1600" dirty="0"/>
              <a:t> </a:t>
            </a:r>
            <a:r>
              <a:rPr lang="en-US" altLang="ko-KR" sz="1600" dirty="0"/>
              <a:t>a </a:t>
            </a:r>
            <a:r>
              <a:rPr lang="ko-KR" altLang="en-US" sz="1600" dirty="0"/>
              <a:t>관계</a:t>
            </a:r>
            <a:r>
              <a:rPr lang="en-US" altLang="ko-KR" sz="1600" dirty="0"/>
              <a:t>, ( </a:t>
            </a:r>
            <a:r>
              <a:rPr lang="ko-KR" altLang="en-US" sz="1600" dirty="0"/>
              <a:t>경찰</a:t>
            </a:r>
            <a:r>
              <a:rPr lang="en-US" altLang="ko-KR" sz="1600" dirty="0"/>
              <a:t> has a </a:t>
            </a:r>
            <a:r>
              <a:rPr lang="ko-KR" altLang="en-US" sz="1600" dirty="0"/>
              <a:t>총 </a:t>
            </a:r>
            <a:r>
              <a:rPr lang="en-US" altLang="ko-KR" sz="1600" dirty="0"/>
              <a:t>)  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4729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파생클래스</a:t>
            </a:r>
            <a:r>
              <a:rPr lang="ko-KR" altLang="en-US" dirty="0"/>
              <a:t>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파생 클래스를 만들려면 우선 기반 클래스가 존재해야 한다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파생 클래스를 새롭게 정의할 때는 다음 형식처럼 파생 클래스 뒤에 </a:t>
            </a:r>
            <a:r>
              <a:rPr lang="ko-KR" altLang="en-US" sz="1600" b="1" dirty="0"/>
              <a:t>콜론</a:t>
            </a:r>
            <a:r>
              <a:rPr lang="en-US" altLang="ko-KR" sz="1600" b="1" dirty="0"/>
              <a:t>( : )</a:t>
            </a:r>
            <a:r>
              <a:rPr lang="ko-KR" altLang="en-US" sz="1600" b="1" dirty="0"/>
              <a:t>을 붙이고 기반 클래스</a:t>
            </a:r>
            <a:r>
              <a:rPr lang="ko-KR" altLang="en-US" sz="1600" dirty="0"/>
              <a:t>를 기술한다</a:t>
            </a:r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70742" y="3546534"/>
            <a:ext cx="4381500" cy="255454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757042" y="3543617"/>
            <a:ext cx="5334000" cy="255454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상속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DD45DC-C518-4C14-9C88-13CD88521DBE}"/>
              </a:ext>
            </a:extLst>
          </p:cNvPr>
          <p:cNvSpPr/>
          <p:nvPr/>
        </p:nvSpPr>
        <p:spPr>
          <a:xfrm>
            <a:off x="1070742" y="2218624"/>
            <a:ext cx="5245698" cy="10772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class 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파생 클래스</a:t>
            </a:r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:</a:t>
            </a: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+mn-ea"/>
              </a:rPr>
              <a:t>접근지정자</a:t>
            </a:r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  <a:latin typeface="+mn-ea"/>
              </a:rPr>
              <a:t>기반 클래스</a:t>
            </a:r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 </a:t>
            </a:r>
            <a:endParaRPr lang="en-US" altLang="ko-KR" sz="1600" dirty="0">
              <a:solidFill>
                <a:srgbClr val="0070C0"/>
              </a:solidFill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{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    멤버 선언</a:t>
            </a: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};</a:t>
            </a:r>
            <a:endParaRPr lang="ko-KR" altLang="en-US" sz="16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410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B338B-5C55-4EA2-805D-30EC22B4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파생클래스 사용하기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75584E-F52D-4105-A92A-B237A0D3A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파생 클래스로 객체를 선언하면 </a:t>
            </a:r>
            <a:r>
              <a:rPr lang="ko-KR" altLang="en-US" sz="1800" b="1" dirty="0"/>
              <a:t>부모의 </a:t>
            </a:r>
            <a:r>
              <a:rPr lang="ko-KR" altLang="en-US" sz="1800" b="1" dirty="0" err="1"/>
              <a:t>맴버</a:t>
            </a:r>
            <a:r>
              <a:rPr lang="ko-KR" altLang="en-US" sz="1800" b="1" dirty="0"/>
              <a:t> 사용</a:t>
            </a:r>
            <a:r>
              <a:rPr lang="ko-KR" altLang="en-US" sz="1800" dirty="0"/>
              <a:t>이 가능하다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부모의 </a:t>
            </a:r>
            <a:r>
              <a:rPr lang="en-US" altLang="ko-KR" sz="1800" b="1" dirty="0"/>
              <a:t>private </a:t>
            </a:r>
            <a:r>
              <a:rPr lang="ko-KR" altLang="en-US" sz="1800" b="1" dirty="0" err="1"/>
              <a:t>맴버는</a:t>
            </a:r>
            <a:r>
              <a:rPr lang="ko-KR" altLang="en-US" sz="1800" b="1" dirty="0"/>
              <a:t> 사용할 수 없다</a:t>
            </a:r>
            <a:r>
              <a:rPr lang="en-US" altLang="ko-KR" sz="1800" b="1" dirty="0"/>
              <a:t>.</a:t>
            </a:r>
            <a:endParaRPr lang="ko-KR" altLang="en-US" sz="18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CEFEEC-1F5C-43DB-8922-DA459BB473DD}"/>
              </a:ext>
            </a:extLst>
          </p:cNvPr>
          <p:cNvSpPr/>
          <p:nvPr/>
        </p:nvSpPr>
        <p:spPr>
          <a:xfrm>
            <a:off x="1070742" y="2292942"/>
            <a:ext cx="4381500" cy="258532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baseNum1;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BaseFunc1() {}</a:t>
            </a:r>
          </a:p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baseNum2;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BaseFunc2() {}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9A87F0-2371-4F60-ABD1-CD08D6A4346F}"/>
              </a:ext>
            </a:extLst>
          </p:cNvPr>
          <p:cNvSpPr/>
          <p:nvPr/>
        </p:nvSpPr>
        <p:spPr>
          <a:xfrm>
            <a:off x="5736021" y="1936715"/>
            <a:ext cx="5334000" cy="403187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상속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baseNum1 = 0;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error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BaseFunc1();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error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baseNum2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BaseFunc2();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d.Func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d.BaseFunc2();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사용가능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33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클래스간의 </a:t>
            </a:r>
            <a:r>
              <a:rPr lang="ko-KR" altLang="en-US" dirty="0" err="1"/>
              <a:t>상속관계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공통점만 가진 기반 클래스를 설계할 때는 클래스에서 </a:t>
            </a:r>
            <a:r>
              <a:rPr lang="en-US" altLang="ko-KR" sz="1800" dirty="0"/>
              <a:t>private</a:t>
            </a:r>
            <a:r>
              <a:rPr lang="ko-KR" altLang="en-US" sz="1800" dirty="0"/>
              <a:t>로 선언된 멤버를 사용하게 하려면</a:t>
            </a:r>
            <a:endParaRPr lang="en-US" altLang="ko-KR" sz="1800" dirty="0"/>
          </a:p>
          <a:p>
            <a:r>
              <a:rPr lang="ko-KR" altLang="en-US" sz="1800" dirty="0"/>
              <a:t>다음과 같이 </a:t>
            </a:r>
            <a:r>
              <a:rPr lang="en-US" altLang="ko-KR" sz="1800" b="1" dirty="0"/>
              <a:t>protected</a:t>
            </a:r>
            <a:r>
              <a:rPr lang="ko-KR" altLang="en-US" sz="1800" dirty="0"/>
              <a:t>로 선언해야 한다</a:t>
            </a:r>
            <a:r>
              <a:rPr lang="en-US" altLang="ko-KR" sz="1800" dirty="0"/>
              <a:t>. </a:t>
            </a:r>
            <a:r>
              <a:rPr lang="ko-KR" altLang="en-US" sz="1800" dirty="0"/>
              <a:t>그래야 파생 클래스에서 상속받아 사용할 수 있기 때문이다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93200" y="2368517"/>
            <a:ext cx="5016649" cy="30469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protected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Number;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파생클래스에서 사용가능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3F6944-F94A-4244-9CBF-D8E22E3BEFAE}"/>
              </a:ext>
            </a:extLst>
          </p:cNvPr>
          <p:cNvSpPr/>
          <p:nvPr/>
        </p:nvSpPr>
        <p:spPr>
          <a:xfrm>
            <a:off x="6337151" y="2368517"/>
            <a:ext cx="5016649" cy="30469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derivedNum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derivedNum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Number = 1;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접근 가능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82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851CE-04F1-4182-8AC6-CFA8836C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상속과 접근지정자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70187-3F79-4575-9952-CC7E04054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접근 지정자의 접근 허용 범위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class Derived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0000FF"/>
                </a:solidFill>
              </a:rPr>
              <a:t>public</a:t>
            </a:r>
            <a:r>
              <a:rPr lang="en-US" altLang="ko-KR" sz="1800" dirty="0"/>
              <a:t> Base  </a:t>
            </a:r>
            <a:r>
              <a:rPr lang="ko-KR" altLang="en-US" sz="1800" dirty="0"/>
              <a:t>의 접근지정자</a:t>
            </a:r>
            <a:endParaRPr lang="en-US" altLang="ko-KR" sz="1800" dirty="0"/>
          </a:p>
          <a:p>
            <a:pPr lvl="1"/>
            <a:r>
              <a:rPr lang="ko-KR" altLang="en-US" sz="1600" dirty="0"/>
              <a:t>상속하는 부모클래스의 </a:t>
            </a:r>
            <a:r>
              <a:rPr lang="ko-KR" altLang="en-US" sz="1600" dirty="0" err="1"/>
              <a:t>맴버에</a:t>
            </a:r>
            <a:r>
              <a:rPr lang="ko-KR" altLang="en-US" sz="1600" dirty="0"/>
              <a:t> 대하여 접근제어를 다시 정의한다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public</a:t>
            </a:r>
            <a:r>
              <a:rPr lang="ko-KR" altLang="en-US" sz="1600" dirty="0"/>
              <a:t> 이면</a:t>
            </a:r>
            <a:r>
              <a:rPr lang="en-US" altLang="ko-KR" sz="1600" dirty="0"/>
              <a:t> </a:t>
            </a:r>
            <a:r>
              <a:rPr lang="ko-KR" altLang="en-US" sz="1600" dirty="0"/>
              <a:t>그대로 사용</a:t>
            </a:r>
            <a:endParaRPr lang="en-US" altLang="ko-KR" sz="1600" dirty="0"/>
          </a:p>
          <a:p>
            <a:pPr lvl="1"/>
            <a:r>
              <a:rPr lang="en-US" altLang="ko-KR" sz="1600" dirty="0"/>
              <a:t>protected </a:t>
            </a:r>
            <a:r>
              <a:rPr lang="ko-KR" altLang="en-US" sz="1600" dirty="0"/>
              <a:t>이면 </a:t>
            </a:r>
            <a:r>
              <a:rPr lang="en-US" altLang="ko-KR" sz="1600" dirty="0"/>
              <a:t>public </a:t>
            </a:r>
            <a:r>
              <a:rPr lang="ko-KR" altLang="en-US" sz="1600" dirty="0"/>
              <a:t>이</a:t>
            </a:r>
            <a:r>
              <a:rPr lang="en-US" altLang="ko-KR" sz="1600" dirty="0"/>
              <a:t> protected </a:t>
            </a:r>
            <a:r>
              <a:rPr lang="ko-KR" altLang="en-US" sz="1600" dirty="0"/>
              <a:t>로</a:t>
            </a:r>
            <a:r>
              <a:rPr lang="en-US" altLang="ko-KR" sz="1600" dirty="0"/>
              <a:t> </a:t>
            </a:r>
            <a:r>
              <a:rPr lang="ko-KR" altLang="en-US" sz="1600" dirty="0"/>
              <a:t>제한된다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20E0C65-2F0E-4625-8799-FFC550953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177706"/>
              </p:ext>
            </p:extLst>
          </p:nvPr>
        </p:nvGraphicFramePr>
        <p:xfrm>
          <a:off x="1309477" y="1867592"/>
          <a:ext cx="7651642" cy="156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8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접근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지정자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자신의 클래스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파생 클래스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클래스 외부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private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protected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8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public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4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83833-1273-406B-A63C-83CDC90006C4}"/>
              </a:ext>
            </a:extLst>
          </p:cNvPr>
          <p:cNvSpPr txBox="1"/>
          <p:nvPr/>
        </p:nvSpPr>
        <p:spPr>
          <a:xfrm>
            <a:off x="922789" y="1282674"/>
            <a:ext cx="458877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     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공유할 부분 </a:t>
            </a:r>
            <a:endParaRPr lang="en-US" altLang="ko-KR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protected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a, b, c;             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Init(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Prn();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::Init(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a =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b =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c=0;  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::Prn()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</a:t>
            </a:r>
          </a:p>
          <a:p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cout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endl;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</a:t>
            </a:r>
          </a:p>
          <a:p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99853-5F50-4803-83D0-854E7EF86BFD}"/>
              </a:ext>
            </a:extLst>
          </p:cNvPr>
          <p:cNvSpPr txBox="1"/>
          <p:nvPr/>
        </p:nvSpPr>
        <p:spPr>
          <a:xfrm>
            <a:off x="6121167" y="1282674"/>
            <a:ext cx="458877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Sum() {  c = a + b;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                           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Mul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Gob() { c = a * b;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      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x.Init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(3, 5);                 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x.Prn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Mul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y.Init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(2, 7);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y.Gob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y.Prn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61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ko-KR" altLang="en-US" dirty="0"/>
              <a:t>상속 관계에서의 </a:t>
            </a:r>
            <a:r>
              <a:rPr lang="ko-KR" altLang="en-US" dirty="0" err="1"/>
              <a:t>생성자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상속 관계에 있는 클래스에서 </a:t>
            </a:r>
            <a:r>
              <a:rPr lang="ko-KR" altLang="en-US" sz="1800" dirty="0" err="1"/>
              <a:t>생성자는</a:t>
            </a:r>
            <a:r>
              <a:rPr lang="ko-KR" altLang="en-US" sz="1800" dirty="0"/>
              <a:t> 다음과 같은 특징이 있으므로 조심스럽게 다루어야 한다</a:t>
            </a:r>
            <a:r>
              <a:rPr lang="en-US" altLang="ko-KR" sz="18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b="1" dirty="0"/>
              <a:t>생성자</a:t>
            </a:r>
            <a:r>
              <a:rPr lang="ko-KR" altLang="en-US" sz="1600" dirty="0"/>
              <a:t>는 멤버함수지만 상속할 수 </a:t>
            </a:r>
            <a:r>
              <a:rPr lang="ko-KR" altLang="en-US" sz="1600" b="1" dirty="0"/>
              <a:t>없다</a:t>
            </a:r>
            <a:r>
              <a:rPr lang="en-US" altLang="ko-KR" sz="1600" dirty="0"/>
              <a:t>.  </a:t>
            </a:r>
            <a:r>
              <a:rPr lang="ko-KR" altLang="en-US" sz="1600" dirty="0"/>
              <a:t>생성자나 소멸자는 </a:t>
            </a:r>
            <a:r>
              <a:rPr lang="ko-KR" altLang="en-US" sz="1600" b="1" dirty="0">
                <a:solidFill>
                  <a:srgbClr val="FF0000"/>
                </a:solidFill>
              </a:rPr>
              <a:t>상속대상이</a:t>
            </a:r>
            <a:r>
              <a:rPr lang="en-US" altLang="ko-KR" sz="1600" b="1" dirty="0">
                <a:solidFill>
                  <a:srgbClr val="FF0000"/>
                </a:solidFill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</a:rPr>
              <a:t>아니다</a:t>
            </a:r>
            <a:r>
              <a:rPr lang="en-US" altLang="ko-KR" sz="1600" b="1" dirty="0">
                <a:solidFill>
                  <a:srgbClr val="FF0000"/>
                </a:solidFill>
              </a:rPr>
              <a:t>.</a:t>
            </a:r>
            <a:endParaRPr lang="en-US" altLang="ko-KR" sz="1600" b="1" dirty="0"/>
          </a:p>
          <a:p>
            <a:pPr lvl="1">
              <a:buFont typeface="Wingdings" pitchFamily="2" charset="2"/>
              <a:buChar char=""/>
            </a:pPr>
            <a:r>
              <a:rPr lang="ko-KR" altLang="en-US" sz="1600" b="1" dirty="0"/>
              <a:t>파생 객체</a:t>
            </a:r>
            <a:r>
              <a:rPr lang="ko-KR" altLang="en-US" sz="1600" dirty="0"/>
              <a:t>가 생성되어도 </a:t>
            </a:r>
            <a:r>
              <a:rPr lang="ko-KR" altLang="en-US" sz="1600" b="1" dirty="0"/>
              <a:t>기반 클래스</a:t>
            </a:r>
            <a:r>
              <a:rPr lang="ko-KR" altLang="en-US" sz="1600" dirty="0"/>
              <a:t>의 생성자까지 </a:t>
            </a:r>
            <a:r>
              <a:rPr lang="ko-KR" altLang="en-US" sz="1600" b="1" dirty="0">
                <a:solidFill>
                  <a:srgbClr val="C00000"/>
                </a:solidFill>
              </a:rPr>
              <a:t>연속적으로 자동 호출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endParaRPr lang="en-US" altLang="ko-KR" sz="1600" dirty="0"/>
          </a:p>
          <a:p>
            <a:r>
              <a:rPr lang="ko-KR" altLang="en-US" sz="1800" dirty="0"/>
              <a:t>상속 관계에서 </a:t>
            </a:r>
            <a:r>
              <a:rPr lang="ko-KR" altLang="en-US" sz="1800" dirty="0" err="1"/>
              <a:t>생성자와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소멸자에</a:t>
            </a:r>
            <a:r>
              <a:rPr lang="ko-KR" altLang="en-US" sz="1800" dirty="0"/>
              <a:t> 대해 정리하면 다음과 같다</a:t>
            </a:r>
            <a:r>
              <a:rPr lang="en-US" altLang="ko-KR" sz="1800" dirty="0"/>
              <a:t>.</a:t>
            </a:r>
          </a:p>
          <a:p>
            <a:pPr lvl="1">
              <a:buFont typeface="Wingdings" pitchFamily="2" charset="2"/>
              <a:buChar char=""/>
            </a:pPr>
            <a:endParaRPr lang="en-US" altLang="ko-KR" sz="16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파생 클래스의 객체가 생성될 때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b="1" dirty="0"/>
              <a:t>   </a:t>
            </a:r>
            <a:r>
              <a:rPr lang="ko-KR" altLang="en-US" sz="1600" b="1" dirty="0"/>
              <a:t>기반 클래스의 멤버변수</a:t>
            </a:r>
            <a:r>
              <a:rPr lang="ko-KR" altLang="en-US" sz="1600" dirty="0"/>
              <a:t>에 대한 메모리 영역에 </a:t>
            </a:r>
            <a:r>
              <a:rPr lang="ko-KR" altLang="en-US" sz="1600" b="1" dirty="0"/>
              <a:t>파생 클래스의 멤버변수</a:t>
            </a:r>
            <a:r>
              <a:rPr lang="ko-KR" altLang="en-US" sz="1600" dirty="0"/>
              <a:t>에 대한 메모리 영역을 </a:t>
            </a:r>
            <a:r>
              <a:rPr lang="ko-KR" altLang="en-US" sz="1600" b="1" dirty="0">
                <a:solidFill>
                  <a:srgbClr val="C00000"/>
                </a:solidFill>
              </a:rPr>
              <a:t>포함</a:t>
            </a:r>
            <a:r>
              <a:rPr lang="ko-KR" altLang="en-US" sz="1600" b="1" dirty="0"/>
              <a:t>한 형태로 </a:t>
            </a:r>
            <a:endParaRPr lang="en-US" altLang="ko-KR" sz="1600" b="1" dirty="0"/>
          </a:p>
          <a:p>
            <a:pPr marL="457200" lvl="1" indent="0">
              <a:buNone/>
            </a:pPr>
            <a:r>
              <a:rPr lang="en-US" altLang="ko-KR" sz="1600" b="1" dirty="0"/>
              <a:t>  </a:t>
            </a:r>
            <a:r>
              <a:rPr lang="ko-KR" altLang="en-US" sz="1600" b="1" dirty="0"/>
              <a:t> 메모리를 할당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endParaRPr lang="en-US" altLang="ko-KR" sz="1600" dirty="0"/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파생 클래스로 객체를 생성하면 자신의 생성자 뿐만 아니라 기반 클래스의 생성자까지 연속으로 자동 호출되는데</a:t>
            </a:r>
            <a:r>
              <a:rPr lang="en-US" altLang="ko-KR" sz="1600" dirty="0"/>
              <a:t>, </a:t>
            </a:r>
            <a:r>
              <a:rPr lang="ko-KR" altLang="en-US" sz="1600" b="1" dirty="0">
                <a:solidFill>
                  <a:srgbClr val="C00000"/>
                </a:solidFill>
              </a:rPr>
              <a:t>기반 클래스의 생성자</a:t>
            </a:r>
            <a:r>
              <a:rPr lang="ko-KR" altLang="en-US" sz="1600" dirty="0">
                <a:solidFill>
                  <a:srgbClr val="C00000"/>
                </a:solidFill>
              </a:rPr>
              <a:t>가 </a:t>
            </a:r>
            <a:r>
              <a:rPr lang="ko-KR" altLang="en-US" sz="1600" b="1" dirty="0">
                <a:solidFill>
                  <a:srgbClr val="C00000"/>
                </a:solidFill>
              </a:rPr>
              <a:t>먼저 실행</a:t>
            </a:r>
            <a:r>
              <a:rPr lang="ko-KR" altLang="en-US" sz="1600" dirty="0"/>
              <a:t>되고 파생 클래스의 생성자가 나중에 </a:t>
            </a:r>
            <a:r>
              <a:rPr lang="ko-KR" altLang="en-US" sz="1600" b="1" dirty="0"/>
              <a:t>실행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800" dirty="0"/>
          </a:p>
          <a:p>
            <a:pPr>
              <a:buFont typeface="Wingdings" pitchFamily="2" charset="2"/>
              <a:buChar char=""/>
            </a:pPr>
            <a:endParaRPr lang="en-US" altLang="ko-KR" sz="20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323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 관계에서의 </a:t>
            </a:r>
            <a:r>
              <a:rPr lang="ko-KR" altLang="en-US" dirty="0" err="1"/>
              <a:t>생성자</a:t>
            </a:r>
            <a:r>
              <a:rPr lang="ko-KR" altLang="en-US" dirty="0"/>
              <a:t> </a:t>
            </a:r>
            <a:r>
              <a:rPr lang="ko-KR" altLang="en-US" dirty="0" err="1"/>
              <a:t>소멸자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199" y="1403562"/>
            <a:ext cx="10217727" cy="501675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기반 클래스의 생성자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~Base()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기반 클래스의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소멸자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Derived()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파생 클래스의 생성자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~Derived()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파생 클래스의 </a:t>
            </a:r>
            <a:r>
              <a:rPr lang="ko-KR" alt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소멸자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obj;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94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ko-KR" altLang="en-US" dirty="0"/>
              <a:t>상속 관계에서의 </a:t>
            </a:r>
            <a:r>
              <a:rPr lang="ko-KR" altLang="en-US"/>
              <a:t>생성자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파생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클래스에서 기반 클래스의 </a:t>
            </a:r>
            <a:r>
              <a:rPr lang="ko-KR" altLang="en-US" sz="1800" dirty="0" err="1"/>
              <a:t>생성자</a:t>
            </a:r>
            <a:r>
              <a:rPr lang="ko-KR" altLang="en-US" sz="1800" dirty="0"/>
              <a:t> 호출</a:t>
            </a:r>
            <a:endParaRPr lang="en-US" altLang="ko-KR" sz="1800" dirty="0">
              <a:sym typeface="Wingdings"/>
            </a:endParaRPr>
          </a:p>
          <a:p>
            <a:pPr lvl="1"/>
            <a:r>
              <a:rPr lang="ko-KR" altLang="en-US" sz="1600" dirty="0">
                <a:sym typeface="Wingdings"/>
              </a:rPr>
              <a:t>파생 클래스의 생성자가 기반 클래스의 컴파일러에 의해 제공되는 </a:t>
            </a:r>
            <a:r>
              <a:rPr lang="ko-KR" altLang="en-US" sz="1600" b="1" dirty="0">
                <a:solidFill>
                  <a:srgbClr val="FF0000"/>
                </a:solidFill>
                <a:sym typeface="Wingdings"/>
              </a:rPr>
              <a:t>기본 생성자</a:t>
            </a:r>
            <a:r>
              <a:rPr lang="ko-KR" altLang="en-US" sz="1600" b="1" dirty="0">
                <a:sym typeface="Wingdings"/>
              </a:rPr>
              <a:t>를 </a:t>
            </a:r>
            <a:r>
              <a:rPr lang="ko-KR" altLang="en-US" sz="1600" dirty="0">
                <a:sym typeface="Wingdings"/>
              </a:rPr>
              <a:t> </a:t>
            </a:r>
            <a:r>
              <a:rPr lang="ko-KR" altLang="en-US" sz="1600" b="1" dirty="0">
                <a:sym typeface="Wingdings"/>
              </a:rPr>
              <a:t>암시적으로 </a:t>
            </a:r>
            <a:r>
              <a:rPr lang="ko-KR" altLang="en-US" sz="1600" dirty="0">
                <a:sym typeface="Wingdings"/>
              </a:rPr>
              <a:t>호출하는 것이다</a:t>
            </a:r>
            <a:r>
              <a:rPr lang="en-US" altLang="ko-KR" sz="1600" dirty="0">
                <a:sym typeface="Wingdings"/>
              </a:rPr>
              <a:t>. </a:t>
            </a:r>
            <a:r>
              <a:rPr lang="ko-KR" altLang="en-US" sz="1600" dirty="0">
                <a:sym typeface="Wingdings"/>
              </a:rPr>
              <a:t>매개변수를 한 개라도 갖는 </a:t>
            </a:r>
            <a:r>
              <a:rPr lang="ko-KR" altLang="en-US" sz="1600" b="1" dirty="0" err="1">
                <a:sym typeface="Wingdings"/>
              </a:rPr>
              <a:t>생성자를</a:t>
            </a:r>
            <a:r>
              <a:rPr lang="ko-KR" altLang="en-US" sz="1600" b="1" dirty="0">
                <a:sym typeface="Wingdings"/>
              </a:rPr>
              <a:t> 정의하면</a:t>
            </a:r>
            <a:r>
              <a:rPr lang="ko-KR" altLang="en-US" sz="1600" dirty="0">
                <a:sym typeface="Wingdings"/>
              </a:rPr>
              <a:t> </a:t>
            </a:r>
            <a:r>
              <a:rPr lang="ko-KR" altLang="en-US" sz="1600" b="1" dirty="0">
                <a:sym typeface="Wingdings"/>
              </a:rPr>
              <a:t>더 이상 </a:t>
            </a:r>
            <a:r>
              <a:rPr lang="en-US" altLang="ko-KR" sz="1600" b="1" dirty="0">
                <a:sym typeface="Wingdings"/>
              </a:rPr>
              <a:t>C++ </a:t>
            </a:r>
            <a:r>
              <a:rPr lang="ko-KR" altLang="en-US" sz="1600" b="1" dirty="0">
                <a:sym typeface="Wingdings"/>
              </a:rPr>
              <a:t>컴파일러가 제공하지 않게 된다</a:t>
            </a:r>
            <a:r>
              <a:rPr lang="en-US" altLang="ko-KR" sz="1600" b="1" dirty="0">
                <a:sym typeface="Wingdings"/>
              </a:rPr>
              <a:t>.</a:t>
            </a:r>
          </a:p>
          <a:p>
            <a:pPr lvl="1"/>
            <a:r>
              <a:rPr lang="ko-KR" altLang="en-US" sz="1600" dirty="0"/>
              <a:t>기반 클래스 내에 매개변수를 갖는 생성자를 추가로 정의할 경우에는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매개변수가 없는 기본 생성자를 프로그래머가 반드시 명시적으로 정의하는 습관을 들여야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4" name="직사각형 3"/>
          <p:cNvSpPr/>
          <p:nvPr/>
        </p:nvSpPr>
        <p:spPr>
          <a:xfrm>
            <a:off x="971443" y="3252956"/>
            <a:ext cx="4724400" cy="230832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{}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829085" y="3263892"/>
            <a:ext cx="5524715" cy="230832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//error</a:t>
            </a:r>
            <a:r>
              <a:rPr lang="ko-KR" altLang="en-US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en-US" altLang="ko-KR" dirty="0">
              <a:solidFill>
                <a:srgbClr val="FF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48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기반 클래스의 </a:t>
            </a:r>
            <a:r>
              <a:rPr lang="ko-KR" altLang="en-US" dirty="0" err="1"/>
              <a:t>생성자</a:t>
            </a:r>
            <a:r>
              <a:rPr lang="ko-KR" altLang="en-US" dirty="0"/>
              <a:t> 명시적 호출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파생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클래스에서 기반 클래스의 </a:t>
            </a:r>
            <a:r>
              <a:rPr lang="ko-KR" altLang="en-US" sz="1800" dirty="0" err="1"/>
              <a:t>생성자를</a:t>
            </a:r>
            <a:r>
              <a:rPr lang="ko-KR" altLang="en-US" sz="1800" dirty="0"/>
              <a:t> </a:t>
            </a:r>
            <a:r>
              <a:rPr lang="ko-KR" altLang="en-US" sz="1800" b="1" dirty="0"/>
              <a:t>명시적</a:t>
            </a:r>
            <a:r>
              <a:rPr lang="ko-KR" altLang="en-US" sz="1800" dirty="0"/>
              <a:t>으로 호출하기</a:t>
            </a:r>
            <a:endParaRPr lang="en-US" altLang="ko-KR" sz="1800" dirty="0"/>
          </a:p>
          <a:p>
            <a:pPr lvl="1"/>
            <a:r>
              <a:rPr lang="ko-KR" altLang="en-US" sz="1600" dirty="0"/>
              <a:t>기반 클래스의 </a:t>
            </a:r>
            <a:r>
              <a:rPr lang="ko-KR" altLang="en-US" sz="1600" dirty="0" err="1"/>
              <a:t>생성자를</a:t>
            </a:r>
            <a:r>
              <a:rPr lang="ko-KR" altLang="en-US" sz="1600" dirty="0"/>
              <a:t> 파생 클래스에서 명시적으로 호출하는 것은 콜론</a:t>
            </a:r>
            <a:r>
              <a:rPr lang="en-US" altLang="ko-KR" sz="1600" dirty="0"/>
              <a:t>(:) </a:t>
            </a:r>
            <a:r>
              <a:rPr lang="ko-KR" altLang="en-US" sz="1600" dirty="0"/>
              <a:t>초기화의 형태다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파생 클래스의 생성자를 정의할 때 함수의 머리 부분 맨 마지막에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b="1" dirty="0"/>
              <a:t>    : </a:t>
            </a:r>
            <a:r>
              <a:rPr lang="ko-KR" altLang="en-US" sz="1600" dirty="0"/>
              <a:t>을 기술한 후 </a:t>
            </a:r>
            <a:r>
              <a:rPr lang="ko-KR" altLang="en-US" sz="1600" b="1" dirty="0"/>
              <a:t>기반 </a:t>
            </a:r>
            <a:r>
              <a:rPr lang="ko-KR" altLang="en-US" sz="1600" b="1" dirty="0">
                <a:solidFill>
                  <a:srgbClr val="C00000"/>
                </a:solidFill>
              </a:rPr>
              <a:t>클래스의 </a:t>
            </a:r>
            <a:r>
              <a:rPr lang="ko-KR" altLang="en-US" sz="1600" b="1" dirty="0" err="1">
                <a:solidFill>
                  <a:srgbClr val="C00000"/>
                </a:solidFill>
              </a:rPr>
              <a:t>생성자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호출한다</a:t>
            </a:r>
            <a:r>
              <a:rPr lang="en-US" altLang="ko-KR" sz="1600" dirty="0"/>
              <a:t>.</a:t>
            </a:r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50101" y="2930132"/>
            <a:ext cx="4522365" cy="230832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latin typeface="Consolas" panose="020B0609020204030204" pitchFamily="49" charset="0"/>
                <a:ea typeface="돋움체" panose="020B0609000101010101" pitchFamily="49" charset="-127"/>
              </a:rPr>
              <a:t>() {}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629013" y="2930132"/>
            <a:ext cx="5612886" cy="258532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: </a:t>
            </a:r>
            <a:r>
              <a:rPr lang="en-US" altLang="ko-KR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),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기반 클래스 </a:t>
            </a:r>
            <a:r>
              <a:rPr lang="ko-KR" altLang="en-US" dirty="0" err="1"/>
              <a:t>생성자에</a:t>
            </a:r>
            <a:r>
              <a:rPr lang="ko-KR" altLang="en-US" dirty="0"/>
              <a:t> 매개변수 전달하기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파생 클래스의 생성자가 받은 </a:t>
            </a:r>
            <a:r>
              <a:rPr lang="ko-KR" altLang="en-US" sz="1800" b="1" dirty="0">
                <a:solidFill>
                  <a:srgbClr val="C00000"/>
                </a:solidFill>
              </a:rPr>
              <a:t>매개변수의 값</a:t>
            </a:r>
            <a:r>
              <a:rPr lang="ko-KR" altLang="en-US" sz="1800" dirty="0"/>
              <a:t>을 </a:t>
            </a:r>
            <a:r>
              <a:rPr lang="ko-KR" altLang="en-US" sz="1800" b="1" dirty="0"/>
              <a:t>기반 클래스의 </a:t>
            </a:r>
            <a:r>
              <a:rPr lang="ko-KR" altLang="en-US" sz="1800" b="1" dirty="0">
                <a:solidFill>
                  <a:srgbClr val="C00000"/>
                </a:solidFill>
              </a:rPr>
              <a:t>생성자 호출</a:t>
            </a:r>
            <a:r>
              <a:rPr lang="ko-KR" altLang="en-US" sz="1800" dirty="0"/>
              <a:t>하면서 전달할 수 있다</a:t>
            </a:r>
            <a:r>
              <a:rPr lang="en-US" altLang="ko-KR" sz="1800" dirty="0"/>
              <a:t>.</a:t>
            </a:r>
          </a:p>
          <a:p>
            <a:r>
              <a:rPr lang="en-US" altLang="ko-KR" sz="1800" b="1" dirty="0"/>
              <a:t>: </a:t>
            </a:r>
            <a:r>
              <a:rPr lang="ko-KR" altLang="en-US" sz="1800" dirty="0"/>
              <a:t>다음에 기술된 기반 클래스의 </a:t>
            </a:r>
            <a:r>
              <a:rPr lang="ko-KR" altLang="en-US" sz="1800" dirty="0" err="1"/>
              <a:t>생성자는</a:t>
            </a:r>
            <a:r>
              <a:rPr lang="ko-KR" altLang="en-US" sz="1800" dirty="0"/>
              <a:t> </a:t>
            </a:r>
            <a:r>
              <a:rPr lang="ko-KR" altLang="en-US" sz="1800" b="1" dirty="0"/>
              <a:t>함수의 호출</a:t>
            </a:r>
            <a:r>
              <a:rPr lang="ko-KR" altLang="en-US" sz="1800" dirty="0"/>
              <a:t>이다</a:t>
            </a:r>
            <a:r>
              <a:rPr lang="en-US" altLang="ko-KR" sz="1800" dirty="0"/>
              <a:t>. </a:t>
            </a:r>
            <a:r>
              <a:rPr lang="ko-KR" altLang="en-US" sz="1800" dirty="0"/>
              <a:t>따라서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자료형을</a:t>
            </a:r>
            <a:r>
              <a:rPr lang="ko-KR" altLang="en-US" sz="1800" dirty="0"/>
              <a:t> 사용하면 안된다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972424" y="2490235"/>
            <a:ext cx="4505587" cy="230832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latin typeface="Consolas" panose="020B0609020204030204" pitchFamily="49" charset="0"/>
                <a:ea typeface="돋움체" panose="020B0609000101010101" pitchFamily="49" charset="-127"/>
              </a:rPr>
              <a:t>() {}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612235" y="2490235"/>
            <a:ext cx="5741565" cy="258532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: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b="1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),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//error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724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>
                <a:solidFill>
                  <a:srgbClr val="00A4E6"/>
                </a:solidFill>
                <a:latin typeface="+mj-ea"/>
              </a:rPr>
              <a:t>상속 관계에서 생성자 문제 해결 </a:t>
            </a:r>
            <a:r>
              <a:rPr lang="en-US" altLang="ko-KR" sz="1400" dirty="0">
                <a:solidFill>
                  <a:srgbClr val="00A4E6"/>
                </a:solidFill>
                <a:latin typeface="+mj-ea"/>
              </a:rPr>
              <a:t>- </a:t>
            </a:r>
            <a:r>
              <a:rPr lang="ko-KR" altLang="en-US" sz="1100" dirty="0">
                <a:latin typeface="+mj-ea"/>
              </a:rPr>
              <a:t>파생클래스 생성자 선언에 기반클래스 선언 추가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DBE29-5BFB-42EE-814E-EAA2917BEDDE}"/>
              </a:ext>
            </a:extLst>
          </p:cNvPr>
          <p:cNvSpPr txBox="1"/>
          <p:nvPr/>
        </p:nvSpPr>
        <p:spPr>
          <a:xfrm>
            <a:off x="952108" y="1602556"/>
            <a:ext cx="48178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protected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a, b, c;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Calc();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Calc(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Prn();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1400" dirty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::Calc()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 = 0; b = 0; c =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::Calc(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 =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b =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c =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::Prn() {</a:t>
            </a:r>
          </a:p>
          <a:p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cout 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 </a:t>
            </a:r>
            <a:r>
              <a:rPr lang="fr-F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endl;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DD5F42-92D1-4343-B516-118C54D7584C}"/>
              </a:ext>
            </a:extLst>
          </p:cNvPr>
          <p:cNvSpPr txBox="1"/>
          <p:nvPr/>
        </p:nvSpPr>
        <p:spPr>
          <a:xfrm>
            <a:off x="6096000" y="1602556"/>
            <a:ext cx="519558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Sum();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Add();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Add(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::Sum() { c = a + b; }</a:t>
            </a:r>
            <a:endParaRPr lang="en-US" altLang="ko-KR" sz="1400" dirty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::Add() 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</a:t>
            </a:r>
            <a:r>
              <a:rPr lang="en-US" altLang="ko-KR" sz="14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::Add(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</a:t>
            </a:r>
            <a:r>
              <a:rPr lang="en-US" altLang="ko-KR" sz="14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b="1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b="1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new_B</a:t>
            </a:r>
            <a:r>
              <a:rPr lang="en-US" altLang="ko-KR" sz="14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Calc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x(3, 5);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x.Prn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s-E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s-E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s-E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y(3, 5);    y.Prn();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  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z.Prn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13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43FD4-1CF1-4A0B-ACFB-A77599E6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</a:t>
            </a:r>
            <a:r>
              <a:rPr lang="ko-KR" altLang="en-US" dirty="0" err="1"/>
              <a:t>오버라이딩</a:t>
            </a:r>
            <a:r>
              <a:rPr lang="en-US" altLang="ko-KR" dirty="0"/>
              <a:t>(</a:t>
            </a:r>
            <a:r>
              <a:rPr lang="en-US" altLang="ko-KR" sz="3200" dirty="0"/>
              <a:t>overriding)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9F479F-1544-43CE-9BB9-EDFD8F1A3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</a:rPr>
              <a:t>함수의 </a:t>
            </a:r>
            <a:r>
              <a:rPr lang="ko-KR" altLang="en-US" sz="1600" dirty="0" err="1">
                <a:solidFill>
                  <a:srgbClr val="C00000"/>
                </a:solidFill>
              </a:rPr>
              <a:t>오버라이딩</a:t>
            </a:r>
            <a:r>
              <a:rPr lang="ko-KR" altLang="en-US" sz="1600" dirty="0">
                <a:solidFill>
                  <a:srgbClr val="C00000"/>
                </a:solidFill>
              </a:rPr>
              <a:t> </a:t>
            </a:r>
            <a:r>
              <a:rPr lang="en-US" altLang="ko-KR" sz="1600" dirty="0">
                <a:solidFill>
                  <a:srgbClr val="C00000"/>
                </a:solidFill>
              </a:rPr>
              <a:t>: </a:t>
            </a:r>
            <a:r>
              <a:rPr lang="ko-KR" altLang="en-US" sz="1600" dirty="0"/>
              <a:t>기반 클래스에 정의되어 있는 </a:t>
            </a:r>
            <a:r>
              <a:rPr lang="ko-KR" altLang="en-US" sz="1600" b="1" dirty="0"/>
              <a:t>함수</a:t>
            </a:r>
            <a:r>
              <a:rPr lang="ko-KR" altLang="en-US" sz="1600" dirty="0"/>
              <a:t>와 </a:t>
            </a:r>
            <a:r>
              <a:rPr lang="ko-KR" altLang="en-US" sz="1600" b="1" dirty="0">
                <a:solidFill>
                  <a:srgbClr val="C00000"/>
                </a:solidFill>
              </a:rPr>
              <a:t>동일한 형태</a:t>
            </a:r>
            <a:r>
              <a:rPr lang="ko-KR" altLang="en-US" sz="1600" b="1" dirty="0"/>
              <a:t>로 파생 클래스에서 다시 정의</a:t>
            </a:r>
            <a:r>
              <a:rPr lang="ko-KR" altLang="en-US" sz="1600" dirty="0"/>
              <a:t>하는 것 </a:t>
            </a:r>
            <a:endParaRPr lang="en-US" altLang="ko-KR" sz="1600" dirty="0"/>
          </a:p>
          <a:p>
            <a:r>
              <a:rPr lang="ko-KR" altLang="en-US" sz="1600" dirty="0"/>
              <a:t>이때 기반 클래스에 정의되어 있는 </a:t>
            </a:r>
            <a:r>
              <a:rPr lang="ko-KR" altLang="en-US" sz="1600" b="1" dirty="0"/>
              <a:t>함수의 원형과 동일한 형태</a:t>
            </a:r>
            <a:r>
              <a:rPr lang="ko-KR" altLang="en-US" sz="1600" dirty="0"/>
              <a:t>로 정의해야 한다</a:t>
            </a:r>
            <a:r>
              <a:rPr lang="en-US" altLang="ko-KR" sz="1600" dirty="0"/>
              <a:t>.</a:t>
            </a:r>
          </a:p>
          <a:p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E96827-42BF-4AF2-9213-6A2E085EB1B3}"/>
              </a:ext>
            </a:extLst>
          </p:cNvPr>
          <p:cNvSpPr/>
          <p:nvPr/>
        </p:nvSpPr>
        <p:spPr>
          <a:xfrm>
            <a:off x="1097432" y="2206293"/>
            <a:ext cx="4390398" cy="280076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D5C819-E8C4-44AC-A789-F04B2A27B37C}"/>
              </a:ext>
            </a:extLst>
          </p:cNvPr>
          <p:cNvSpPr/>
          <p:nvPr/>
        </p:nvSpPr>
        <p:spPr>
          <a:xfrm>
            <a:off x="5909344" y="2206293"/>
            <a:ext cx="5402511" cy="415498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: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{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obj;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obj.Show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호출함수는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?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816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함수의 </a:t>
            </a:r>
            <a:r>
              <a:rPr lang="ko-KR" altLang="en-US" dirty="0" err="1"/>
              <a:t>오버라이딩</a:t>
            </a:r>
            <a:r>
              <a:rPr lang="en-US" altLang="ko-KR" dirty="0"/>
              <a:t>(</a:t>
            </a:r>
            <a:r>
              <a:rPr lang="en-US" altLang="ko-KR" sz="3200" dirty="0"/>
              <a:t>overriding)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 err="1"/>
              <a:t>오버라이딩되어</a:t>
            </a:r>
            <a:r>
              <a:rPr lang="ko-KR" altLang="en-US" sz="1600" dirty="0"/>
              <a:t> 은폐된 </a:t>
            </a:r>
            <a:r>
              <a:rPr lang="ko-KR" altLang="en-US" sz="1600" b="1" dirty="0"/>
              <a:t>기반 클래스의 멤버함수</a:t>
            </a:r>
            <a:r>
              <a:rPr lang="ko-KR" altLang="en-US" sz="1600" dirty="0"/>
              <a:t>가 수행되어야 한다면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다음 예처럼 기반 클래스명을 </a:t>
            </a:r>
            <a:r>
              <a:rPr lang="ko-KR" altLang="en-US" sz="1600" dirty="0" err="1"/>
              <a:t>스코프</a:t>
            </a:r>
            <a:r>
              <a:rPr lang="ko-KR" altLang="en-US" sz="1600" dirty="0"/>
              <a:t> 연산자</a:t>
            </a:r>
            <a:r>
              <a:rPr lang="en-US" altLang="ko-KR" sz="1600" dirty="0"/>
              <a:t>(::)</a:t>
            </a:r>
            <a:r>
              <a:rPr lang="ko-KR" altLang="en-US" sz="1600" dirty="0"/>
              <a:t>와 함께 </a:t>
            </a:r>
            <a:r>
              <a:rPr lang="ko-KR" altLang="en-US" sz="1600" dirty="0" err="1"/>
              <a:t>함수명</a:t>
            </a:r>
            <a:r>
              <a:rPr lang="ko-KR" altLang="en-US" sz="1600" dirty="0"/>
              <a:t> 앞에 </a:t>
            </a:r>
            <a:r>
              <a:rPr lang="ko-KR" altLang="en-US" sz="1600" b="1" dirty="0"/>
              <a:t>명시적으로 기술</a:t>
            </a:r>
            <a:r>
              <a:rPr lang="ko-KR" altLang="en-US" sz="1600" dirty="0"/>
              <a:t>해서 호출해야 한다</a:t>
            </a:r>
            <a:r>
              <a:rPr lang="en-US" altLang="ko-KR" sz="1600" dirty="0"/>
              <a:t>.</a:t>
            </a:r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139377" y="2248238"/>
            <a:ext cx="4390398" cy="304698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951289" y="2248238"/>
            <a:ext cx="5402511" cy="329320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: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derivNum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425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상속관계의</a:t>
            </a:r>
            <a:r>
              <a:rPr lang="en-US" altLang="ko-KR" dirty="0"/>
              <a:t>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형변환</a:t>
            </a:r>
            <a:endParaRPr lang="en-US" altLang="ko-KR" sz="1800" dirty="0"/>
          </a:p>
          <a:p>
            <a:pPr lvl="1"/>
            <a:r>
              <a:rPr lang="en-US" altLang="ko-KR" sz="1400" dirty="0"/>
              <a:t>C++</a:t>
            </a:r>
            <a:r>
              <a:rPr lang="ko-KR" altLang="en-US" sz="1400" dirty="0"/>
              <a:t>에서 서로 다른 </a:t>
            </a:r>
            <a:r>
              <a:rPr lang="ko-KR" altLang="en-US" sz="1400" dirty="0" err="1"/>
              <a:t>자료형에</a:t>
            </a:r>
            <a:r>
              <a:rPr lang="ko-KR" altLang="en-US" sz="1400" dirty="0"/>
              <a:t> 대해서 대입 연산을 할 경우 </a:t>
            </a:r>
            <a:r>
              <a:rPr lang="ko-KR" altLang="en-US" sz="1400" b="1" dirty="0" err="1"/>
              <a:t>형변환</a:t>
            </a:r>
            <a:r>
              <a:rPr lang="ko-KR" altLang="en-US" sz="1400" dirty="0" err="1"/>
              <a:t>이</a:t>
            </a:r>
            <a:r>
              <a:rPr lang="ko-KR" altLang="en-US" sz="1400" dirty="0"/>
              <a:t> 일어난다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r>
              <a:rPr lang="ko-KR" altLang="en-US" sz="1800" dirty="0"/>
              <a:t>상속관계에서의 </a:t>
            </a:r>
            <a:r>
              <a:rPr lang="ko-KR" altLang="en-US" sz="1800" dirty="0" err="1"/>
              <a:t>형변환</a:t>
            </a:r>
            <a:r>
              <a:rPr lang="en-US" altLang="ko-KR" sz="1800" dirty="0"/>
              <a:t>. </a:t>
            </a:r>
          </a:p>
          <a:p>
            <a:pPr lvl="1"/>
            <a:r>
              <a:rPr lang="ko-KR" altLang="en-US" sz="1400" b="1" dirty="0"/>
              <a:t>상속 관계에 있는 클래스 사이</a:t>
            </a:r>
            <a:r>
              <a:rPr lang="ko-KR" altLang="en-US" sz="1400" dirty="0"/>
              <a:t>의 형변환은 </a:t>
            </a:r>
            <a:r>
              <a:rPr lang="ko-KR" altLang="en-US" sz="1400" b="1" dirty="0"/>
              <a:t>업 캐스팅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UpCasting</a:t>
            </a:r>
            <a:r>
              <a:rPr lang="en-US" altLang="ko-KR" sz="1400" dirty="0"/>
              <a:t>)</a:t>
            </a:r>
            <a:r>
              <a:rPr lang="ko-KR" altLang="en-US" sz="1400" dirty="0"/>
              <a:t>과 </a:t>
            </a:r>
            <a:r>
              <a:rPr lang="ko-KR" altLang="en-US" sz="1400" b="1" dirty="0"/>
              <a:t>다운 캐스팅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DownCasting</a:t>
            </a:r>
            <a:r>
              <a:rPr lang="en-US" altLang="ko-KR" sz="1400" dirty="0"/>
              <a:t>)</a:t>
            </a:r>
            <a:r>
              <a:rPr lang="ko-KR" altLang="en-US" sz="1400" dirty="0"/>
              <a:t>로 구분</a:t>
            </a:r>
            <a:r>
              <a:rPr lang="en-US" altLang="ko-KR" sz="1400" dirty="0"/>
              <a:t>.</a:t>
            </a:r>
            <a:endParaRPr lang="en-US" altLang="ko-KR" sz="1400" b="1" dirty="0"/>
          </a:p>
          <a:p>
            <a:pPr lvl="1"/>
            <a:r>
              <a:rPr lang="ko-KR" altLang="en-US" sz="1400" b="1" dirty="0"/>
              <a:t>기반 클래스의 포인터</a:t>
            </a:r>
            <a:r>
              <a:rPr lang="ko-KR" altLang="en-US" sz="1400" dirty="0"/>
              <a:t> 변수가 </a:t>
            </a:r>
            <a:r>
              <a:rPr lang="ko-KR" altLang="en-US" sz="1400" b="1" dirty="0"/>
              <a:t>파생 클래스의 인스턴스를 가리킬 </a:t>
            </a:r>
            <a:r>
              <a:rPr lang="ko-KR" altLang="en-US" sz="1400" dirty="0"/>
              <a:t>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이를 </a:t>
            </a:r>
            <a:r>
              <a:rPr lang="ko-KR" altLang="en-US" sz="1400" dirty="0">
                <a:solidFill>
                  <a:srgbClr val="C00000"/>
                </a:solidFill>
              </a:rPr>
              <a:t>업 캐스팅</a:t>
            </a:r>
            <a:r>
              <a:rPr lang="ko-KR" altLang="en-US" sz="1400" dirty="0"/>
              <a:t>이라 하며</a:t>
            </a:r>
            <a:endParaRPr lang="en-US" altLang="ko-KR" sz="1400" dirty="0"/>
          </a:p>
          <a:p>
            <a:pPr lvl="1"/>
            <a:r>
              <a:rPr lang="ko-KR" altLang="en-US" sz="1400" dirty="0"/>
              <a:t>컴파일러에서 </a:t>
            </a:r>
            <a:r>
              <a:rPr lang="ko-KR" altLang="en-US" sz="1400" b="1" dirty="0">
                <a:solidFill>
                  <a:srgbClr val="C00000"/>
                </a:solidFill>
              </a:rPr>
              <a:t>자동으로 </a:t>
            </a:r>
            <a:r>
              <a:rPr lang="ko-KR" altLang="en-US" sz="1400" dirty="0">
                <a:solidFill>
                  <a:srgbClr val="C00000"/>
                </a:solidFill>
              </a:rPr>
              <a:t>형변환</a:t>
            </a:r>
            <a:r>
              <a:rPr lang="ko-KR" altLang="en-US" sz="1400" dirty="0"/>
              <a:t>이 이루어진다</a:t>
            </a:r>
            <a:r>
              <a:rPr lang="en-US" altLang="ko-KR" sz="1400" dirty="0"/>
              <a:t>. (</a:t>
            </a:r>
            <a:r>
              <a:rPr lang="ko-KR" altLang="en-US" sz="1400" dirty="0"/>
              <a:t>기반클래스로 파생클래스를 </a:t>
            </a:r>
            <a:r>
              <a:rPr lang="ko-KR" altLang="en-US" sz="1400" dirty="0" err="1"/>
              <a:t>가르키는</a:t>
            </a:r>
            <a:r>
              <a:rPr lang="ko-KR" altLang="en-US" sz="1400" dirty="0"/>
              <a:t> 것</a:t>
            </a:r>
            <a:r>
              <a:rPr lang="en-US" altLang="ko-KR" sz="1400" dirty="0"/>
              <a:t>)</a:t>
            </a:r>
          </a:p>
          <a:p>
            <a:pPr lvl="1"/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457325" y="2048601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5;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 = 10.6;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 =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묵시적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)d;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명시적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57324" y="4749741"/>
            <a:ext cx="73007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base;	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기반클래스로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 = &amp;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	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업 캐스트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기반클래스로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형변환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endParaRPr lang="en-US" altLang="ko-KR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 = new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17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 캐스팅과 다운 캐스팅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업 캐스팅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업 캐스팅은 파생 객체의 포인터가 </a:t>
            </a:r>
            <a:r>
              <a:rPr lang="ko-KR" altLang="en-US" sz="1600" b="1" dirty="0"/>
              <a:t>기반 객체의 포인터로 </a:t>
            </a:r>
            <a:r>
              <a:rPr lang="ko-KR" altLang="en-US" sz="1600" b="1" dirty="0" err="1"/>
              <a:t>형변환</a:t>
            </a:r>
            <a:r>
              <a:rPr lang="ko-KR" altLang="en-US" sz="1600" dirty="0" err="1"/>
              <a:t>하는</a:t>
            </a:r>
            <a:r>
              <a:rPr lang="ko-KR" altLang="en-US" sz="1600" dirty="0"/>
              <a:t> 것이다</a:t>
            </a:r>
            <a:r>
              <a:rPr lang="en-US" altLang="ko-KR" sz="1600" dirty="0"/>
              <a:t>.</a:t>
            </a:r>
            <a:endParaRPr lang="en-US" altLang="ko-KR" sz="1200" dirty="0"/>
          </a:p>
          <a:p>
            <a:pPr lvl="1"/>
            <a:r>
              <a:rPr lang="ko-KR" altLang="en-US" sz="1600" dirty="0">
                <a:solidFill>
                  <a:srgbClr val="C00000"/>
                </a:solidFill>
              </a:rPr>
              <a:t>업 캐스팅</a:t>
            </a:r>
            <a:r>
              <a:rPr lang="ko-KR" altLang="en-US" sz="1600" dirty="0"/>
              <a:t>은 컴파일러에 의해서 </a:t>
            </a:r>
            <a:r>
              <a:rPr lang="ko-KR" altLang="en-US" sz="1600" dirty="0">
                <a:solidFill>
                  <a:srgbClr val="C00000"/>
                </a:solidFill>
              </a:rPr>
              <a:t>자동 </a:t>
            </a:r>
            <a:r>
              <a:rPr lang="ko-KR" altLang="en-US" sz="1600" dirty="0" err="1">
                <a:solidFill>
                  <a:srgbClr val="C00000"/>
                </a:solidFill>
              </a:rPr>
              <a:t>형변환된다</a:t>
            </a:r>
            <a:r>
              <a:rPr lang="en-US" altLang="ko-KR" sz="1600" dirty="0"/>
              <a:t>. (</a:t>
            </a:r>
            <a:r>
              <a:rPr lang="ko-KR" altLang="en-US" sz="1600" dirty="0"/>
              <a:t>부모 형식으로 선언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업 캐스팅을 하면 </a:t>
            </a:r>
            <a:r>
              <a:rPr lang="ko-KR" altLang="en-US" sz="1600" b="1" dirty="0"/>
              <a:t>참조 가능한 영역</a:t>
            </a:r>
            <a:r>
              <a:rPr lang="ko-KR" altLang="en-US" sz="1600" dirty="0"/>
              <a:t>이 </a:t>
            </a:r>
            <a:r>
              <a:rPr lang="ko-KR" altLang="en-US" sz="1600" b="1" dirty="0"/>
              <a:t>축소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>
              <a:buFont typeface="Wingdings" pitchFamily="2" charset="2"/>
              <a:buChar char=""/>
            </a:pPr>
            <a:endParaRPr lang="en-US" altLang="ko-KR" sz="1600" dirty="0"/>
          </a:p>
          <a:p>
            <a:r>
              <a:rPr lang="ko-KR" altLang="en-US" sz="1800" b="1" dirty="0"/>
              <a:t>다운 캐스팅</a:t>
            </a:r>
            <a:endParaRPr lang="en-US" altLang="ko-KR" sz="1800" b="1" dirty="0"/>
          </a:p>
          <a:p>
            <a:pPr lvl="1"/>
            <a:r>
              <a:rPr lang="ko-KR" altLang="en-US" sz="1600" b="1" dirty="0"/>
              <a:t>파생 클래스로 선언된 포인터 </a:t>
            </a:r>
            <a:r>
              <a:rPr lang="ko-KR" altLang="en-US" sz="1600" dirty="0"/>
              <a:t>변수에 기반 클래스로 선언된 객체의 주소를 저장하는 것</a:t>
            </a:r>
            <a:endParaRPr lang="en-US" altLang="ko-KR" sz="1600" dirty="0"/>
          </a:p>
          <a:p>
            <a:pPr lvl="1"/>
            <a:r>
              <a:rPr lang="ko-KR" altLang="en-US" sz="1600" dirty="0">
                <a:solidFill>
                  <a:srgbClr val="C00000"/>
                </a:solidFill>
              </a:rPr>
              <a:t>다운 캐스팅</a:t>
            </a:r>
            <a:r>
              <a:rPr lang="ko-KR" altLang="en-US" sz="1600" dirty="0"/>
              <a:t>에 대해서는 컴파일러가 </a:t>
            </a:r>
            <a:r>
              <a:rPr lang="ko-KR" altLang="en-US" sz="1600" b="1" dirty="0"/>
              <a:t>자동으로 </a:t>
            </a:r>
            <a:r>
              <a:rPr lang="ko-KR" altLang="en-US" sz="1600" b="1" dirty="0" err="1"/>
              <a:t>형변환하지</a:t>
            </a:r>
            <a:r>
              <a:rPr lang="ko-KR" altLang="en-US" sz="1600" b="1" dirty="0"/>
              <a:t> 않기</a:t>
            </a:r>
            <a:r>
              <a:rPr lang="ko-KR" altLang="en-US" sz="1600" dirty="0"/>
              <a:t> 때문에 </a:t>
            </a:r>
            <a:r>
              <a:rPr lang="ko-KR" altLang="en-US" sz="1600" dirty="0">
                <a:solidFill>
                  <a:srgbClr val="FF0000"/>
                </a:solidFill>
              </a:rPr>
              <a:t>컴파일 에러</a:t>
            </a:r>
            <a:r>
              <a:rPr lang="ko-KR" altLang="en-US" sz="1600" dirty="0"/>
              <a:t>가 발생한다</a:t>
            </a:r>
            <a:r>
              <a:rPr lang="en-US" altLang="ko-KR" sz="1600" dirty="0"/>
              <a:t>.</a:t>
            </a:r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605332" y="5067881"/>
            <a:ext cx="6096000" cy="5847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base;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 = &amp;base; 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다운 캐스트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//error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937FD5-0069-4329-9F56-7249E9546FAC}"/>
              </a:ext>
            </a:extLst>
          </p:cNvPr>
          <p:cNvSpPr/>
          <p:nvPr/>
        </p:nvSpPr>
        <p:spPr>
          <a:xfrm>
            <a:off x="1605332" y="2840789"/>
            <a:ext cx="6096000" cy="5847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derived;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base = &amp;derived; 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업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캐스트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//ok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57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다운 캐스팅을 위한 강제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다운 캐스팅을 위한 강제 </a:t>
            </a:r>
            <a:r>
              <a:rPr lang="ko-KR" altLang="en-US" sz="1800" dirty="0" err="1"/>
              <a:t>형변환</a:t>
            </a:r>
            <a:endParaRPr lang="en-US" altLang="ko-KR" sz="1800" dirty="0"/>
          </a:p>
          <a:p>
            <a:pPr lvl="1"/>
            <a:r>
              <a:rPr lang="ko-KR" altLang="en-US" sz="1600" dirty="0"/>
              <a:t>컴파일러에 의해서 자동으로 다운 캐스팅되지는 않지만 </a:t>
            </a:r>
            <a:endParaRPr lang="en-US" altLang="ko-KR" sz="1600" dirty="0"/>
          </a:p>
          <a:p>
            <a:pPr lvl="1"/>
            <a:r>
              <a:rPr lang="ko-KR" altLang="en-US" sz="1600" b="1" dirty="0"/>
              <a:t>명시적으로</a:t>
            </a:r>
            <a:r>
              <a:rPr lang="ko-KR" altLang="en-US" sz="1600" dirty="0"/>
              <a:t> 캐스트 연산자를 기술해서 강제로 </a:t>
            </a:r>
            <a:r>
              <a:rPr lang="ko-KR" altLang="en-US" sz="1600" dirty="0" err="1"/>
              <a:t>형변환을</a:t>
            </a:r>
            <a:r>
              <a:rPr lang="ko-KR" altLang="en-US" sz="1600" dirty="0"/>
              <a:t> 하는 경우에 다운 캐스팅을 </a:t>
            </a:r>
            <a:r>
              <a:rPr lang="ko-KR" altLang="en-US" sz="1600" b="1" dirty="0"/>
              <a:t>허용</a:t>
            </a:r>
            <a:r>
              <a:rPr lang="ko-KR" altLang="en-US" sz="1600" dirty="0"/>
              <a:t>해 준다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r>
              <a:rPr lang="ko-KR" altLang="en-US" sz="1600" dirty="0"/>
              <a:t>다운 캐스팅을 할 때는 강제 </a:t>
            </a:r>
            <a:r>
              <a:rPr lang="ko-KR" altLang="en-US" sz="1600" dirty="0" err="1"/>
              <a:t>형변환을</a:t>
            </a:r>
            <a:r>
              <a:rPr lang="ko-KR" altLang="en-US" sz="1600" dirty="0"/>
              <a:t> 해서 컴파일 에러를 피할 수 있지만 </a:t>
            </a:r>
            <a:endParaRPr lang="en-US" altLang="ko-KR" sz="1600" dirty="0"/>
          </a:p>
          <a:p>
            <a:pPr lvl="1"/>
            <a:r>
              <a:rPr lang="ko-KR" altLang="en-US" sz="1600" dirty="0"/>
              <a:t>프로그램을 </a:t>
            </a:r>
            <a:r>
              <a:rPr lang="ko-KR" altLang="en-US" sz="1600" b="1" dirty="0"/>
              <a:t>실행할 때 </a:t>
            </a:r>
            <a:r>
              <a:rPr lang="ko-KR" altLang="en-US" sz="1600" dirty="0">
                <a:solidFill>
                  <a:srgbClr val="C00000"/>
                </a:solidFill>
              </a:rPr>
              <a:t>에러</a:t>
            </a:r>
            <a:r>
              <a:rPr lang="ko-KR" altLang="en-US" sz="1600" dirty="0"/>
              <a:t>가 발생하므로 한번 업 캐스팅이 된 객체만 다운 캐스팅해야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/>
            <a:endParaRPr lang="en-US" altLang="ko-KR" sz="16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452804" y="2460522"/>
            <a:ext cx="73342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base;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 = 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 &amp;base;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명시적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다운캐스트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452804" y="4620157"/>
            <a:ext cx="7467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다운캐스트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-&gt;Base();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-&gt;Derived();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실행시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error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195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업캐스팅과</a:t>
            </a:r>
            <a:r>
              <a:rPr lang="ko-KR" altLang="en-US" dirty="0"/>
              <a:t> 다운캐스팅의 메모리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생성될</a:t>
            </a:r>
            <a:r>
              <a:rPr lang="en-US" altLang="ko-KR" sz="1800" dirty="0"/>
              <a:t> </a:t>
            </a:r>
            <a:r>
              <a:rPr lang="ko-KR" altLang="en-US" sz="1800" dirty="0"/>
              <a:t>당시 메모리 공간과</a:t>
            </a:r>
            <a:endParaRPr lang="en-US" altLang="ko-KR" sz="1800" dirty="0"/>
          </a:p>
          <a:p>
            <a:r>
              <a:rPr lang="ko-KR" altLang="en-US" sz="1800" dirty="0"/>
              <a:t>업캐스팅과 다운캐스팅을 통해서 접근하는 공간을 구분하자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5" name="직사각형 4"/>
          <p:cNvSpPr/>
          <p:nvPr/>
        </p:nvSpPr>
        <p:spPr>
          <a:xfrm>
            <a:off x="4204334" y="3056476"/>
            <a:ext cx="3629025" cy="9964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CBase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Base() { 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04334" y="4052960"/>
            <a:ext cx="3629025" cy="9964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CDrived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Drived</a:t>
            </a:r>
            <a:r>
              <a:rPr lang="en-US" altLang="ko-KR" dirty="0">
                <a:solidFill>
                  <a:schemeClr val="tx1"/>
                </a:solidFill>
              </a:rPr>
              <a:t>() { 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71550" y="2422562"/>
            <a:ext cx="10134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다운캐스트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645143" y="3277717"/>
            <a:ext cx="19438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endParaRPr lang="en-US" altLang="ko-KR" dirty="0">
              <a:solidFill>
                <a:srgbClr val="FF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가리키는 범위</a:t>
            </a:r>
            <a:endParaRPr lang="en-US" altLang="ko-KR" dirty="0">
              <a:solidFill>
                <a:srgbClr val="FF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접근영역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741285" y="3231551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ea typeface="돋움체" panose="020B0609000101010101" pitchFamily="49" charset="-127"/>
              </a:rPr>
              <a:t>생성된부분</a:t>
            </a:r>
            <a:endParaRPr lang="en-US" altLang="ko-KR" dirty="0">
              <a:solidFill>
                <a:srgbClr val="FF0000"/>
              </a:solidFill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FF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왼쪽 중괄호 9"/>
          <p:cNvSpPr/>
          <p:nvPr/>
        </p:nvSpPr>
        <p:spPr>
          <a:xfrm>
            <a:off x="3537585" y="3056476"/>
            <a:ext cx="285750" cy="19929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중괄호 10"/>
          <p:cNvSpPr/>
          <p:nvPr/>
        </p:nvSpPr>
        <p:spPr>
          <a:xfrm>
            <a:off x="8184013" y="3056476"/>
            <a:ext cx="323850" cy="9964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971550" y="5301610"/>
            <a:ext cx="93306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-&gt;Derived();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생성되지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않은 부분을 접근하면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error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가 발생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46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상속관계의 형 변환 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업 캐스팅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업 캐스팅은 파생 객체의 포인터가 </a:t>
            </a:r>
            <a:r>
              <a:rPr lang="ko-KR" altLang="en-US" sz="1600" b="1" dirty="0"/>
              <a:t>기반 객체의 포인터로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형변환하는</a:t>
            </a:r>
            <a:r>
              <a:rPr lang="ko-KR" altLang="en-US" sz="1600" dirty="0"/>
              <a:t> 것이다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업 캐스팅을 하면 </a:t>
            </a:r>
            <a:r>
              <a:rPr lang="ko-KR" altLang="en-US" sz="1600" b="1" dirty="0"/>
              <a:t>참조 가능한 영역</a:t>
            </a:r>
            <a:r>
              <a:rPr lang="ko-KR" altLang="en-US" sz="1600" dirty="0"/>
              <a:t>이 </a:t>
            </a:r>
            <a:r>
              <a:rPr lang="ko-KR" altLang="en-US" sz="1600" b="1" dirty="0"/>
              <a:t>축소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업 캐스팅은 컴파일러에 의해서 </a:t>
            </a:r>
            <a:r>
              <a:rPr lang="ko-KR" altLang="en-US" sz="1600" b="1" dirty="0"/>
              <a:t>자동</a:t>
            </a:r>
            <a:r>
              <a:rPr lang="ko-KR" altLang="en-US" sz="1600" dirty="0"/>
              <a:t> </a:t>
            </a:r>
            <a:r>
              <a:rPr lang="ko-KR" altLang="en-US" sz="1600" b="1" dirty="0" err="1"/>
              <a:t>형변환</a:t>
            </a:r>
            <a:r>
              <a:rPr lang="ko-KR" altLang="en-US" sz="1600" dirty="0" err="1"/>
              <a:t>된다</a:t>
            </a:r>
            <a:r>
              <a:rPr lang="en-US" altLang="ko-KR" sz="16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다운 캐스팅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다운 캐스팅은 </a:t>
            </a:r>
            <a:r>
              <a:rPr lang="ko-KR" altLang="en-US" sz="1600" b="1" dirty="0"/>
              <a:t>파생 클래스로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형변환하는</a:t>
            </a:r>
            <a:r>
              <a:rPr lang="ko-KR" altLang="en-US" sz="1600" dirty="0"/>
              <a:t> 것이다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다운 캐스팅은 </a:t>
            </a:r>
            <a:r>
              <a:rPr lang="ko-KR" altLang="en-US" sz="1600" b="1" dirty="0"/>
              <a:t>참조 가능한 영역</a:t>
            </a:r>
            <a:r>
              <a:rPr lang="ko-KR" altLang="en-US" sz="1600" dirty="0"/>
              <a:t>이 </a:t>
            </a:r>
            <a:r>
              <a:rPr lang="ko-KR" altLang="en-US" sz="1600" b="1" dirty="0"/>
              <a:t>확대</a:t>
            </a:r>
            <a:r>
              <a:rPr lang="ko-KR" altLang="en-US" sz="1600" dirty="0"/>
              <a:t>되는 것을 의미한다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다운 캐스팅에 대해서는 컴파일러가 자동으로 </a:t>
            </a:r>
            <a:r>
              <a:rPr lang="ko-KR" altLang="en-US" sz="1600" dirty="0" err="1"/>
              <a:t>형변환하지</a:t>
            </a:r>
            <a:r>
              <a:rPr lang="ko-KR" altLang="en-US" sz="1600" dirty="0"/>
              <a:t> 않는다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/>
              <a:t>다운 캐스팅은 프로그래머가 </a:t>
            </a:r>
            <a:r>
              <a:rPr lang="ko-KR" altLang="en-US" sz="1600" b="1" dirty="0"/>
              <a:t>명시적으로</a:t>
            </a:r>
            <a:r>
              <a:rPr lang="ko-KR" altLang="en-US" sz="1600" dirty="0"/>
              <a:t> </a:t>
            </a:r>
            <a:r>
              <a:rPr lang="ko-KR" altLang="en-US" sz="1600" b="1" dirty="0"/>
              <a:t>형변환해야만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컴파일상의</a:t>
            </a:r>
            <a:r>
              <a:rPr lang="ko-KR" altLang="en-US" sz="1600" dirty="0"/>
              <a:t> 에러를 방지할 수 있다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"/>
            </a:pPr>
            <a:r>
              <a:rPr lang="ko-KR" altLang="en-US" sz="1600" dirty="0"/>
              <a:t>다운 캐스팅은 강제 </a:t>
            </a:r>
            <a:r>
              <a:rPr lang="ko-KR" altLang="en-US" sz="1600" dirty="0" err="1"/>
              <a:t>형변환한</a:t>
            </a:r>
            <a:r>
              <a:rPr lang="ko-KR" altLang="en-US" sz="1600" dirty="0"/>
              <a:t> 후에도 실행 시 예외사항이 발생할 수 있으므로 인스턴스의 </a:t>
            </a:r>
            <a:r>
              <a:rPr lang="ko-KR" altLang="en-US" sz="1600" dirty="0" err="1"/>
              <a:t>클래스형과</a:t>
            </a:r>
            <a:r>
              <a:rPr lang="ko-KR" altLang="en-US" sz="1600" dirty="0"/>
              <a:t> 참조하는 포인터 변수의 상속 관계를 생각해서 명시적 </a:t>
            </a:r>
            <a:r>
              <a:rPr lang="ko-KR" altLang="en-US" sz="1600" dirty="0" err="1"/>
              <a:t>형변환을</a:t>
            </a:r>
            <a:r>
              <a:rPr lang="ko-KR" altLang="en-US" sz="1600" dirty="0"/>
              <a:t> 해야 한다 </a:t>
            </a:r>
            <a:r>
              <a:rPr lang="en-US" altLang="ko-KR" sz="1600" dirty="0"/>
              <a:t>(</a:t>
            </a:r>
            <a:r>
              <a:rPr lang="ko-KR" altLang="en-US" sz="1600" dirty="0"/>
              <a:t>한번 업 캐스팅이 된 포인터 값을 다운 캐스팅하는 경우에만 안전하다</a:t>
            </a:r>
            <a:r>
              <a:rPr lang="en-US" altLang="ko-KR" sz="1600" dirty="0"/>
              <a:t>).</a:t>
            </a:r>
            <a:r>
              <a:rPr lang="ko-KR" altLang="en-US" sz="1600" dirty="0"/>
              <a:t>	</a:t>
            </a:r>
            <a:endParaRPr lang="en-US" altLang="ko-KR" sz="1600" dirty="0"/>
          </a:p>
          <a:p>
            <a:endParaRPr lang="ko-KR" altLang="en-US" sz="1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A9B795-F4BC-4C6B-AB1F-FABF9C3E98B6}"/>
              </a:ext>
            </a:extLst>
          </p:cNvPr>
          <p:cNvSpPr/>
          <p:nvPr/>
        </p:nvSpPr>
        <p:spPr>
          <a:xfrm>
            <a:off x="9664117" y="1937857"/>
            <a:ext cx="1124125" cy="469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Base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92CAEC-F496-420C-B952-B2E5B9FEEFF9}"/>
              </a:ext>
            </a:extLst>
          </p:cNvPr>
          <p:cNvSpPr/>
          <p:nvPr/>
        </p:nvSpPr>
        <p:spPr>
          <a:xfrm>
            <a:off x="9664117" y="3194108"/>
            <a:ext cx="1124125" cy="469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Derived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D4D3040-81B4-4434-B024-89C590ED9A94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10226179" y="2407640"/>
            <a:ext cx="1" cy="7864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093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업 캐스팅과 </a:t>
            </a:r>
            <a:r>
              <a:rPr lang="ko-KR" altLang="en-US" dirty="0" err="1"/>
              <a:t>멤버함수</a:t>
            </a:r>
            <a:r>
              <a:rPr lang="ko-KR" altLang="en-US" dirty="0"/>
              <a:t> </a:t>
            </a:r>
            <a:r>
              <a:rPr lang="ko-KR" altLang="en-US" dirty="0" err="1"/>
              <a:t>오버라이딩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기반 클래스의 멤버함수를 파생 클래스에서 </a:t>
            </a:r>
            <a:r>
              <a:rPr lang="ko-KR" altLang="en-US" sz="1400" b="1" dirty="0"/>
              <a:t>오버라이딩</a:t>
            </a:r>
            <a:r>
              <a:rPr lang="ko-KR" altLang="en-US" sz="1400" dirty="0"/>
              <a:t>해 보자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r>
              <a:rPr lang="ko-KR" altLang="en-US" sz="1400" dirty="0"/>
              <a:t>파생 클래스로 객체를 생성해서 기반 </a:t>
            </a:r>
            <a:r>
              <a:rPr lang="ko-KR" altLang="en-US" sz="1400" dirty="0" err="1"/>
              <a:t>클래스형</a:t>
            </a:r>
            <a:r>
              <a:rPr lang="ko-KR" altLang="en-US" sz="1400" dirty="0"/>
              <a:t> 포인터 변수가 가리키도록 한다</a:t>
            </a:r>
            <a:r>
              <a:rPr lang="en-US" altLang="ko-KR" sz="1400" dirty="0"/>
              <a:t>. </a:t>
            </a:r>
            <a:r>
              <a:rPr lang="ko-KR" altLang="en-US" sz="1400" dirty="0"/>
              <a:t>암시적으로 </a:t>
            </a:r>
            <a:r>
              <a:rPr lang="ko-KR" altLang="en-US" sz="1400" b="1" dirty="0"/>
              <a:t>업 </a:t>
            </a:r>
            <a:r>
              <a:rPr lang="ko-KR" altLang="en-US" sz="1400" b="1" dirty="0" err="1"/>
              <a:t>캐스팅</a:t>
            </a:r>
            <a:r>
              <a:rPr lang="ko-KR" altLang="en-US" sz="1400" dirty="0" err="1"/>
              <a:t>되므로</a:t>
            </a:r>
            <a:r>
              <a:rPr lang="ko-KR" altLang="en-US" sz="1400" dirty="0"/>
              <a:t> 컴파일 에러는 발생하지 않는다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이런 관계에서 오버라이딩된 </a:t>
            </a:r>
            <a:r>
              <a:rPr lang="ko-KR" altLang="en-US" sz="1400" dirty="0" err="1"/>
              <a:t>멤버함수를</a:t>
            </a:r>
            <a:r>
              <a:rPr lang="ko-KR" altLang="en-US" sz="1400" dirty="0"/>
              <a:t> </a:t>
            </a:r>
            <a:r>
              <a:rPr lang="ko-KR" altLang="en-US" sz="1400" b="1" dirty="0"/>
              <a:t>기반 클래스로 선언된 포인터 변수로 호출</a:t>
            </a:r>
            <a:r>
              <a:rPr lang="ko-KR" altLang="en-US" sz="1400" dirty="0"/>
              <a:t>하면</a:t>
            </a:r>
            <a:r>
              <a:rPr lang="en-US" altLang="ko-KR" sz="1400" dirty="0">
                <a:sym typeface="Wingdings"/>
              </a:rPr>
              <a:t> </a:t>
            </a:r>
            <a:r>
              <a:rPr lang="ko-KR" altLang="en-US" sz="1400" dirty="0"/>
              <a:t>파생 클래스의 오버라이딩된 </a:t>
            </a:r>
            <a:r>
              <a:rPr lang="ko-KR" altLang="en-US" sz="1400" dirty="0" err="1"/>
              <a:t>멤버함수가</a:t>
            </a:r>
            <a:r>
              <a:rPr lang="ko-KR" altLang="en-US" sz="1400" dirty="0"/>
              <a:t> 호출되지 못하고 </a:t>
            </a:r>
            <a:r>
              <a:rPr lang="ko-KR" altLang="en-US" sz="1400" b="1" dirty="0"/>
              <a:t>기반 클래스의 멤버 함수</a:t>
            </a:r>
            <a:r>
              <a:rPr lang="ko-KR" altLang="en-US" sz="1400" dirty="0"/>
              <a:t>가 호출된다</a:t>
            </a:r>
            <a:r>
              <a:rPr lang="en-US" altLang="ko-KR" sz="1400" dirty="0"/>
              <a:t>.</a:t>
            </a:r>
          </a:p>
          <a:p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080074" y="1700717"/>
            <a:ext cx="5901751" cy="329320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181851" y="1700717"/>
            <a:ext cx="4171949" cy="255454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실제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무엇을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호출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?</a:t>
            </a:r>
          </a:p>
          <a:p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52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업 캐스팅하기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다운 캐스팅하기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기반 클래스형 포인터 변수로 오버라이딩된 멤버함수 호출하기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18873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동적 바인딩과 </a:t>
            </a:r>
            <a:r>
              <a:rPr lang="ko-KR" altLang="en-US" dirty="0" err="1"/>
              <a:t>가상함수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멤버함수 호출</a:t>
            </a:r>
            <a:r>
              <a:rPr lang="ko-KR" altLang="en-US" sz="1600" dirty="0"/>
              <a:t>하는 객체가 </a:t>
            </a:r>
            <a:r>
              <a:rPr lang="ko-KR" altLang="en-US" sz="1600" b="1" dirty="0" err="1"/>
              <a:t>기반</a:t>
            </a:r>
            <a:r>
              <a:rPr lang="ko-KR" altLang="en-US" sz="1600" dirty="0" err="1"/>
              <a:t>클래스이면</a:t>
            </a:r>
            <a:r>
              <a:rPr lang="ko-KR" altLang="en-US" sz="1600" dirty="0"/>
              <a:t> </a:t>
            </a:r>
            <a:r>
              <a:rPr lang="ko-KR" altLang="en-US" sz="1600" b="1" dirty="0"/>
              <a:t>기반</a:t>
            </a:r>
            <a:r>
              <a:rPr lang="ko-KR" altLang="en-US" sz="1600" dirty="0"/>
              <a:t>클래스</a:t>
            </a:r>
            <a:r>
              <a:rPr lang="en-US" altLang="ko-KR" sz="1600" dirty="0"/>
              <a:t>, </a:t>
            </a:r>
            <a:r>
              <a:rPr lang="ko-KR" altLang="en-US" sz="1600" b="1" dirty="0" err="1"/>
              <a:t>파생</a:t>
            </a:r>
            <a:r>
              <a:rPr lang="ko-KR" altLang="en-US" sz="1600" dirty="0" err="1"/>
              <a:t>클래스이면</a:t>
            </a:r>
            <a:r>
              <a:rPr lang="ko-KR" altLang="en-US" sz="1600" dirty="0"/>
              <a:t> </a:t>
            </a:r>
            <a:r>
              <a:rPr lang="ko-KR" altLang="en-US" sz="1600" b="1" dirty="0"/>
              <a:t>파생</a:t>
            </a:r>
            <a:r>
              <a:rPr lang="ko-KR" altLang="en-US" sz="1600" dirty="0"/>
              <a:t>클래스의 멤버함수가 호출된다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b="1" dirty="0"/>
              <a:t>객체 포인터로</a:t>
            </a:r>
            <a:r>
              <a:rPr lang="ko-KR" altLang="en-US" sz="1600" dirty="0"/>
              <a:t> 접근해 보자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상속관계에 있어 </a:t>
            </a:r>
            <a:r>
              <a:rPr lang="ko-KR" altLang="en-US" sz="1600" b="1" dirty="0">
                <a:solidFill>
                  <a:srgbClr val="C00000"/>
                </a:solidFill>
              </a:rPr>
              <a:t>실 형식</a:t>
            </a:r>
            <a:r>
              <a:rPr lang="en-US" altLang="ko-KR" sz="1600" dirty="0"/>
              <a:t>(</a:t>
            </a:r>
            <a:r>
              <a:rPr lang="ko-KR" altLang="en-US" sz="1600" dirty="0"/>
              <a:t>생성</a:t>
            </a:r>
            <a:r>
              <a:rPr lang="en-US" altLang="ko-KR" sz="1600" dirty="0"/>
              <a:t>)</a:t>
            </a:r>
            <a:r>
              <a:rPr lang="ko-KR" altLang="en-US" sz="1600" dirty="0"/>
              <a:t>과 </a:t>
            </a:r>
            <a:r>
              <a:rPr lang="ko-KR" altLang="en-US" sz="1600" b="1" dirty="0">
                <a:solidFill>
                  <a:srgbClr val="C00000"/>
                </a:solidFill>
              </a:rPr>
              <a:t>선언 형식</a:t>
            </a:r>
            <a:r>
              <a:rPr lang="ko-KR" altLang="en-US" sz="1600" dirty="0"/>
              <a:t>이 다른 경우는</a:t>
            </a:r>
            <a:r>
              <a:rPr lang="en-US" altLang="ko-KR" sz="1600" dirty="0"/>
              <a:t>?</a:t>
            </a:r>
          </a:p>
          <a:p>
            <a:endParaRPr lang="en-US" altLang="ko-KR" sz="1600" dirty="0"/>
          </a:p>
          <a:p>
            <a:pPr marL="457200" lvl="1" indent="0">
              <a:buNone/>
            </a:pP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157504" y="1696970"/>
            <a:ext cx="9058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57503" y="3017747"/>
            <a:ext cx="9058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&amp;x;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&amp;y;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pDrived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57503" y="4676322"/>
            <a:ext cx="90582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</a:t>
            </a: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 = &amp;z; 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p-&gt;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? 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?</a:t>
            </a:r>
            <a:endParaRPr lang="ko-KR" altLang="en-US" sz="1600" dirty="0">
              <a:solidFill>
                <a:srgbClr val="0066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869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FB089-036C-4DA1-B47C-2B78A822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상속관계에서의 접근기준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A2C40-5EB9-4B41-8107-1AC80383C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기반 클래스형 </a:t>
            </a:r>
            <a:r>
              <a:rPr lang="ko-KR" altLang="en-US" sz="1600" b="1" dirty="0"/>
              <a:t>객체 포인터로 접근해서</a:t>
            </a:r>
            <a:r>
              <a:rPr lang="ko-KR" altLang="en-US" sz="1600" dirty="0"/>
              <a:t> </a:t>
            </a:r>
            <a:r>
              <a:rPr lang="ko-KR" altLang="en-US" sz="1600" b="1" dirty="0" err="1"/>
              <a:t>오버라이딩된</a:t>
            </a:r>
            <a:r>
              <a:rPr lang="ko-KR" altLang="en-US" sz="1600" b="1" dirty="0"/>
              <a:t> 멤버함수를 호출</a:t>
            </a:r>
            <a:r>
              <a:rPr lang="ko-KR" altLang="en-US" sz="1600" dirty="0"/>
              <a:t>할 경우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업 캐스팅되었을 때</a:t>
            </a:r>
            <a:r>
              <a:rPr lang="en-US" altLang="ko-KR" sz="1600" dirty="0"/>
              <a:t>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기반 클래스형 포인터 변수에 파생 클래스형 객체의 주소를 저장했을 때</a:t>
            </a:r>
            <a:endParaRPr lang="en-US" altLang="ko-KR" sz="1600" dirty="0"/>
          </a:p>
          <a:p>
            <a:pPr lvl="1">
              <a:buFont typeface="+mj-ea"/>
              <a:buAutoNum type="circleNumDbPlain"/>
            </a:pPr>
            <a:r>
              <a:rPr lang="ko-KR" altLang="en-US" sz="1600" b="1" dirty="0"/>
              <a:t>포인터 변수의 자료형</a:t>
            </a:r>
            <a:r>
              <a:rPr lang="ko-KR" altLang="en-US" sz="1600" dirty="0"/>
              <a:t>을 존중한다면 기반 클래스의 멤버함수 호출</a:t>
            </a:r>
            <a:r>
              <a:rPr lang="en-US" altLang="ko-KR" sz="1600" dirty="0"/>
              <a:t>, </a:t>
            </a:r>
          </a:p>
          <a:p>
            <a:pPr lvl="1">
              <a:buFont typeface="+mj-ea"/>
              <a:buAutoNum type="circleNumDbPlain"/>
            </a:pPr>
            <a:r>
              <a:rPr lang="ko-KR" altLang="en-US" sz="1600" b="1" dirty="0"/>
              <a:t>포인터가 가리키는 객체의 자료형</a:t>
            </a:r>
            <a:r>
              <a:rPr lang="ko-KR" altLang="en-US" sz="1600" dirty="0"/>
              <a:t>을 존중한다면 파생 클래스의 멤버함수 호출</a:t>
            </a:r>
            <a:r>
              <a:rPr lang="en-US" altLang="ko-KR" sz="1600" dirty="0"/>
              <a:t>.</a:t>
            </a:r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endParaRPr lang="en-US" altLang="ko-KR" sz="1800" b="1" dirty="0"/>
          </a:p>
          <a:p>
            <a:r>
              <a:rPr lang="en-US" altLang="ko-KR" sz="1800" dirty="0"/>
              <a:t>C++ </a:t>
            </a:r>
            <a:r>
              <a:rPr lang="ko-KR" altLang="en-US" sz="1800" dirty="0"/>
              <a:t>컴파일러는 </a:t>
            </a:r>
            <a:r>
              <a:rPr lang="ko-KR" altLang="en-US" sz="1800" b="1" dirty="0"/>
              <a:t>포인터를 이용한 연산의 가능성 여부를 판단할 때</a:t>
            </a:r>
            <a:r>
              <a:rPr lang="en-US" altLang="ko-KR" sz="1800" b="1" dirty="0"/>
              <a:t> </a:t>
            </a:r>
          </a:p>
          <a:p>
            <a:pPr lvl="1"/>
            <a:r>
              <a:rPr lang="ko-KR" altLang="en-US" sz="1600" b="1" dirty="0"/>
              <a:t>포인터의 자료형을 기준으로 판단한다</a:t>
            </a:r>
            <a:r>
              <a:rPr lang="en-US" altLang="ko-KR" sz="1600" dirty="0"/>
              <a:t>.     (</a:t>
            </a:r>
            <a:r>
              <a:rPr lang="ko-KR" altLang="en-US" sz="1600" dirty="0">
                <a:solidFill>
                  <a:srgbClr val="C00000"/>
                </a:solidFill>
              </a:rPr>
              <a:t>선언한 자료형이 기준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600" dirty="0"/>
              <a:t>따라서</a:t>
            </a:r>
            <a:r>
              <a:rPr lang="en-US" altLang="ko-KR" sz="1600" dirty="0"/>
              <a:t>,</a:t>
            </a:r>
            <a:r>
              <a:rPr lang="ko-KR" altLang="en-US" sz="1600" dirty="0"/>
              <a:t> 포인터 형에 해당하는 클래스의 멤버에만 접근이 가능하다</a:t>
            </a:r>
            <a:r>
              <a:rPr lang="en-US" altLang="ko-KR" sz="1600" dirty="0"/>
              <a:t>.</a:t>
            </a:r>
          </a:p>
          <a:p>
            <a:pPr lvl="1">
              <a:buFont typeface="+mj-ea"/>
              <a:buAutoNum type="circleNumDbPlain"/>
            </a:pPr>
            <a:endParaRPr lang="en-US" altLang="ko-KR" sz="16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704F19-4830-4FBD-AF0F-25EFB421642F}"/>
              </a:ext>
            </a:extLst>
          </p:cNvPr>
          <p:cNvSpPr/>
          <p:nvPr/>
        </p:nvSpPr>
        <p:spPr>
          <a:xfrm>
            <a:off x="1329777" y="2920900"/>
            <a:ext cx="90582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</a:t>
            </a:r>
          </a:p>
          <a:p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 = &amp;z; p-&gt;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054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바인딩과 </a:t>
            </a:r>
            <a:r>
              <a:rPr lang="ko-KR" altLang="en-US" dirty="0" err="1"/>
              <a:t>동적바인딩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바인딩은 함수 호출을 해당 함수의 정의와 결합해 두는</a:t>
            </a:r>
            <a:r>
              <a:rPr lang="en-US" altLang="ko-KR" sz="1600" dirty="0"/>
              <a:t> </a:t>
            </a:r>
            <a:r>
              <a:rPr lang="ko-KR" altLang="en-US" sz="1600" dirty="0"/>
              <a:t>것</a:t>
            </a:r>
            <a:r>
              <a:rPr lang="en-US" altLang="ko-KR" sz="1600" dirty="0"/>
              <a:t>. </a:t>
            </a:r>
            <a:endParaRPr lang="en-US" altLang="ko-KR" sz="1400" dirty="0"/>
          </a:p>
          <a:p>
            <a:r>
              <a:rPr lang="ko-KR" altLang="en-US" sz="1600" b="1" dirty="0"/>
              <a:t>정적 바인딩</a:t>
            </a:r>
            <a:endParaRPr lang="en-US" altLang="ko-KR" sz="1600" b="1" dirty="0"/>
          </a:p>
          <a:p>
            <a:pPr lvl="1"/>
            <a:r>
              <a:rPr lang="ko-KR" altLang="en-US" sz="1400" b="1" dirty="0"/>
              <a:t>컴파일할 때 미리 호출될 함수를 결정하는 것</a:t>
            </a:r>
            <a:r>
              <a:rPr lang="ko-KR" altLang="en-US" sz="1400" dirty="0"/>
              <a:t>을 </a:t>
            </a:r>
            <a:r>
              <a:rPr lang="en-US" altLang="ko-KR" sz="1400" dirty="0"/>
              <a:t>‘</a:t>
            </a:r>
            <a:r>
              <a:rPr lang="ko-KR" altLang="en-US" sz="1400" dirty="0"/>
              <a:t>정적 바인딩</a:t>
            </a:r>
            <a:r>
              <a:rPr lang="en-US" altLang="ko-KR" sz="1400" dirty="0"/>
              <a:t>(static binding)’ </a:t>
            </a:r>
            <a:r>
              <a:rPr lang="ko-KR" altLang="en-US" sz="1400" dirty="0"/>
              <a:t>또는 </a:t>
            </a:r>
            <a:r>
              <a:rPr lang="en-US" altLang="ko-KR" sz="1400" dirty="0"/>
              <a:t>‘</a:t>
            </a:r>
            <a:r>
              <a:rPr lang="ko-KR" altLang="en-US" sz="1400" dirty="0"/>
              <a:t>이른 바인딩</a:t>
            </a:r>
            <a:r>
              <a:rPr lang="en-US" altLang="ko-KR" sz="1400" dirty="0"/>
              <a:t>(early binding)’</a:t>
            </a:r>
            <a:r>
              <a:rPr lang="ko-KR" altLang="en-US" sz="1400" dirty="0"/>
              <a:t>이라 한다</a:t>
            </a:r>
            <a:r>
              <a:rPr lang="en-US" altLang="ko-KR" sz="1400" dirty="0"/>
              <a:t>.</a:t>
            </a:r>
            <a:endParaRPr lang="en-US" altLang="ko-KR" sz="1200" dirty="0"/>
          </a:p>
          <a:p>
            <a:r>
              <a:rPr lang="ko-KR" altLang="en-US" sz="1600" b="1" dirty="0"/>
              <a:t>동적 바인딩</a:t>
            </a:r>
            <a:endParaRPr lang="en-US" altLang="ko-KR" sz="1600" b="1" dirty="0"/>
          </a:p>
          <a:p>
            <a:pPr lvl="1"/>
            <a:r>
              <a:rPr lang="ko-KR" altLang="en-US" sz="1400" dirty="0"/>
              <a:t>프로그램이 </a:t>
            </a:r>
            <a:r>
              <a:rPr lang="ko-KR" altLang="en-US" sz="1400" b="1" dirty="0"/>
              <a:t>실행되는 동안에 결정되는 것</a:t>
            </a:r>
            <a:r>
              <a:rPr lang="ko-KR" altLang="en-US" sz="1400" dirty="0"/>
              <a:t>을 </a:t>
            </a:r>
            <a:r>
              <a:rPr lang="en-US" altLang="ko-KR" sz="1400" dirty="0"/>
              <a:t>‘</a:t>
            </a:r>
            <a:r>
              <a:rPr lang="ko-KR" altLang="en-US" sz="1400" dirty="0"/>
              <a:t>동적 바인딩</a:t>
            </a:r>
            <a:r>
              <a:rPr lang="en-US" altLang="ko-KR" sz="1400" dirty="0"/>
              <a:t>(dynamic binding)’</a:t>
            </a:r>
            <a:r>
              <a:rPr lang="ko-KR" altLang="en-US" sz="1400" dirty="0"/>
              <a:t> 또는 ‘늦은 바인딩</a:t>
            </a:r>
            <a:r>
              <a:rPr lang="en-US" altLang="ko-KR" sz="1400" dirty="0"/>
              <a:t>(lately binding)’</a:t>
            </a:r>
            <a:r>
              <a:rPr lang="ko-KR" altLang="en-US" sz="1400" dirty="0"/>
              <a:t>이라 한다</a:t>
            </a:r>
            <a:endParaRPr lang="en-US" altLang="ko-KR" sz="1800" dirty="0"/>
          </a:p>
          <a:p>
            <a:endParaRPr lang="en-US" altLang="ko-KR" sz="1600" b="1" dirty="0">
              <a:ea typeface="돋움" pitchFamily="50" charset="-127"/>
            </a:endParaRPr>
          </a:p>
          <a:p>
            <a:r>
              <a:rPr lang="ko-KR" altLang="en-US" sz="1600" b="1" dirty="0"/>
              <a:t>컴파일 시점과 실행 시점에 결정되는 작업</a:t>
            </a:r>
            <a:endParaRPr lang="en-US" altLang="ko-KR" sz="1600" b="1" dirty="0"/>
          </a:p>
          <a:p>
            <a:pPr lvl="1"/>
            <a:endParaRPr lang="en-US" altLang="ko-KR" sz="1200" b="1" dirty="0">
              <a:ea typeface="돋움" pitchFamily="50" charset="-127"/>
            </a:endParaRPr>
          </a:p>
          <a:p>
            <a:pPr lvl="1"/>
            <a:endParaRPr lang="en-US" altLang="ko-KR" sz="1200" b="1" dirty="0">
              <a:ea typeface="돋움" pitchFamily="50" charset="-127"/>
            </a:endParaRPr>
          </a:p>
          <a:p>
            <a:pPr lvl="1"/>
            <a:r>
              <a:rPr lang="en-US" altLang="ko-KR" sz="1200" b="1" dirty="0">
                <a:ea typeface="돋움" pitchFamily="50" charset="-127"/>
              </a:rPr>
              <a:t> </a:t>
            </a:r>
          </a:p>
          <a:p>
            <a:endParaRPr lang="en-US" altLang="ko-KR" sz="1600" b="1" dirty="0">
              <a:ea typeface="돋움" pitchFamily="50" charset="-127"/>
            </a:endParaRPr>
          </a:p>
          <a:p>
            <a:endParaRPr lang="en-US" altLang="ko-KR" sz="1600" b="1" dirty="0"/>
          </a:p>
          <a:p>
            <a:r>
              <a:rPr lang="ko-KR" altLang="en-US" sz="1600" b="1" dirty="0"/>
              <a:t>즉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정적 바인딩이 기본 </a:t>
            </a:r>
            <a:r>
              <a:rPr lang="en-US" altLang="ko-KR" sz="1600" b="1" dirty="0"/>
              <a:t>– </a:t>
            </a:r>
            <a:r>
              <a:rPr lang="ko-KR" altLang="en-US" sz="1600" dirty="0" err="1"/>
              <a:t>오버라이드한</a:t>
            </a:r>
            <a:r>
              <a:rPr lang="ko-KR" altLang="en-US" sz="1600" dirty="0"/>
              <a:t> 함수를 활용</a:t>
            </a:r>
            <a:r>
              <a:rPr lang="en-US" altLang="ko-KR" sz="1600" dirty="0"/>
              <a:t>, </a:t>
            </a:r>
            <a:r>
              <a:rPr lang="ko-KR" altLang="en-US" sz="1600" dirty="0"/>
              <a:t>즉 자식클래스의 함수를 접근하려면 </a:t>
            </a:r>
            <a:r>
              <a:rPr lang="ko-KR" altLang="en-US" sz="1600" b="1" dirty="0" err="1"/>
              <a:t>동적바인딩</a:t>
            </a:r>
            <a:r>
              <a:rPr lang="ko-KR" altLang="en-US" sz="1600" dirty="0" err="1"/>
              <a:t>이</a:t>
            </a:r>
            <a:r>
              <a:rPr lang="ko-KR" altLang="en-US" sz="1600" dirty="0"/>
              <a:t> 필요</a:t>
            </a:r>
            <a:r>
              <a:rPr lang="en-US" altLang="ko-KR" sz="1600" dirty="0"/>
              <a:t>.</a:t>
            </a:r>
            <a:r>
              <a:rPr lang="ko-KR" altLang="en-US" sz="1600" dirty="0"/>
              <a:t>  </a:t>
            </a:r>
            <a:endParaRPr lang="en-US" altLang="ko-KR" sz="1600" dirty="0"/>
          </a:p>
          <a:p>
            <a:endParaRPr lang="en-US" altLang="ko-KR" sz="1600" b="1" dirty="0">
              <a:ea typeface="돋움" pitchFamily="50" charset="-127"/>
            </a:endParaRPr>
          </a:p>
          <a:p>
            <a:endParaRPr lang="en-US" altLang="ko-KR" sz="1600" b="1" dirty="0">
              <a:ea typeface="돋움" pitchFamily="50" charset="-127"/>
            </a:endParaRPr>
          </a:p>
          <a:p>
            <a:endParaRPr lang="ko-KR" altLang="en-US" sz="16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14924"/>
              </p:ext>
            </p:extLst>
          </p:nvPr>
        </p:nvGraphicFramePr>
        <p:xfrm>
          <a:off x="1379290" y="4158938"/>
          <a:ext cx="5471538" cy="1035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1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컴파일 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변수의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자료형이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결정된다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변숫값이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호출될 함수가 결정된다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함수가 실행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883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동적바인딩의</a:t>
            </a:r>
            <a:r>
              <a:rPr lang="ko-KR" altLang="en-US" dirty="0"/>
              <a:t> 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/>
              <a:t>동적바인딩과 </a:t>
            </a:r>
            <a:r>
              <a:rPr lang="ko-KR" altLang="en-US" sz="1800" dirty="0" err="1"/>
              <a:t>가상함수</a:t>
            </a:r>
            <a:endParaRPr lang="en-US" altLang="ko-KR" sz="1800" dirty="0"/>
          </a:p>
          <a:p>
            <a:pPr lvl="1"/>
            <a:r>
              <a:rPr lang="ko-KR" altLang="en-US" sz="1600" b="1" dirty="0"/>
              <a:t>동적 바인딩을 하려면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동적 바인딩을 하고자 하는 함수가 선언되어 있는 </a:t>
            </a:r>
            <a:r>
              <a:rPr lang="ko-KR" altLang="en-US" sz="1600" b="1" dirty="0"/>
              <a:t>기반 클래스의 원형 정의 앞</a:t>
            </a:r>
            <a:r>
              <a:rPr lang="ko-KR" altLang="en-US" sz="1600" dirty="0"/>
              <a:t>에 </a:t>
            </a:r>
            <a:r>
              <a:rPr lang="en-US" altLang="ko-KR" sz="1600" b="1" dirty="0">
                <a:solidFill>
                  <a:srgbClr val="0000FF"/>
                </a:solidFill>
              </a:rPr>
              <a:t>virtual</a:t>
            </a:r>
            <a:r>
              <a:rPr lang="ko-KR" altLang="en-US" sz="1600" b="1" dirty="0"/>
              <a:t>을 붙이면 된다</a:t>
            </a:r>
            <a:r>
              <a:rPr lang="en-US" altLang="ko-KR" sz="1600" b="1" dirty="0"/>
              <a:t>.</a:t>
            </a:r>
            <a:r>
              <a:rPr lang="en-US" altLang="ko-KR" sz="1600" dirty="0"/>
              <a:t> </a:t>
            </a:r>
          </a:p>
          <a:p>
            <a:pPr lvl="1"/>
            <a:r>
              <a:rPr lang="en-US" altLang="ko-KR" sz="1600" dirty="0"/>
              <a:t>virtual </a:t>
            </a:r>
            <a:r>
              <a:rPr lang="ko-KR" altLang="en-US" sz="1600" dirty="0" err="1"/>
              <a:t>예약어를</a:t>
            </a:r>
            <a:r>
              <a:rPr lang="ko-KR" altLang="en-US" sz="1600" dirty="0"/>
              <a:t> 붙인 함수를 </a:t>
            </a:r>
            <a:r>
              <a:rPr lang="ko-KR" altLang="en-US" sz="1600" b="1" dirty="0">
                <a:solidFill>
                  <a:srgbClr val="FF0000"/>
                </a:solidFill>
              </a:rPr>
              <a:t>가상함수</a:t>
            </a:r>
            <a:r>
              <a:rPr lang="ko-KR" altLang="en-US" sz="1600" dirty="0"/>
              <a:t>라고 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가상함수로 지정하면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ko-KR" altLang="en-US" sz="1600" b="1" dirty="0">
                <a:solidFill>
                  <a:srgbClr val="C00000"/>
                </a:solidFill>
              </a:rPr>
              <a:t>마지막 </a:t>
            </a:r>
            <a:r>
              <a:rPr lang="en-US" altLang="ko-KR" sz="1600" b="1" dirty="0">
                <a:solidFill>
                  <a:srgbClr val="C00000"/>
                </a:solidFill>
              </a:rPr>
              <a:t>override</a:t>
            </a:r>
            <a:r>
              <a:rPr lang="ko-KR" altLang="en-US" sz="1600" b="1" dirty="0">
                <a:solidFill>
                  <a:srgbClr val="C00000"/>
                </a:solidFill>
              </a:rPr>
              <a:t>된 함수를 실행</a:t>
            </a:r>
            <a:r>
              <a:rPr lang="ko-KR" altLang="en-US" sz="1600" dirty="0"/>
              <a:t>시켜준다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가상함수는 클래스 내의 </a:t>
            </a:r>
            <a:r>
              <a:rPr lang="ko-KR" altLang="en-US" sz="1600" b="1" dirty="0"/>
              <a:t>멤버함수</a:t>
            </a:r>
            <a:r>
              <a:rPr lang="ko-KR" altLang="en-US" sz="1600" dirty="0"/>
              <a:t>일 경우에만 지정할 수 있다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기반 클래스에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</a:t>
            </a:r>
            <a:r>
              <a:rPr lang="en-US" altLang="ko-KR" sz="1600" dirty="0"/>
              <a:t>virtual</a:t>
            </a:r>
            <a:r>
              <a:rPr lang="ko-KR" altLang="en-US" sz="1600" dirty="0"/>
              <a:t>을 붙인 함수는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b="1" dirty="0"/>
              <a:t>   </a:t>
            </a:r>
            <a:r>
              <a:rPr lang="ko-KR" altLang="en-US" sz="1600" b="1" dirty="0"/>
              <a:t>파생 클래스에서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</a:t>
            </a:r>
            <a:r>
              <a:rPr lang="en-US" altLang="ko-KR" sz="1600" b="1" dirty="0"/>
              <a:t>virtual</a:t>
            </a:r>
            <a:r>
              <a:rPr lang="ko-KR" altLang="en-US" sz="1600" b="1" dirty="0"/>
              <a:t>을 붙이지 않더라도 </a:t>
            </a:r>
            <a:r>
              <a:rPr lang="ko-KR" altLang="en-US" sz="1600" dirty="0" err="1"/>
              <a:t>가상함수로</a:t>
            </a:r>
            <a:r>
              <a:rPr lang="ko-KR" altLang="en-US" sz="1600" dirty="0"/>
              <a:t> 지정되고</a:t>
            </a:r>
            <a:r>
              <a:rPr lang="en-US" altLang="ko-KR" sz="1600" dirty="0"/>
              <a:t>, </a:t>
            </a:r>
            <a:r>
              <a:rPr lang="ko-KR" altLang="en-US" sz="1600" dirty="0"/>
              <a:t>가상함수의 특징은 </a:t>
            </a:r>
            <a:r>
              <a:rPr lang="ko-KR" altLang="en-US" sz="1600" b="1" dirty="0"/>
              <a:t>상속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동적바인딩의 조건</a:t>
            </a:r>
            <a:endParaRPr lang="en-US" altLang="ko-KR" sz="1800" dirty="0"/>
          </a:p>
          <a:p>
            <a:pPr lvl="1"/>
            <a:r>
              <a:rPr lang="ko-KR" altLang="en-US" sz="1600" dirty="0"/>
              <a:t>상속 관계에 있는 클래스에서 </a:t>
            </a:r>
            <a:r>
              <a:rPr lang="ko-KR" altLang="en-US" sz="1600" b="1" dirty="0">
                <a:solidFill>
                  <a:schemeClr val="accent5"/>
                </a:solidFill>
              </a:rPr>
              <a:t>오버라이딩된 멤버함수</a:t>
            </a:r>
            <a:r>
              <a:rPr lang="ko-KR" altLang="en-US" sz="1600" dirty="0"/>
              <a:t>가 존재하고 </a:t>
            </a:r>
            <a:endParaRPr lang="en-US" altLang="ko-KR" sz="1600" dirty="0"/>
          </a:p>
          <a:p>
            <a:pPr lvl="1"/>
            <a:r>
              <a:rPr lang="ko-KR" altLang="en-US" sz="1600" dirty="0"/>
              <a:t>이 멤버함수를 </a:t>
            </a:r>
            <a:r>
              <a:rPr lang="ko-KR" altLang="en-US" sz="1600" b="1" dirty="0">
                <a:solidFill>
                  <a:schemeClr val="accent5"/>
                </a:solidFill>
              </a:rPr>
              <a:t>기반 클래스</a:t>
            </a:r>
            <a:r>
              <a:rPr lang="ko-KR" altLang="en-US" sz="1600" dirty="0">
                <a:solidFill>
                  <a:schemeClr val="accent5"/>
                </a:solidFill>
              </a:rPr>
              <a:t>에서 </a:t>
            </a:r>
            <a:r>
              <a:rPr lang="ko-KR" altLang="en-US" sz="1600" b="1" dirty="0">
                <a:solidFill>
                  <a:schemeClr val="accent5"/>
                </a:solidFill>
              </a:rPr>
              <a:t>가상함수로 선언</a:t>
            </a:r>
            <a:r>
              <a:rPr lang="ko-KR" altLang="en-US" sz="1600" dirty="0"/>
              <a:t>해 두었다는 조건에서 </a:t>
            </a:r>
            <a:r>
              <a:rPr lang="ko-KR" altLang="en-US" sz="1600" b="1" dirty="0">
                <a:solidFill>
                  <a:schemeClr val="accent5"/>
                </a:solidFill>
              </a:rPr>
              <a:t>업 캐스팅</a:t>
            </a:r>
            <a:r>
              <a:rPr lang="ko-KR" altLang="en-US" sz="1600" dirty="0"/>
              <a:t>이 된다</a:t>
            </a:r>
            <a:endParaRPr lang="en-US" altLang="ko-KR" sz="1600" dirty="0"/>
          </a:p>
          <a:p>
            <a:pPr lvl="1"/>
            <a:r>
              <a:rPr lang="ko-KR" altLang="en-US" sz="1600" dirty="0"/>
              <a:t>자식 클래스의 객체를 가리키고 있는 </a:t>
            </a:r>
            <a:r>
              <a:rPr lang="ko-KR" altLang="en-US" sz="1600" b="1" dirty="0"/>
              <a:t>부모 포인터</a:t>
            </a:r>
            <a:r>
              <a:rPr lang="ko-KR" altLang="en-US" sz="1600" dirty="0"/>
              <a:t>를 통해 자식 클래스의 함수에 접근이 가능</a:t>
            </a:r>
            <a:r>
              <a:rPr lang="en-US" altLang="ko-KR" sz="1600" dirty="0"/>
              <a:t>.</a:t>
            </a:r>
          </a:p>
          <a:p>
            <a:pPr lvl="1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73777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가상함수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301361"/>
            <a:ext cx="10363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가상함수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 = &amp;z;  p-&gt;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CDerived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멤버함수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호출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349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바인딩과 </a:t>
            </a:r>
            <a:r>
              <a:rPr lang="ko-KR" altLang="en-US" dirty="0" err="1"/>
              <a:t>가상함수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가상 함수의 동작 원리</a:t>
            </a:r>
            <a:endParaRPr lang="en-US" altLang="ko-KR" sz="1600" dirty="0"/>
          </a:p>
          <a:p>
            <a:pPr lvl="1"/>
            <a:r>
              <a:rPr lang="ko-KR" altLang="en-US" sz="1400" dirty="0" err="1"/>
              <a:t>가상함수는</a:t>
            </a:r>
            <a:r>
              <a:rPr lang="ko-KR" altLang="en-US" sz="1400" dirty="0"/>
              <a:t> 호출될 함수가 실행 시점에 결정되어야 하므로 </a:t>
            </a:r>
            <a:endParaRPr lang="en-US" altLang="ko-KR" sz="1400" dirty="0"/>
          </a:p>
          <a:p>
            <a:pPr lvl="1"/>
            <a:r>
              <a:rPr lang="ko-KR" altLang="en-US" sz="1400" dirty="0"/>
              <a:t>각 클래스의 </a:t>
            </a:r>
            <a:r>
              <a:rPr lang="ko-KR" altLang="en-US" sz="1400" dirty="0" err="1"/>
              <a:t>가상함수</a:t>
            </a:r>
            <a:r>
              <a:rPr lang="ko-KR" altLang="en-US" sz="1400" dirty="0"/>
              <a:t> 주소가 </a:t>
            </a:r>
            <a:r>
              <a:rPr lang="ko-KR" altLang="en-US" sz="1400" b="1" dirty="0" err="1">
                <a:solidFill>
                  <a:srgbClr val="C00000"/>
                </a:solidFill>
              </a:rPr>
              <a:t>가상함수</a:t>
            </a:r>
            <a:r>
              <a:rPr lang="ko-KR" altLang="en-US" sz="1400" b="1" dirty="0">
                <a:solidFill>
                  <a:srgbClr val="C00000"/>
                </a:solidFill>
              </a:rPr>
              <a:t> 테이블</a:t>
            </a:r>
            <a:r>
              <a:rPr lang="ko-KR" altLang="en-US" sz="1400" dirty="0"/>
              <a:t>이라는 </a:t>
            </a:r>
            <a:r>
              <a:rPr lang="ko-KR" altLang="en-US" sz="1400" dirty="0" err="1"/>
              <a:t>기억공간에</a:t>
            </a:r>
            <a:r>
              <a:rPr lang="ko-KR" altLang="en-US" sz="1400" dirty="0"/>
              <a:t> 따로 저장된다</a:t>
            </a:r>
            <a:endParaRPr lang="en-US" altLang="ko-KR" sz="1400" dirty="0"/>
          </a:p>
          <a:p>
            <a:pPr lvl="1"/>
            <a:r>
              <a:rPr lang="ko-KR" altLang="en-US" sz="1400" dirty="0" err="1"/>
              <a:t>가상함수</a:t>
            </a:r>
            <a:r>
              <a:rPr lang="ko-KR" altLang="en-US" sz="1400" dirty="0"/>
              <a:t> 테이블은 </a:t>
            </a:r>
            <a:r>
              <a:rPr lang="ko-KR" altLang="en-US" sz="1400" b="1" dirty="0"/>
              <a:t>클래스 단위로</a:t>
            </a:r>
            <a:r>
              <a:rPr lang="ko-KR" altLang="en-US" sz="1400" dirty="0"/>
              <a:t> 만들어지며 가상함수들의 주소는 배열 형태로 저장된다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해당 클래스로 </a:t>
            </a:r>
            <a:r>
              <a:rPr lang="ko-KR" altLang="en-US" sz="1400" b="1" dirty="0"/>
              <a:t>선언된 객체는</a:t>
            </a:r>
            <a:r>
              <a:rPr lang="ko-KR" altLang="en-US" sz="1400" dirty="0"/>
              <a:t> 가상함수 테이블의 주소를 저장하는 은닉된 </a:t>
            </a:r>
            <a:r>
              <a:rPr lang="ko-KR" altLang="en-US" sz="1400" dirty="0" err="1"/>
              <a:t>맴버인</a:t>
            </a:r>
            <a:r>
              <a:rPr lang="ko-KR" altLang="en-US" sz="1400" dirty="0"/>
              <a:t> </a:t>
            </a:r>
            <a:r>
              <a:rPr lang="ko-KR" altLang="en-US" sz="1400" b="1" dirty="0">
                <a:solidFill>
                  <a:srgbClr val="C00000"/>
                </a:solidFill>
              </a:rPr>
              <a:t>가상 포인터</a:t>
            </a:r>
            <a:r>
              <a:rPr lang="ko-KR" altLang="en-US" sz="1400" dirty="0"/>
              <a:t>를 갖게 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그리고 가상 포인터는 가상함수 테이블을 가리키게 된다</a:t>
            </a:r>
            <a:r>
              <a:rPr lang="en-US" altLang="ko-KR" sz="1400" dirty="0"/>
              <a:t>.</a:t>
            </a:r>
            <a:endParaRPr lang="en-US" altLang="ko-KR" sz="1600" dirty="0"/>
          </a:p>
          <a:p>
            <a:r>
              <a:rPr lang="ko-KR" altLang="en-US" sz="1600" b="1" dirty="0"/>
              <a:t>함수가 </a:t>
            </a:r>
            <a:r>
              <a:rPr lang="ko-KR" altLang="en-US" sz="1600" b="1" dirty="0" err="1"/>
              <a:t>가상함수로</a:t>
            </a:r>
            <a:r>
              <a:rPr lang="ko-KR" altLang="en-US" sz="1600" b="1" dirty="0"/>
              <a:t> 만들어지면</a:t>
            </a:r>
            <a:r>
              <a:rPr lang="ko-KR" altLang="en-US" sz="1600" dirty="0"/>
              <a:t> 객체에 의해 </a:t>
            </a:r>
            <a:r>
              <a:rPr lang="ko-KR" altLang="en-US" sz="1600" b="1" dirty="0"/>
              <a:t>오버라이딩된 함수 중 어떤 것을 호출해야 하는지</a:t>
            </a:r>
            <a:r>
              <a:rPr lang="ko-KR" altLang="en-US" sz="1600" dirty="0"/>
              <a:t>를 알아야 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500" dirty="0" err="1"/>
              <a:t>가상함수를</a:t>
            </a:r>
            <a:r>
              <a:rPr lang="ko-KR" altLang="en-US" sz="1500" dirty="0"/>
              <a:t> 활용하면 </a:t>
            </a:r>
            <a:r>
              <a:rPr lang="ko-KR" altLang="en-US" sz="1500" b="1" dirty="0">
                <a:solidFill>
                  <a:srgbClr val="0070C0"/>
                </a:solidFill>
              </a:rPr>
              <a:t>부모클래스로 접근하여</a:t>
            </a:r>
            <a:r>
              <a:rPr lang="ko-KR" altLang="en-US" sz="1500" dirty="0"/>
              <a:t> 자식클래스의 함수 호출이 가능하다</a:t>
            </a:r>
            <a:endParaRPr lang="en-US" altLang="ko-KR" sz="1500" dirty="0"/>
          </a:p>
          <a:p>
            <a:pPr lvl="1"/>
            <a:r>
              <a:rPr lang="ko-KR" altLang="en-US" sz="1500" dirty="0"/>
              <a:t>따라서</a:t>
            </a:r>
            <a:r>
              <a:rPr lang="en-US" altLang="ko-KR" sz="1500" dirty="0"/>
              <a:t>, </a:t>
            </a:r>
            <a:r>
              <a:rPr lang="ko-KR" altLang="en-US" sz="1500" dirty="0"/>
              <a:t>파생된 여러 객체를 기반클래스로 업캐스팅을 하여 </a:t>
            </a:r>
            <a:r>
              <a:rPr lang="ko-KR" altLang="en-US" sz="1500" b="1" dirty="0">
                <a:solidFill>
                  <a:schemeClr val="accent1">
                    <a:lumMod val="75000"/>
                  </a:schemeClr>
                </a:solidFill>
              </a:rPr>
              <a:t>동일한 방식으로 편리하게 관리</a:t>
            </a:r>
            <a:r>
              <a:rPr lang="ko-KR" altLang="en-US" sz="1500" dirty="0"/>
              <a:t>를 할 수 있다</a:t>
            </a:r>
            <a:r>
              <a:rPr lang="en-US" altLang="ko-KR" sz="1500" dirty="0"/>
              <a:t>.</a:t>
            </a:r>
          </a:p>
          <a:p>
            <a:pPr lvl="1"/>
            <a:r>
              <a:rPr lang="ko-KR" altLang="en-US" sz="1600" dirty="0"/>
              <a:t>부모로 자식클래스 객체들을 </a:t>
            </a:r>
            <a:r>
              <a:rPr lang="ko-KR" altLang="en-US" sz="1600" dirty="0">
                <a:solidFill>
                  <a:srgbClr val="C00000"/>
                </a:solidFill>
              </a:rPr>
              <a:t>모두를 관리할 수 있다</a:t>
            </a:r>
            <a:r>
              <a:rPr lang="ko-KR" altLang="en-US" sz="1600" dirty="0"/>
              <a:t>는 의미</a:t>
            </a:r>
            <a:r>
              <a:rPr lang="en-US" altLang="ko-KR" sz="1600" dirty="0"/>
              <a:t>.</a:t>
            </a:r>
          </a:p>
          <a:p>
            <a:r>
              <a:rPr lang="ko-KR" altLang="en-US" sz="1600" b="1" dirty="0"/>
              <a:t>가상함수</a:t>
            </a:r>
            <a:r>
              <a:rPr lang="ko-KR" altLang="en-US" sz="1600" dirty="0"/>
              <a:t>는 융통성 있게 함수를 호출한다는 장점이 있는 반면 다음과 같은 </a:t>
            </a:r>
            <a:r>
              <a:rPr lang="ko-KR" altLang="en-US" sz="1600" b="1" dirty="0"/>
              <a:t>단점</a:t>
            </a:r>
            <a:r>
              <a:rPr lang="ko-KR" altLang="en-US" sz="1600" dirty="0"/>
              <a:t>이 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400" dirty="0"/>
              <a:t>가상함수를 사용하려면 가상 테이블을 유지하려고 가상함수의 주소 배열을 만들어주므로 </a:t>
            </a:r>
            <a:r>
              <a:rPr lang="ko-KR" altLang="en-US" sz="1400" b="1" dirty="0"/>
              <a:t>메모리</a:t>
            </a:r>
            <a:r>
              <a:rPr lang="ko-KR" altLang="en-US" sz="1400" dirty="0"/>
              <a:t>에 부담을 줄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각 객체도 가상함수 테이블의 주소를 저장하는 가상 포인터 변수를 위한 메모리를 할당해야 한다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가상함수가 호출될 때마다 가상함수 테이블을 이용해서 주소를 조사해야 하므로 </a:t>
            </a:r>
            <a:r>
              <a:rPr lang="ko-KR" altLang="en-US" sz="1400" b="1" dirty="0"/>
              <a:t>처리속도</a:t>
            </a:r>
            <a:r>
              <a:rPr lang="ko-KR" altLang="en-US" sz="1400" dirty="0"/>
              <a:t>가 </a:t>
            </a:r>
            <a:r>
              <a:rPr lang="ko-KR" altLang="en-US" sz="1400" b="1" dirty="0"/>
              <a:t>지연</a:t>
            </a:r>
            <a:r>
              <a:rPr lang="ko-KR" altLang="en-US" sz="1400" dirty="0"/>
              <a:t>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1876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3A6AC-6348-42DF-A09A-AF33264E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C93A2-5061-46D9-BBC6-FF919C1D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FFA94-155C-4B9F-B459-0D3B51650A76}"/>
              </a:ext>
            </a:extLst>
          </p:cNvPr>
          <p:cNvSpPr txBox="1"/>
          <p:nvPr/>
        </p:nvSpPr>
        <p:spPr>
          <a:xfrm>
            <a:off x="838200" y="1235677"/>
            <a:ext cx="71628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Player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name[25];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movespeed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Move()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"Player Move"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가상함수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Hero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Player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Move()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"Hero Move"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Enemy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Player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Move()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"Enemy Move"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45606-249E-4471-88B1-5EA34BA9548C}"/>
              </a:ext>
            </a:extLst>
          </p:cNvPr>
          <p:cNvSpPr txBox="1"/>
          <p:nvPr/>
        </p:nvSpPr>
        <p:spPr>
          <a:xfrm>
            <a:off x="7172324" y="3618851"/>
            <a:ext cx="4181476" cy="24622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하나의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목록으로 관리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알아서 자식 함수를 호출해준다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Player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player[2] =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{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Hero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Enemy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player[0]-&gt;Move();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player[1]-&gt;Move();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673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다형성</a:t>
            </a:r>
            <a:r>
              <a:rPr lang="ko-KR" altLang="en-US" dirty="0"/>
              <a:t> 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832865" y="4337717"/>
            <a:ext cx="5227319" cy="1671465"/>
          </a:xfrm>
        </p:spPr>
        <p:txBody>
          <a:bodyPr>
            <a:normAutofit/>
          </a:bodyPr>
          <a:lstStyle/>
          <a:p>
            <a:r>
              <a:rPr lang="ko-KR" altLang="en-US" sz="1600" dirty="0" err="1"/>
              <a:t>가상함수와</a:t>
            </a:r>
            <a:r>
              <a:rPr lang="ko-KR" altLang="en-US" sz="1600" dirty="0"/>
              <a:t> 관련된 내용을 가리켜 </a:t>
            </a:r>
            <a:r>
              <a:rPr lang="en-US" altLang="ko-KR" sz="1600" dirty="0"/>
              <a:t>“</a:t>
            </a:r>
            <a:r>
              <a:rPr lang="ko-KR" altLang="en-US" sz="1600" b="1" dirty="0" err="1"/>
              <a:t>다형성</a:t>
            </a:r>
            <a:r>
              <a:rPr lang="en-US" altLang="ko-KR" sz="1600" dirty="0"/>
              <a:t>”</a:t>
            </a:r>
            <a:r>
              <a:rPr lang="ko-KR" altLang="en-US" sz="1600" dirty="0"/>
              <a:t>이라 한다</a:t>
            </a:r>
            <a:r>
              <a:rPr lang="en-US" altLang="ko-KR" sz="1600" dirty="0"/>
              <a:t>!</a:t>
            </a:r>
          </a:p>
          <a:p>
            <a:r>
              <a:rPr lang="ko-KR" altLang="en-US" sz="1600" dirty="0"/>
              <a:t>다형성은 동질 이상의 의미를 갖는다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400" dirty="0"/>
              <a:t>모습은 </a:t>
            </a:r>
            <a:r>
              <a:rPr lang="ko-KR" altLang="en-US" sz="1400" b="1" dirty="0"/>
              <a:t>같은데</a:t>
            </a:r>
            <a:r>
              <a:rPr lang="ko-KR" altLang="en-US" sz="1400" dirty="0"/>
              <a:t>  형태는 다르다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문장은 </a:t>
            </a:r>
            <a:r>
              <a:rPr lang="ko-KR" altLang="en-US" sz="1400" b="1" dirty="0"/>
              <a:t>같은데</a:t>
            </a:r>
            <a:r>
              <a:rPr lang="ko-KR" altLang="en-US" sz="1400" dirty="0"/>
              <a:t>  결과는 다르다</a:t>
            </a:r>
            <a:r>
              <a:rPr lang="en-US" altLang="ko-KR" sz="1400" dirty="0"/>
              <a:t>.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286116"/>
            <a:ext cx="862965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First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"First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Second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First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override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"Second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First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First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동일한 문장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Second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동일한 문장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200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완전 </a:t>
            </a:r>
            <a:r>
              <a:rPr lang="ko-KR" altLang="en-US" dirty="0" err="1"/>
              <a:t>가상함수와</a:t>
            </a:r>
            <a:r>
              <a:rPr lang="ko-KR" altLang="en-US" dirty="0"/>
              <a:t> 추상 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b="1" dirty="0"/>
              <a:t>순수 가상함수</a:t>
            </a:r>
            <a:r>
              <a:rPr lang="en-US" altLang="ko-KR" sz="1600" dirty="0"/>
              <a:t>(pure virtual function)</a:t>
            </a:r>
          </a:p>
          <a:p>
            <a:pPr lvl="1"/>
            <a:r>
              <a:rPr lang="ko-KR" altLang="en-US" sz="1400" dirty="0"/>
              <a:t>함수의 </a:t>
            </a:r>
            <a:r>
              <a:rPr lang="ko-KR" altLang="en-US" sz="1400" dirty="0">
                <a:solidFill>
                  <a:srgbClr val="C00000"/>
                </a:solidFill>
              </a:rPr>
              <a:t>정의없이</a:t>
            </a:r>
            <a:r>
              <a:rPr lang="ko-KR" altLang="en-US" sz="1400" dirty="0"/>
              <a:t> </a:t>
            </a:r>
            <a:r>
              <a:rPr lang="ko-KR" altLang="en-US" sz="1400" b="1" dirty="0"/>
              <a:t>함수의 유형만</a:t>
            </a:r>
            <a:r>
              <a:rPr lang="ko-KR" altLang="en-US" sz="1400" dirty="0"/>
              <a:t>을 기반 클래스에 제시해 놓는 것이다</a:t>
            </a:r>
            <a:r>
              <a:rPr lang="en-US" altLang="ko-KR" sz="1400" dirty="0"/>
              <a:t>. (</a:t>
            </a:r>
            <a:r>
              <a:rPr lang="ko-KR" altLang="en-US" sz="1400" dirty="0"/>
              <a:t>순수가상함수</a:t>
            </a:r>
            <a:r>
              <a:rPr lang="en-US" altLang="ko-KR" sz="1400" dirty="0"/>
              <a:t>, </a:t>
            </a:r>
            <a:r>
              <a:rPr lang="ko-KR" altLang="en-US" sz="1400" dirty="0"/>
              <a:t>완전가상함수</a:t>
            </a:r>
            <a:r>
              <a:rPr lang="en-US" altLang="ko-KR" sz="1400" dirty="0"/>
              <a:t>)</a:t>
            </a:r>
          </a:p>
          <a:p>
            <a:pPr lvl="1"/>
            <a:r>
              <a:rPr lang="ko-KR" altLang="en-US" sz="1400" dirty="0"/>
              <a:t>완전 </a:t>
            </a:r>
            <a:r>
              <a:rPr lang="ko-KR" altLang="en-US" sz="1400" dirty="0" err="1"/>
              <a:t>가상함수는</a:t>
            </a:r>
            <a:r>
              <a:rPr lang="ko-KR" altLang="en-US" sz="1400" dirty="0"/>
              <a:t> 선언할 때 </a:t>
            </a:r>
            <a:r>
              <a:rPr lang="ko-KR" altLang="en-US" sz="1400" dirty="0" err="1"/>
              <a:t>예약어</a:t>
            </a:r>
            <a:r>
              <a:rPr lang="ko-KR" altLang="en-US" sz="1400" dirty="0"/>
              <a:t> </a:t>
            </a:r>
            <a:r>
              <a:rPr lang="en-US" altLang="ko-KR" sz="1400" dirty="0"/>
              <a:t>virtual</a:t>
            </a:r>
            <a:r>
              <a:rPr lang="ko-KR" altLang="en-US" sz="1400" dirty="0"/>
              <a:t>을 선언문의 맨 앞에 붙이고 함수의 선언문 마지막 부분에 ‘</a:t>
            </a:r>
            <a:r>
              <a:rPr lang="en-US" altLang="ko-KR" sz="1400" dirty="0"/>
              <a:t>=0</a:t>
            </a:r>
            <a:r>
              <a:rPr lang="ko-KR" altLang="en-US" sz="1400" dirty="0"/>
              <a:t>’을 덧붙인다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r>
              <a:rPr lang="ko-KR" altLang="en-US" sz="1600" b="1" dirty="0"/>
              <a:t>추상 클래스</a:t>
            </a:r>
            <a:r>
              <a:rPr lang="en-US" altLang="ko-KR" sz="1600" dirty="0"/>
              <a:t>(abstract class)</a:t>
            </a:r>
          </a:p>
          <a:p>
            <a:pPr lvl="1"/>
            <a:r>
              <a:rPr lang="ko-KR" altLang="en-US" sz="1400" b="1" dirty="0">
                <a:solidFill>
                  <a:srgbClr val="C00000"/>
                </a:solidFill>
              </a:rPr>
              <a:t>순수가상함수</a:t>
            </a:r>
            <a:r>
              <a:rPr lang="ko-KR" altLang="en-US" sz="1400" dirty="0">
                <a:solidFill>
                  <a:srgbClr val="C00000"/>
                </a:solidFill>
              </a:rPr>
              <a:t>를 최소 한 개 이상 갖는 클래스</a:t>
            </a:r>
            <a:r>
              <a:rPr lang="ko-KR" altLang="en-US" sz="1400" dirty="0"/>
              <a:t>로는 </a:t>
            </a:r>
            <a:r>
              <a:rPr lang="ko-KR" altLang="en-US" sz="1400" b="1" dirty="0"/>
              <a:t>객체를 생성하지 못한다</a:t>
            </a:r>
            <a:r>
              <a:rPr lang="en-US" altLang="ko-KR" sz="1400" dirty="0"/>
              <a:t>. </a:t>
            </a:r>
            <a:r>
              <a:rPr lang="ko-KR" altLang="en-US" sz="1400" dirty="0"/>
              <a:t>이를 </a:t>
            </a:r>
            <a:r>
              <a:rPr lang="en-US" altLang="ko-KR" sz="1400" dirty="0"/>
              <a:t>‘</a:t>
            </a:r>
            <a:r>
              <a:rPr lang="ko-KR" altLang="en-US" sz="1400" dirty="0">
                <a:solidFill>
                  <a:srgbClr val="FF0000"/>
                </a:solidFill>
              </a:rPr>
              <a:t>추상 클래스</a:t>
            </a:r>
            <a:r>
              <a:rPr lang="en-US" altLang="ko-KR" sz="1400" dirty="0"/>
              <a:t>’</a:t>
            </a:r>
            <a:r>
              <a:rPr lang="ko-KR" altLang="en-US" sz="1400" dirty="0"/>
              <a:t>라 부른다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endParaRPr lang="en-US" altLang="ko-KR" sz="1600" dirty="0"/>
          </a:p>
          <a:p>
            <a:r>
              <a:rPr lang="ko-KR" altLang="en-US" sz="1600" dirty="0"/>
              <a:t>추상 클래스와 </a:t>
            </a:r>
            <a:r>
              <a:rPr lang="ko-KR" altLang="en-US" sz="1600" dirty="0" err="1"/>
              <a:t>다형성</a:t>
            </a:r>
            <a:endParaRPr lang="en-US" altLang="ko-KR" sz="1600" dirty="0"/>
          </a:p>
          <a:p>
            <a:pPr lvl="1"/>
            <a:r>
              <a:rPr lang="ko-KR" altLang="en-US" sz="1400" dirty="0"/>
              <a:t>추상 클래스는 </a:t>
            </a:r>
            <a:r>
              <a:rPr lang="ko-KR" altLang="en-US" sz="1400" b="1" dirty="0"/>
              <a:t>상속을 위한 기반 클래스</a:t>
            </a:r>
            <a:r>
              <a:rPr lang="ko-KR" altLang="en-US" sz="1400" dirty="0"/>
              <a:t>로 사용된다</a:t>
            </a:r>
            <a:r>
              <a:rPr lang="en-US" altLang="ko-KR" sz="1400" dirty="0"/>
              <a:t>. </a:t>
            </a:r>
            <a:r>
              <a:rPr lang="ko-KR" altLang="en-US" sz="1400" b="1" dirty="0"/>
              <a:t>동일한 접근 방식</a:t>
            </a:r>
            <a:r>
              <a:rPr lang="ko-KR" altLang="en-US" sz="1400" dirty="0"/>
              <a:t>을 제공하려면 추상 클래스를 반드시 설계해야</a:t>
            </a:r>
            <a:r>
              <a:rPr lang="en-US" altLang="ko-KR" sz="1400" dirty="0"/>
              <a:t>.</a:t>
            </a:r>
            <a:r>
              <a:rPr lang="ko-KR" altLang="en-US" sz="1400" dirty="0"/>
              <a:t>함</a:t>
            </a:r>
            <a:endParaRPr lang="ko-KR" altLang="en-US" sz="1800" dirty="0"/>
          </a:p>
        </p:txBody>
      </p:sp>
      <p:sp>
        <p:nvSpPr>
          <p:cNvPr id="5" name="직사각형 4"/>
          <p:cNvSpPr/>
          <p:nvPr/>
        </p:nvSpPr>
        <p:spPr>
          <a:xfrm>
            <a:off x="1581075" y="2423530"/>
            <a:ext cx="28777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Draw() 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 0;</a:t>
            </a:r>
            <a:endParaRPr lang="ko-KR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81075" y="3753479"/>
            <a:ext cx="795337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Shape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Draw()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GetSize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=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155B45-6A56-4EA0-A15F-7416C02DDBCD}"/>
              </a:ext>
            </a:extLst>
          </p:cNvPr>
          <p:cNvSpPr/>
          <p:nvPr/>
        </p:nvSpPr>
        <p:spPr>
          <a:xfrm>
            <a:off x="5558319" y="2423530"/>
            <a:ext cx="54761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Draw()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abstract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sz="14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동일한</a:t>
            </a:r>
            <a:r>
              <a:rPr lang="en-US" altLang="ko-KR" sz="14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표현</a:t>
            </a:r>
            <a:endParaRPr lang="ko-KR" altLang="en-US" sz="1600" dirty="0">
              <a:solidFill>
                <a:srgbClr val="0066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03275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완전 </a:t>
            </a:r>
            <a:r>
              <a:rPr lang="ko-KR" altLang="en-US" dirty="0" err="1"/>
              <a:t>가상함수와</a:t>
            </a:r>
            <a:r>
              <a:rPr lang="ko-KR" altLang="en-US" dirty="0"/>
              <a:t> 추상 클래스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latin typeface="+mj-ea"/>
              </a:rPr>
              <a:t>가상함수의 경우 일반 </a:t>
            </a:r>
            <a:r>
              <a:rPr lang="ko-KR" altLang="en-US" sz="1600" dirty="0" err="1">
                <a:latin typeface="+mj-ea"/>
              </a:rPr>
              <a:t>소멸자</a:t>
            </a:r>
            <a:r>
              <a:rPr lang="ko-KR" altLang="en-US" sz="1600" dirty="0">
                <a:latin typeface="+mj-ea"/>
              </a:rPr>
              <a:t> 사용 시 문제점</a:t>
            </a:r>
            <a:endParaRPr lang="en-US" altLang="ko-KR" sz="1600" dirty="0">
              <a:latin typeface="+mj-ea"/>
            </a:endParaRPr>
          </a:p>
          <a:p>
            <a:pPr lvl="1"/>
            <a:r>
              <a:rPr lang="ko-KR" altLang="en-US" sz="1400" b="1" dirty="0"/>
              <a:t>가상함수의 경우 </a:t>
            </a:r>
            <a:r>
              <a:rPr lang="ko-KR" altLang="en-US" sz="1400" dirty="0"/>
              <a:t>동적바인딩이 되므로 </a:t>
            </a:r>
            <a:r>
              <a:rPr lang="ko-KR" altLang="en-US" sz="1400" dirty="0" err="1"/>
              <a:t>소멸자</a:t>
            </a:r>
            <a:r>
              <a:rPr lang="ko-KR" altLang="en-US" sz="1400" dirty="0"/>
              <a:t> 호출에 문제가 발생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400" dirty="0"/>
          </a:p>
          <a:p>
            <a:r>
              <a:rPr lang="ko-KR" altLang="en-US" sz="1600" dirty="0" err="1"/>
              <a:t>소멸자를</a:t>
            </a:r>
            <a:r>
              <a:rPr lang="ko-KR" altLang="en-US" sz="1600" dirty="0"/>
              <a:t> </a:t>
            </a:r>
            <a:r>
              <a:rPr lang="ko-KR" altLang="en-US" sz="1600" b="1" dirty="0"/>
              <a:t>가상 </a:t>
            </a:r>
            <a:r>
              <a:rPr lang="ko-KR" altLang="en-US" sz="1600" b="1" dirty="0" err="1"/>
              <a:t>소멸자</a:t>
            </a:r>
            <a:r>
              <a:rPr lang="ko-KR" altLang="en-US" sz="1600" dirty="0" err="1"/>
              <a:t>로</a:t>
            </a:r>
            <a:r>
              <a:rPr lang="ko-KR" altLang="en-US" sz="1600" dirty="0"/>
              <a:t> 만들어 놓으면 </a:t>
            </a:r>
            <a:endParaRPr lang="en-US" altLang="ko-KR" sz="1600" dirty="0"/>
          </a:p>
          <a:p>
            <a:pPr lvl="1"/>
            <a:r>
              <a:rPr lang="ko-KR" altLang="en-US" sz="1400" dirty="0"/>
              <a:t>파생 클래스의 인스턴스를 기반 클래스로 선언된 객체 포인터로 접근하더라도 동적 바인딩에 의해서 호출될 함수가 결정되므로 파생 클래스의 소멸자가 호출된다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실체인 객체 인스턴스의 </a:t>
            </a:r>
            <a:r>
              <a:rPr lang="ko-KR" altLang="en-US" sz="1400" dirty="0" err="1"/>
              <a:t>자료형에</a:t>
            </a:r>
            <a:r>
              <a:rPr lang="ko-KR" altLang="en-US" sz="1400" dirty="0"/>
              <a:t> 맞는 소멸자가 호출된다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따라서</a:t>
            </a:r>
            <a:r>
              <a:rPr lang="en-US" altLang="ko-KR" sz="1400" dirty="0"/>
              <a:t>, </a:t>
            </a:r>
            <a:r>
              <a:rPr lang="ko-KR" altLang="en-US" sz="1400" b="1" dirty="0" err="1"/>
              <a:t>가상함수가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있으면</a:t>
            </a:r>
            <a:r>
              <a:rPr lang="ko-KR" altLang="en-US" sz="1400" dirty="0"/>
              <a:t> </a:t>
            </a:r>
            <a:r>
              <a:rPr lang="ko-KR" altLang="en-US" sz="1400" b="1" dirty="0" err="1">
                <a:solidFill>
                  <a:srgbClr val="C00000"/>
                </a:solidFill>
              </a:rPr>
              <a:t>소멸자를</a:t>
            </a:r>
            <a:r>
              <a:rPr lang="ko-KR" altLang="en-US" sz="1400" b="1" dirty="0">
                <a:solidFill>
                  <a:srgbClr val="C00000"/>
                </a:solidFill>
              </a:rPr>
              <a:t> 가상으로 만들어야 한다</a:t>
            </a:r>
            <a:r>
              <a:rPr lang="en-US" altLang="ko-KR" sz="1400" dirty="0">
                <a:solidFill>
                  <a:srgbClr val="C00000"/>
                </a:solidFill>
              </a:rPr>
              <a:t>.</a:t>
            </a:r>
            <a:r>
              <a:rPr lang="en-US" altLang="ko-KR" sz="1400" dirty="0"/>
              <a:t> </a:t>
            </a:r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260762" y="4154703"/>
            <a:ext cx="6633277" cy="17543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Base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Base() { }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~Base() { }   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511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추상 클래스와 완전 가상함수를 이용해서 사각형과 원 클래스 설계하기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추상 클래스와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다형성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이용하기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일반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소멸자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사용 시 문제점 알아보기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가상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소멸자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사용 예 알아보기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50215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4837A-A15E-4281-8F55-4951CE4A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(</a:t>
            </a:r>
            <a:r>
              <a:rPr lang="ko-KR" altLang="en-US" dirty="0" err="1"/>
              <a:t>다형성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AE3744-497D-41A4-9736-4011E5E69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5562D-6E56-4D2B-8BC9-3C78C08B9943}"/>
              </a:ext>
            </a:extLst>
          </p:cNvPr>
          <p:cNvSpPr txBox="1"/>
          <p:nvPr/>
        </p:nvSpPr>
        <p:spPr>
          <a:xfrm>
            <a:off x="838200" y="1212787"/>
            <a:ext cx="3356729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en-US" altLang="ko-KR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Shape</a:t>
            </a:r>
            <a:endParaRPr lang="en-US" altLang="ko-KR" sz="9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protected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area;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Draw() = 0;      </a:t>
            </a:r>
            <a:r>
              <a:rPr lang="en-US" altLang="ko-KR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완전 가상함수</a:t>
            </a:r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GetSize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= 0; </a:t>
            </a:r>
            <a:r>
              <a:rPr lang="en-US" altLang="ko-KR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완전 가상함수</a:t>
            </a:r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Shape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protected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width;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height;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w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0,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0);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Draw();      </a:t>
            </a:r>
            <a:r>
              <a:rPr lang="en-US" altLang="ko-KR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9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오버라이딩</a:t>
            </a:r>
            <a:r>
              <a:rPr lang="ko-KR" altLang="en-US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</a:t>
            </a:r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GetSize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9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오버라이딩</a:t>
            </a:r>
            <a:r>
              <a:rPr lang="ko-KR" altLang="en-US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</a:t>
            </a:r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w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width =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w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height =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::Draw() {</a:t>
            </a:r>
          </a:p>
          <a:p>
            <a:r>
              <a:rPr lang="ko-KR" altLang="en-US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사각형을 그린다</a:t>
            </a:r>
            <a:r>
              <a:rPr lang="en-US" altLang="ko-KR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GetSize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    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area = width * height;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area;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B1752-57EF-442C-855C-C8B0A5D1E84E}"/>
              </a:ext>
            </a:extLst>
          </p:cNvPr>
          <p:cNvSpPr txBox="1"/>
          <p:nvPr/>
        </p:nvSpPr>
        <p:spPr>
          <a:xfrm>
            <a:off x="4417636" y="2882194"/>
            <a:ext cx="33567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b="1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Circle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Shape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protected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radius;</a:t>
            </a: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Circle(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0);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Draw(); </a:t>
            </a:r>
            <a:r>
              <a:rPr lang="en-US" altLang="ko-KR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9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오버라이딩</a:t>
            </a:r>
            <a:r>
              <a:rPr lang="ko-KR" altLang="en-US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GetSize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9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오버라이딩</a:t>
            </a:r>
            <a:r>
              <a:rPr lang="ko-KR" altLang="en-US" sz="9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Circle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::Circle(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radius = </a:t>
            </a:r>
            <a:r>
              <a:rPr lang="en-US" altLang="ko-KR" sz="9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Circle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::Draw() 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원을 그린다</a:t>
            </a:r>
            <a:r>
              <a:rPr lang="en-US" altLang="ko-KR" sz="9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9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9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Circle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9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GetSize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area = radius * radius * 3.14;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9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area;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54BA3-91A9-4601-A7D8-0C183D1C0456}"/>
              </a:ext>
            </a:extLst>
          </p:cNvPr>
          <p:cNvSpPr txBox="1"/>
          <p:nvPr/>
        </p:nvSpPr>
        <p:spPr>
          <a:xfrm>
            <a:off x="7997072" y="2882194"/>
            <a:ext cx="33567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CommonPrn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Shape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0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</a:t>
            </a:r>
            <a:r>
              <a:rPr lang="en-US" altLang="ko-KR" sz="10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0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부모 형식</a:t>
            </a:r>
            <a:endParaRPr lang="en-US" altLang="ko-KR" sz="10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0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-&gt;Draw();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0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//Shape obj;   </a:t>
            </a:r>
            <a:endParaRPr lang="en-US" altLang="ko-KR" sz="10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0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0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r>
              <a:rPr lang="ko-KR" altLang="en-US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0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CommonPrn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(&amp;</a:t>
            </a:r>
            <a:r>
              <a:rPr lang="en-US" altLang="ko-KR" sz="1000" dirty="0" err="1">
                <a:latin typeface="Consolas" panose="020B0609020204030204" pitchFamily="49" charset="0"/>
                <a:ea typeface="돋움체" panose="020B0609000101010101" pitchFamily="49" charset="-127"/>
              </a:rPr>
              <a:t>rect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endParaRPr lang="en-US" altLang="ko-KR" sz="10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Circle </a:t>
            </a:r>
            <a:r>
              <a:rPr lang="en-US" altLang="ko-KR" sz="1000" dirty="0" err="1">
                <a:latin typeface="Consolas" panose="020B0609020204030204" pitchFamily="49" charset="0"/>
                <a:ea typeface="돋움체" panose="020B0609000101010101" pitchFamily="49" charset="-127"/>
              </a:rPr>
              <a:t>circle</a:t>
            </a:r>
            <a:r>
              <a:rPr lang="en-US" altLang="ko-KR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r>
              <a:rPr lang="ko-KR" altLang="en-US" sz="10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CommonPrn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(&amp;</a:t>
            </a:r>
            <a:r>
              <a:rPr lang="en-US" altLang="ko-KR" sz="1000" dirty="0">
                <a:latin typeface="Consolas" panose="020B0609020204030204" pitchFamily="49" charset="0"/>
                <a:ea typeface="돋움체" panose="020B0609000101010101" pitchFamily="49" charset="-127"/>
              </a:rPr>
              <a:t>circle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075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3DC6C-DEA5-4CD4-A413-B25CA8CA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(</a:t>
            </a:r>
            <a:r>
              <a:rPr lang="ko-KR" altLang="en-US" dirty="0" err="1"/>
              <a:t>가상소멸자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34C1-9406-4D57-8EEE-06B0CC5C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5E167-56E2-4DD8-AC23-03D4F59D1F16}"/>
              </a:ext>
            </a:extLst>
          </p:cNvPr>
          <p:cNvSpPr txBox="1"/>
          <p:nvPr/>
        </p:nvSpPr>
        <p:spPr>
          <a:xfrm>
            <a:off x="838200" y="1320083"/>
            <a:ext cx="5105400" cy="375487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First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one;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First(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one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+ 1];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virtual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~First() {   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"~First()"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delete[]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one;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04CD68-9D40-499D-8CD7-CFF8F0403701}"/>
              </a:ext>
            </a:extLst>
          </p:cNvPr>
          <p:cNvSpPr txBox="1"/>
          <p:nvPr/>
        </p:nvSpPr>
        <p:spPr>
          <a:xfrm>
            <a:off x="6096000" y="1297810"/>
            <a:ext cx="5105400" cy="461664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Second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First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two;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Second(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str2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    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First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two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str2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+ 1];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~Second()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"~Second()"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delete[]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two;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First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Second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"simple"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"complex"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delete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919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다중 상속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 err="1">
                <a:latin typeface="+mj-lt"/>
              </a:rPr>
              <a:t>다중상속</a:t>
            </a:r>
            <a:r>
              <a:rPr lang="ko-KR" altLang="en-US" sz="1600" dirty="0" err="1">
                <a:latin typeface="+mj-lt"/>
              </a:rPr>
              <a:t>은</a:t>
            </a:r>
            <a:r>
              <a:rPr lang="ko-KR" altLang="en-US" sz="1600" dirty="0">
                <a:latin typeface="+mj-lt"/>
              </a:rPr>
              <a:t> 둘 이상의 클래스를 상속하는 형태이고</a:t>
            </a:r>
            <a:r>
              <a:rPr lang="en-US" altLang="ko-KR" sz="1600" dirty="0">
                <a:latin typeface="+mj-lt"/>
              </a:rPr>
              <a:t>, </a:t>
            </a:r>
          </a:p>
          <a:p>
            <a:r>
              <a:rPr lang="ko-KR" altLang="en-US" sz="1600" dirty="0">
                <a:latin typeface="+mj-lt"/>
              </a:rPr>
              <a:t>이로 인해서 파생 클래스의 객체는 모든 기초 클래스의 멤버를 포함하게 된다</a:t>
            </a:r>
            <a:r>
              <a:rPr lang="en-US" altLang="ko-KR" sz="1600" dirty="0">
                <a:latin typeface="+mj-lt"/>
              </a:rPr>
              <a:t>.</a:t>
            </a: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56930" y="2230328"/>
            <a:ext cx="5557419" cy="375487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COne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COne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CTwo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CTwo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CThree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CTwo</a:t>
            </a:r>
            <a:endParaRPr lang="en-US" altLang="ko-KR" sz="14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685722" y="2230328"/>
            <a:ext cx="4549347" cy="20621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CThree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a.MyFunc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		//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모호함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a.COne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16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상속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다중상속의</a:t>
            </a:r>
            <a:r>
              <a:rPr lang="ko-KR" altLang="en-US" sz="1800" dirty="0"/>
              <a:t> 모호성</a:t>
            </a:r>
            <a:endParaRPr lang="en-US" altLang="ko-KR" sz="1600" dirty="0"/>
          </a:p>
          <a:p>
            <a:pPr lvl="1"/>
            <a:r>
              <a:rPr lang="ko-KR" altLang="en-US" sz="1600" dirty="0"/>
              <a:t>다이아몬드 문제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dirty="0"/>
              <a:t> 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800" b="1" dirty="0" err="1"/>
              <a:t>가상상속</a:t>
            </a:r>
            <a:endParaRPr lang="en-US" altLang="ko-KR" sz="1800" b="1" dirty="0"/>
          </a:p>
          <a:p>
            <a:pPr lvl="1"/>
            <a:r>
              <a:rPr lang="en-US" altLang="ko-KR" sz="1600" dirty="0"/>
              <a:t>Virtual </a:t>
            </a:r>
            <a:r>
              <a:rPr lang="ko-KR" altLang="en-US" sz="1600" dirty="0"/>
              <a:t>상속으로 인해서 </a:t>
            </a:r>
            <a:r>
              <a:rPr lang="ko-KR" altLang="en-US" sz="1600" b="1" dirty="0"/>
              <a:t>공통의 기초 클래스</a:t>
            </a:r>
            <a:r>
              <a:rPr lang="ko-KR" altLang="en-US" sz="1600" dirty="0"/>
              <a:t>의 멤버를 </a:t>
            </a:r>
            <a:r>
              <a:rPr lang="ko-KR" altLang="en-US" sz="1600"/>
              <a:t>하나만 포함시킴</a:t>
            </a:r>
            <a:endParaRPr lang="ko-KR" altLang="en-US" sz="16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4039824" y="1322360"/>
            <a:ext cx="6377767" cy="310854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CTwo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CThree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CTwo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MyFunc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352550" y="5405795"/>
            <a:ext cx="609600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 };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CTwo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virtual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CBase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 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53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7BFFBDF-E61C-4914-AC9C-498C39DE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4085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상속 제한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7580807-86B4-4F1C-8440-927908EAD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344"/>
            <a:ext cx="10515600" cy="5129553"/>
          </a:xfrm>
        </p:spPr>
        <p:txBody>
          <a:bodyPr>
            <a:normAutofit/>
          </a:bodyPr>
          <a:lstStyle/>
          <a:p>
            <a:r>
              <a:rPr lang="ko-KR" altLang="en-US" sz="1400" b="1" dirty="0">
                <a:latin typeface="Consolas" panose="020B0609020204030204" pitchFamily="49" charset="0"/>
              </a:rPr>
              <a:t>상속은 </a:t>
            </a:r>
            <a:r>
              <a:rPr lang="en-US" altLang="ko-KR" sz="1400" b="1" dirty="0">
                <a:latin typeface="Consolas" panose="020B0609020204030204" pitchFamily="49" charset="0"/>
              </a:rPr>
              <a:t>final </a:t>
            </a:r>
            <a:r>
              <a:rPr lang="ko-KR" altLang="en-US" sz="1400" b="1" dirty="0">
                <a:latin typeface="Consolas" panose="020B0609020204030204" pitchFamily="49" charset="0"/>
              </a:rPr>
              <a:t>키워드로 제한가능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r>
              <a:rPr lang="ko-KR" altLang="en-US" sz="1400" dirty="0">
                <a:latin typeface="Consolas" panose="020B0609020204030204" pitchFamily="49" charset="0"/>
              </a:rPr>
              <a:t>클래스 이름 뒤에 오는 경우는 상속을 제한</a:t>
            </a:r>
            <a:r>
              <a:rPr lang="en-US" altLang="ko-KR" sz="1400" dirty="0">
                <a:latin typeface="Consolas" panose="020B0609020204030204" pitchFamily="49" charset="0"/>
              </a:rPr>
              <a:t>, </a:t>
            </a:r>
            <a:r>
              <a:rPr lang="ko-KR" altLang="en-US" sz="1400" dirty="0">
                <a:latin typeface="Consolas" panose="020B0609020204030204" pitchFamily="49" charset="0"/>
              </a:rPr>
              <a:t>메소드의 경우는 </a:t>
            </a:r>
            <a:r>
              <a:rPr lang="ko-KR" altLang="en-US" sz="1400" dirty="0" err="1">
                <a:latin typeface="Consolas" panose="020B0609020204030204" pitchFamily="49" charset="0"/>
              </a:rPr>
              <a:t>오버라이드</a:t>
            </a:r>
            <a:r>
              <a:rPr lang="ko-KR" altLang="en-US" sz="1400" dirty="0">
                <a:latin typeface="Consolas" panose="020B0609020204030204" pitchFamily="49" charset="0"/>
              </a:rPr>
              <a:t> 제한</a:t>
            </a:r>
            <a:r>
              <a:rPr lang="en-US" altLang="ko-KR" sz="1400" dirty="0">
                <a:latin typeface="Consolas" panose="020B0609020204030204" pitchFamily="49" charset="0"/>
              </a:rPr>
              <a:t>.</a:t>
            </a:r>
          </a:p>
          <a:p>
            <a:endParaRPr lang="en-US" altLang="ko-KR" sz="1400" dirty="0">
              <a:latin typeface="Consolas" panose="020B0609020204030204" pitchFamily="49" charset="0"/>
            </a:endParaRPr>
          </a:p>
          <a:p>
            <a:endParaRPr lang="en-US" altLang="ko-KR" sz="1400" dirty="0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5705D5-A28E-4690-9D8C-1B9CB7672B9E}"/>
              </a:ext>
            </a:extLst>
          </p:cNvPr>
          <p:cNvSpPr/>
          <p:nvPr/>
        </p:nvSpPr>
        <p:spPr>
          <a:xfrm>
            <a:off x="956930" y="2118568"/>
            <a:ext cx="5557419" cy="427809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f1() {}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f1()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override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error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더 이상 상속할 수 없다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virtual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f1()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override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{}   //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F8766E-87B4-4729-A204-BE677EE7BD86}"/>
              </a:ext>
            </a:extLst>
          </p:cNvPr>
          <p:cNvSpPr/>
          <p:nvPr/>
        </p:nvSpPr>
        <p:spPr>
          <a:xfrm>
            <a:off x="6685722" y="2118568"/>
            <a:ext cx="4549347" cy="13234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bool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=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is_final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&gt;::value;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564824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C1412114-258B-484B-8A00-35B5F4A0C2DA}" vid="{909C6BD9-BAA5-464C-8317-02186A3BF4C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2609</TotalTime>
  <Words>4321</Words>
  <Application>Microsoft Office PowerPoint</Application>
  <PresentationFormat>와이드스크린</PresentationFormat>
  <Paragraphs>901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8" baseType="lpstr">
      <vt:lpstr>HY헤드라인M</vt:lpstr>
      <vt:lpstr>IM혜민 Bold</vt:lpstr>
      <vt:lpstr>맑은 고딕</vt:lpstr>
      <vt:lpstr>함초롬돋움</vt:lpstr>
      <vt:lpstr>함초롬바탕</vt:lpstr>
      <vt:lpstr>Arial</vt:lpstr>
      <vt:lpstr>Consolas</vt:lpstr>
      <vt:lpstr>Wingdings</vt:lpstr>
      <vt:lpstr>kdw</vt:lpstr>
      <vt:lpstr>C++ 상속성</vt:lpstr>
      <vt:lpstr>학습목표</vt:lpstr>
      <vt:lpstr>상속</vt:lpstr>
      <vt:lpstr>파생클래스 만들기</vt:lpstr>
      <vt:lpstr>파생클래스 사용하기</vt:lpstr>
      <vt:lpstr>클래스간의 상속관계</vt:lpstr>
      <vt:lpstr>상속과 접근지정자</vt:lpstr>
      <vt:lpstr>예제</vt:lpstr>
      <vt:lpstr>상속 관계에서의 생성자</vt:lpstr>
      <vt:lpstr>상속 관계에서의 생성자 소멸자</vt:lpstr>
      <vt:lpstr>상속 관계에서의 생성자</vt:lpstr>
      <vt:lpstr>기반 클래스의 생성자 명시적 호출</vt:lpstr>
      <vt:lpstr>기반 클래스 생성자에 매개변수 전달하기</vt:lpstr>
      <vt:lpstr>예제</vt:lpstr>
      <vt:lpstr>함수의 오버라이딩(overriding)</vt:lpstr>
      <vt:lpstr>함수의 오버라이딩(overriding)</vt:lpstr>
      <vt:lpstr>상속관계의 형변환</vt:lpstr>
      <vt:lpstr>업 캐스팅과 다운 캐스팅</vt:lpstr>
      <vt:lpstr>다운 캐스팅을 위한 강제 형변환</vt:lpstr>
      <vt:lpstr>업캐스팅과 다운캐스팅의 메모리 구조</vt:lpstr>
      <vt:lpstr>상속관계의 형 변환 정리</vt:lpstr>
      <vt:lpstr>업 캐스팅과 멤버함수 오버라이딩</vt:lpstr>
      <vt:lpstr>예제</vt:lpstr>
      <vt:lpstr>동적 바인딩과 가상함수</vt:lpstr>
      <vt:lpstr>상속관계에서의 접근기준</vt:lpstr>
      <vt:lpstr>정적 바인딩과 동적바인딩</vt:lpstr>
      <vt:lpstr>동적바인딩의 조건</vt:lpstr>
      <vt:lpstr>가상함수</vt:lpstr>
      <vt:lpstr>동적 바인딩과 가상함수</vt:lpstr>
      <vt:lpstr>예제</vt:lpstr>
      <vt:lpstr>다형성 (Polymorphism)</vt:lpstr>
      <vt:lpstr>완전 가상함수와 추상 클래스</vt:lpstr>
      <vt:lpstr>완전 가상함수와 추상 클래스</vt:lpstr>
      <vt:lpstr>예제</vt:lpstr>
      <vt:lpstr>예제 (다형성)</vt:lpstr>
      <vt:lpstr>예제 (가상소멸자)</vt:lpstr>
      <vt:lpstr>다중 상속</vt:lpstr>
      <vt:lpstr>다중 상속</vt:lpstr>
      <vt:lpstr>상속 제한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620</cp:revision>
  <dcterms:created xsi:type="dcterms:W3CDTF">2020-02-16T05:20:05Z</dcterms:created>
  <dcterms:modified xsi:type="dcterms:W3CDTF">2024-07-01T04:23:31Z</dcterms:modified>
</cp:coreProperties>
</file>