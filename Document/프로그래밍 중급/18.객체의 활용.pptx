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61" r:id="rId3"/>
    <p:sldId id="265" r:id="rId4"/>
    <p:sldId id="269" r:id="rId5"/>
    <p:sldId id="262" r:id="rId6"/>
    <p:sldId id="270" r:id="rId7"/>
    <p:sldId id="282" r:id="rId8"/>
    <p:sldId id="271" r:id="rId9"/>
    <p:sldId id="272" r:id="rId10"/>
    <p:sldId id="273" r:id="rId11"/>
    <p:sldId id="274" r:id="rId12"/>
    <p:sldId id="288" r:id="rId13"/>
    <p:sldId id="263" r:id="rId14"/>
    <p:sldId id="291" r:id="rId15"/>
    <p:sldId id="27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37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06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59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4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0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68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24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84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49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21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5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객체의 활용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객체 배열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객체 포인터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객체의 </a:t>
            </a:r>
            <a:r>
              <a:rPr lang="ko-KR" altLang="en-US" dirty="0" err="1"/>
              <a:t>맴버</a:t>
            </a:r>
            <a:r>
              <a:rPr lang="ko-KR" altLang="en-US" dirty="0"/>
              <a:t> 접근 </a:t>
            </a:r>
            <a:r>
              <a:rPr lang="en-US" altLang="ko-KR" dirty="0"/>
              <a:t>– this </a:t>
            </a:r>
            <a:r>
              <a:rPr lang="ko-KR" altLang="en-US" dirty="0"/>
              <a:t>포인터</a:t>
            </a:r>
          </a:p>
          <a:p>
            <a:r>
              <a:rPr lang="ko-KR" altLang="en-US" dirty="0"/>
              <a:t>객체의 매개변수 전달 방식 </a:t>
            </a:r>
            <a:r>
              <a:rPr lang="en-US" altLang="ko-KR" dirty="0"/>
              <a:t>– call by reference</a:t>
            </a:r>
          </a:p>
          <a:p>
            <a:endParaRPr lang="en-US" altLang="ko-KR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6429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객체 배열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객체</a:t>
            </a:r>
            <a:r>
              <a:rPr lang="ko-KR" altLang="en-US" sz="1600" b="1" dirty="0"/>
              <a:t> </a:t>
            </a:r>
            <a:r>
              <a:rPr lang="ko-KR" altLang="en-US" sz="1600" b="1" dirty="0">
                <a:solidFill>
                  <a:srgbClr val="C00000"/>
                </a:solidFill>
              </a:rPr>
              <a:t>배열</a:t>
            </a:r>
            <a:r>
              <a:rPr lang="ko-KR" altLang="en-US" sz="1600" dirty="0"/>
              <a:t>을 선언할 때에는 클래스를 선언한 후 </a:t>
            </a:r>
            <a:r>
              <a:rPr lang="ko-KR" altLang="en-US" sz="1600" b="1" dirty="0"/>
              <a:t>객체를 선언할 때</a:t>
            </a:r>
            <a:r>
              <a:rPr lang="ko-KR" altLang="en-US" sz="1600" dirty="0"/>
              <a:t> 배열 형태로만 선언하면 된다</a:t>
            </a:r>
            <a:endParaRPr lang="en-US" altLang="ko-KR" sz="1600" dirty="0"/>
          </a:p>
          <a:p>
            <a:pPr lvl="1"/>
            <a:r>
              <a:rPr lang="ko-KR" altLang="en-US" sz="1200" dirty="0"/>
              <a:t>클래스명 객체</a:t>
            </a:r>
            <a:r>
              <a:rPr lang="en-US" altLang="ko-KR" sz="1200" dirty="0"/>
              <a:t>_</a:t>
            </a:r>
            <a:r>
              <a:rPr lang="ko-KR" altLang="en-US" sz="1200" dirty="0" err="1"/>
              <a:t>배열명</a:t>
            </a:r>
            <a:r>
              <a:rPr lang="ko-KR" altLang="en-US" sz="1200" dirty="0"/>
              <a:t> </a:t>
            </a:r>
            <a:r>
              <a:rPr lang="en-US" altLang="ko-KR" sz="1200" dirty="0"/>
              <a:t>[ </a:t>
            </a:r>
            <a:r>
              <a:rPr lang="ko-KR" altLang="en-US" sz="1200" dirty="0" err="1"/>
              <a:t>원소개수</a:t>
            </a:r>
            <a:r>
              <a:rPr lang="ko-KR" altLang="en-US" sz="1200" dirty="0"/>
              <a:t> </a:t>
            </a:r>
            <a:r>
              <a:rPr lang="en-US" altLang="ko-KR" sz="1200" dirty="0"/>
              <a:t>];</a:t>
            </a:r>
            <a:endParaRPr lang="ko-KR" altLang="en-US" sz="1200" dirty="0"/>
          </a:p>
          <a:p>
            <a:pPr marL="457200" lvl="1" indent="0">
              <a:buNone/>
            </a:pPr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en-US" altLang="ko-KR" dirty="0">
                <a:latin typeface="Consolas" panose="020B0609020204030204" pitchFamily="49" charset="0"/>
              </a:rPr>
              <a:t>array</a:t>
            </a:r>
            <a:r>
              <a:rPr lang="en-US" altLang="ko-KR" b="1" dirty="0">
                <a:latin typeface="Consolas" panose="020B0609020204030204" pitchFamily="49" charset="0"/>
              </a:rPr>
              <a:t>[4] </a:t>
            </a:r>
            <a:r>
              <a:rPr lang="en-US" altLang="ko-KR" dirty="0"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endParaRPr lang="ko-KR" altLang="en-US" sz="1400" dirty="0"/>
          </a:p>
          <a:p>
            <a:r>
              <a:rPr lang="ko-KR" altLang="en-US" sz="1600" b="1" dirty="0"/>
              <a:t>객체 배열을 참조할 때</a:t>
            </a:r>
            <a:r>
              <a:rPr lang="ko-KR" altLang="en-US" sz="1600" dirty="0"/>
              <a:t>는 객체 </a:t>
            </a:r>
            <a:r>
              <a:rPr lang="ko-KR" altLang="en-US" sz="1600" dirty="0" err="1"/>
              <a:t>배열명</a:t>
            </a:r>
            <a:r>
              <a:rPr lang="ko-KR" altLang="en-US" sz="1600" dirty="0"/>
              <a:t> 다음에 첨자를 사용하여 위치의 원소를 지정하면 된다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200" dirty="0"/>
              <a:t>객체</a:t>
            </a:r>
            <a:r>
              <a:rPr lang="en-US" altLang="ko-KR" sz="1200" dirty="0"/>
              <a:t>_</a:t>
            </a:r>
            <a:r>
              <a:rPr lang="ko-KR" altLang="en-US" sz="1200" dirty="0" err="1"/>
              <a:t>배열명</a:t>
            </a:r>
            <a:r>
              <a:rPr lang="en-US" altLang="ko-KR" sz="1200" dirty="0"/>
              <a:t>[</a:t>
            </a:r>
            <a:r>
              <a:rPr lang="ko-KR" altLang="en-US" sz="1200" dirty="0"/>
              <a:t>첨자</a:t>
            </a:r>
            <a:r>
              <a:rPr lang="en-US" altLang="ko-KR" sz="1200" dirty="0"/>
              <a:t>]</a:t>
            </a:r>
            <a:r>
              <a:rPr lang="en-US" altLang="ko-KR" sz="1200" b="1" dirty="0"/>
              <a:t>.</a:t>
            </a:r>
            <a:r>
              <a:rPr lang="ko-KR" altLang="en-US" sz="1200" dirty="0"/>
              <a:t>멤버</a:t>
            </a:r>
            <a:r>
              <a:rPr lang="en-US" altLang="ko-KR" sz="1200" dirty="0"/>
              <a:t>;</a:t>
            </a:r>
          </a:p>
          <a:p>
            <a:pPr marL="457200" lvl="1" indent="0">
              <a:buNone/>
            </a:pPr>
            <a:r>
              <a:rPr lang="en-US" altLang="ko-KR" dirty="0">
                <a:latin typeface="Consolas" panose="020B0609020204030204" pitchFamily="49" charset="0"/>
              </a:rPr>
              <a:t>array</a:t>
            </a:r>
            <a:r>
              <a:rPr lang="en-US" altLang="ko-KR" b="1" dirty="0">
                <a:latin typeface="Consolas" panose="020B0609020204030204" pitchFamily="49" charset="0"/>
              </a:rPr>
              <a:t>[0].</a:t>
            </a:r>
            <a:r>
              <a:rPr lang="en-US" altLang="ko-KR" dirty="0">
                <a:latin typeface="Consolas" panose="020B0609020204030204" pitchFamily="49" charset="0"/>
              </a:rPr>
              <a:t>Show();</a:t>
            </a:r>
          </a:p>
          <a:p>
            <a:pPr lvl="1"/>
            <a:endParaRPr lang="en-US" altLang="ko-KR" sz="1400" dirty="0"/>
          </a:p>
          <a:p>
            <a:r>
              <a:rPr lang="ko-KR" altLang="en-US" sz="1600" dirty="0"/>
              <a:t>객체 배열의 원소를 </a:t>
            </a:r>
            <a:r>
              <a:rPr lang="ko-KR" altLang="en-US" sz="1600" b="1" dirty="0"/>
              <a:t>초기화</a:t>
            </a:r>
            <a:r>
              <a:rPr lang="ko-KR" altLang="en-US" sz="1600" dirty="0"/>
              <a:t>하려고 명시적으로 </a:t>
            </a:r>
            <a:r>
              <a:rPr lang="ko-KR" altLang="en-US" sz="1600" b="1" dirty="0" err="1"/>
              <a:t>생성자를</a:t>
            </a:r>
            <a:r>
              <a:rPr lang="ko-KR" altLang="en-US" sz="1600" b="1" dirty="0"/>
              <a:t> 호출</a:t>
            </a:r>
            <a:r>
              <a:rPr lang="ko-KR" altLang="en-US" sz="1600" dirty="0"/>
              <a:t>할 수 있다</a:t>
            </a:r>
            <a:r>
              <a:rPr lang="en-US" altLang="ko-KR" sz="1600" dirty="0"/>
              <a:t>.</a:t>
            </a:r>
          </a:p>
          <a:p>
            <a:pPr marL="457200" lvl="1" indent="0">
              <a:buNone/>
            </a:pPr>
            <a:r>
              <a:rPr lang="en-US" altLang="ko-KR" sz="1600" dirty="0" err="1">
                <a:solidFill>
                  <a:srgbClr val="2B91AF"/>
                </a:solidFill>
                <a:ea typeface="돋움체" panose="020B0609000101010101" pitchFamily="49" charset="-127"/>
              </a:rPr>
              <a:t>MyClass</a:t>
            </a:r>
            <a:r>
              <a:rPr lang="en-US" altLang="ko-KR" sz="1600" dirty="0"/>
              <a:t> array[4] = {</a:t>
            </a:r>
          </a:p>
          <a:p>
            <a:pPr marL="457200" lvl="1" indent="0">
              <a:buNone/>
            </a:pPr>
            <a:r>
              <a:rPr lang="en-US" altLang="ko-KR" sz="1600" dirty="0"/>
              <a:t>	 </a:t>
            </a: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MyClass</a:t>
            </a:r>
            <a:r>
              <a:rPr lang="en-US" altLang="ko-KR" sz="1600" dirty="0"/>
              <a:t>(1), </a:t>
            </a: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MyClass</a:t>
            </a:r>
            <a:r>
              <a:rPr lang="en-US" altLang="ko-KR" sz="1600" dirty="0"/>
              <a:t>(2), </a:t>
            </a: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MyClass</a:t>
            </a:r>
            <a:r>
              <a:rPr lang="en-US" altLang="ko-KR" sz="1600" dirty="0"/>
              <a:t>(3), </a:t>
            </a:r>
            <a:r>
              <a:rPr lang="en-US" altLang="ko-KR" sz="1600" dirty="0" err="1">
                <a:solidFill>
                  <a:schemeClr val="accent1">
                    <a:lumMod val="75000"/>
                  </a:schemeClr>
                </a:solidFill>
              </a:rPr>
              <a:t>MyClass</a:t>
            </a:r>
            <a:r>
              <a:rPr lang="en-US" altLang="ko-KR" sz="1600" dirty="0"/>
              <a:t>(4)	 </a:t>
            </a:r>
            <a:r>
              <a:rPr lang="en-US" altLang="ko-KR" sz="1600" dirty="0">
                <a:solidFill>
                  <a:srgbClr val="006600"/>
                </a:solidFill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</a:rPr>
              <a:t>콤마로</a:t>
            </a:r>
            <a:r>
              <a:rPr lang="en-US" altLang="ko-KR" sz="1600" dirty="0">
                <a:solidFill>
                  <a:srgbClr val="006600"/>
                </a:solidFill>
              </a:rPr>
              <a:t> </a:t>
            </a:r>
            <a:r>
              <a:rPr lang="ko-KR" altLang="en-US" sz="1600" dirty="0">
                <a:solidFill>
                  <a:srgbClr val="006600"/>
                </a:solidFill>
              </a:rPr>
              <a:t>구분</a:t>
            </a:r>
            <a:endParaRPr lang="en-US" altLang="ko-KR" sz="1600" dirty="0">
              <a:solidFill>
                <a:srgbClr val="006600"/>
              </a:solidFill>
            </a:endParaRPr>
          </a:p>
          <a:p>
            <a:pPr marL="457200" lvl="1" indent="0">
              <a:buNone/>
            </a:pPr>
            <a:r>
              <a:rPr lang="en-US" altLang="ko-KR" sz="1600" dirty="0"/>
              <a:t>};</a:t>
            </a:r>
            <a:endParaRPr lang="en-US" altLang="ko-KR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7881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235676"/>
            <a:ext cx="105156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num(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	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array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[4] = {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(1),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(2),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(3),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(4) };	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객체 배열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array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[0].Show();	</a:t>
            </a:r>
            <a:endParaRPr lang="en-US" altLang="ko-KR" sz="1600" dirty="0">
              <a:solidFill>
                <a:srgbClr val="0000F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166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객체 포인터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객체 포인터 변수를 선언하는 기본 형식</a:t>
            </a:r>
            <a:endParaRPr lang="en-US" altLang="ko-KR" sz="1800" dirty="0"/>
          </a:p>
          <a:p>
            <a:pPr lvl="1"/>
            <a:r>
              <a:rPr lang="ko-KR" altLang="en-US" sz="1600" b="1" dirty="0" err="1">
                <a:latin typeface="+mn-ea"/>
              </a:rPr>
              <a:t>클래스명</a:t>
            </a:r>
            <a:r>
              <a:rPr lang="ko-KR" altLang="en-US" sz="1600" b="1" dirty="0">
                <a:latin typeface="+mn-ea"/>
              </a:rPr>
              <a:t> *</a:t>
            </a:r>
            <a:r>
              <a:rPr lang="ko-KR" altLang="en-US" sz="1600" dirty="0">
                <a:latin typeface="+mn-ea"/>
              </a:rPr>
              <a:t> 객체 포인터 변수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lvl="1"/>
            <a:r>
              <a:rPr lang="ko-KR" altLang="en-US" sz="1600" dirty="0"/>
              <a:t>객체 포인터 변수는 특정 객체 변수의 </a:t>
            </a:r>
            <a:r>
              <a:rPr lang="ko-KR" altLang="en-US" sz="1600" b="1" dirty="0" err="1"/>
              <a:t>주소값</a:t>
            </a:r>
            <a:r>
              <a:rPr lang="ko-KR" altLang="en-US" sz="1600" dirty="0" err="1"/>
              <a:t>을</a:t>
            </a:r>
            <a:r>
              <a:rPr lang="ko-KR" altLang="en-US" sz="1600" dirty="0"/>
              <a:t> 저장하고 있어야 한다</a:t>
            </a:r>
            <a:endParaRPr lang="en-US" altLang="ko-KR" sz="1600" dirty="0"/>
          </a:p>
          <a:p>
            <a:pPr lvl="1"/>
            <a:r>
              <a:rPr lang="ko-KR" altLang="en-US" sz="1600" b="1" dirty="0" err="1"/>
              <a:t>멤버참조</a:t>
            </a:r>
            <a:r>
              <a:rPr lang="ko-KR" altLang="en-US" sz="1600" b="1" dirty="0"/>
              <a:t> 연산자</a:t>
            </a:r>
            <a:r>
              <a:rPr lang="ko-KR" altLang="en-US" sz="1600" dirty="0"/>
              <a:t>가 </a:t>
            </a:r>
            <a:r>
              <a:rPr lang="en-US" altLang="ko-KR" sz="1600" dirty="0"/>
              <a:t>2</a:t>
            </a:r>
            <a:r>
              <a:rPr lang="ko-KR" altLang="en-US" sz="1600" dirty="0"/>
              <a:t>개 존재한다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600" b="1" dirty="0">
                <a:latin typeface="Consolas" panose="020B0609020204030204" pitchFamily="49" charset="0"/>
              </a:rPr>
              <a:t> .  </a:t>
            </a:r>
            <a:r>
              <a:rPr lang="ko-KR" altLang="en-US" sz="1600" b="1" dirty="0">
                <a:latin typeface="Consolas" panose="020B0609020204030204" pitchFamily="49" charset="0"/>
              </a:rPr>
              <a:t>연산자</a:t>
            </a:r>
            <a:r>
              <a:rPr lang="ko-KR" altLang="en-US" sz="1600" dirty="0">
                <a:latin typeface="Consolas" panose="020B0609020204030204" pitchFamily="49" charset="0"/>
              </a:rPr>
              <a:t>는 객체로 멤버에 접근할 때 사용하고</a:t>
            </a:r>
            <a:r>
              <a:rPr lang="en-US" altLang="ko-KR" sz="1600" dirty="0">
                <a:latin typeface="Consolas" panose="020B0609020204030204" pitchFamily="49" charset="0"/>
              </a:rPr>
              <a:t>, </a:t>
            </a:r>
          </a:p>
          <a:p>
            <a:pPr marL="457200" lvl="1" indent="0">
              <a:buNone/>
            </a:pPr>
            <a:r>
              <a:rPr lang="en-US" altLang="ko-KR" sz="1600" b="1" dirty="0">
                <a:latin typeface="Consolas" panose="020B0609020204030204" pitchFamily="49" charset="0"/>
              </a:rPr>
              <a:t> -&gt; </a:t>
            </a:r>
            <a:r>
              <a:rPr lang="ko-KR" altLang="en-US" sz="1600" b="1" dirty="0">
                <a:latin typeface="Consolas" panose="020B0609020204030204" pitchFamily="49" charset="0"/>
              </a:rPr>
              <a:t>연산자</a:t>
            </a:r>
            <a:r>
              <a:rPr lang="ko-KR" altLang="en-US" sz="1600" dirty="0">
                <a:latin typeface="Consolas" panose="020B0609020204030204" pitchFamily="49" charset="0"/>
              </a:rPr>
              <a:t>는 객체 포인터로 멤버를 참조할 때 사용한다</a:t>
            </a:r>
          </a:p>
          <a:p>
            <a:pPr lvl="1"/>
            <a:endParaRPr lang="en-US" altLang="ko-KR" sz="1600" dirty="0"/>
          </a:p>
          <a:p>
            <a:endParaRPr lang="ko-KR" altLang="en-US" sz="1800" dirty="0"/>
          </a:p>
        </p:txBody>
      </p:sp>
      <p:sp>
        <p:nvSpPr>
          <p:cNvPr id="4" name="직사각형 3"/>
          <p:cNvSpPr/>
          <p:nvPr/>
        </p:nvSpPr>
        <p:spPr>
          <a:xfrm>
            <a:off x="1019908" y="3747994"/>
            <a:ext cx="10241115" cy="203132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(1);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&amp;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객체 포인터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Show();		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객체 포인터로 접근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en-US" altLang="ko-KR" sz="1600" dirty="0">
              <a:latin typeface="Consolas" panose="020B0609020204030204" pitchFamily="49" charset="0"/>
            </a:endParaRPr>
          </a:p>
          <a:p>
            <a:r>
              <a:rPr lang="en-US" altLang="ko-KR" sz="1600" dirty="0">
                <a:latin typeface="Consolas" panose="020B0609020204030204" pitchFamily="49" charset="0"/>
              </a:rPr>
              <a:t>(*</a:t>
            </a:r>
            <a:r>
              <a:rPr lang="en-US" altLang="ko-KR" sz="1600" dirty="0" err="1">
                <a:latin typeface="Consolas" panose="020B0609020204030204" pitchFamily="49" charset="0"/>
              </a:rPr>
              <a:t>pClass</a:t>
            </a:r>
            <a:r>
              <a:rPr lang="en-US" altLang="ko-KR" sz="1600" dirty="0">
                <a:latin typeface="Consolas" panose="020B0609020204030204" pitchFamily="49" charset="0"/>
              </a:rPr>
              <a:t>)</a:t>
            </a:r>
            <a:r>
              <a:rPr lang="en-US" altLang="ko-KR" sz="1600" b="1" dirty="0">
                <a:latin typeface="Consolas" panose="020B0609020204030204" pitchFamily="49" charset="0"/>
              </a:rPr>
              <a:t>.</a:t>
            </a:r>
            <a:r>
              <a:rPr lang="en-US" altLang="ko-KR" sz="1600" dirty="0">
                <a:latin typeface="Consolas" panose="020B0609020204030204" pitchFamily="49" charset="0"/>
              </a:rPr>
              <a:t>Show();	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객체로 접근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827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객체 배열과 포인터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/>
              <a:t>객체 포인터</a:t>
            </a:r>
            <a:r>
              <a:rPr lang="ko-KR" altLang="en-US" sz="1600" dirty="0"/>
              <a:t>에 </a:t>
            </a:r>
            <a:r>
              <a:rPr lang="ko-KR" altLang="en-US" sz="1600" b="1" dirty="0"/>
              <a:t>객체 </a:t>
            </a:r>
            <a:r>
              <a:rPr lang="ko-KR" altLang="en-US" sz="1600" b="1" dirty="0" err="1"/>
              <a:t>배열명</a:t>
            </a:r>
            <a:r>
              <a:rPr lang="ko-KR" altLang="en-US" sz="1600" dirty="0" err="1"/>
              <a:t>을</a:t>
            </a:r>
            <a:r>
              <a:rPr lang="ko-KR" altLang="en-US" sz="1600" dirty="0"/>
              <a:t> 저장하면 객체 배열의 첫 번째 원소를 가리키게 된다</a:t>
            </a:r>
            <a:endParaRPr lang="en-US" altLang="ko-KR" sz="1600" dirty="0"/>
          </a:p>
          <a:p>
            <a:r>
              <a:rPr lang="ko-KR" altLang="en-US" sz="1600" dirty="0"/>
              <a:t>객체 배열을 가리키는 객체 포인터를 그림으로 표현해 보자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b="1" dirty="0"/>
              <a:t>함수의 매개변수로</a:t>
            </a:r>
            <a:r>
              <a:rPr lang="ko-KR" altLang="en-US" sz="1600" dirty="0"/>
              <a:t> 객체 배열 사용할 수 없다</a:t>
            </a:r>
            <a:r>
              <a:rPr lang="en-US" altLang="ko-KR" sz="1600" dirty="0"/>
              <a:t>. </a:t>
            </a:r>
            <a:r>
              <a:rPr lang="ko-KR" altLang="en-US" sz="1600" dirty="0"/>
              <a:t>포인터로 전달하여 사용</a:t>
            </a:r>
            <a:r>
              <a:rPr lang="en-US" altLang="ko-KR" sz="1600" dirty="0"/>
              <a:t>. </a:t>
            </a:r>
            <a:r>
              <a:rPr lang="en-US" altLang="ko-KR" sz="16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accent4">
                    <a:lumMod val="50000"/>
                  </a:schemeClr>
                </a:solidFill>
              </a:rPr>
              <a:t>연습문제</a:t>
            </a:r>
            <a:r>
              <a:rPr lang="en-US" altLang="ko-KR" sz="16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930976" y="2238876"/>
            <a:ext cx="10330047" cy="280076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altLang="ko-KR" sz="1600" dirty="0">
              <a:solidFill>
                <a:srgbClr val="2B91A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array[4] = 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(1),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(2),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(3),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(4)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array;  </a:t>
            </a:r>
            <a:r>
              <a:rPr lang="en-US" altLang="ko-KR" sz="1600" dirty="0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객체 포인터</a:t>
            </a:r>
            <a:endParaRPr lang="en-US" altLang="ko-KR" sz="1600" dirty="0">
              <a:solidFill>
                <a:srgbClr val="006600"/>
              </a:solidFill>
              <a:latin typeface="+mj-lt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-&gt;Show();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+ 1)-&gt;Show();  </a:t>
            </a:r>
            <a:r>
              <a:rPr lang="en-US" altLang="ko-KR" sz="1600" dirty="0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객체 포인터를 증가시켜서 원하는 위치의 객체 배열 원소의 </a:t>
            </a:r>
            <a:r>
              <a:rPr lang="ko-KR" altLang="en-US" sz="1600" dirty="0" err="1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주소값을</a:t>
            </a:r>
            <a:r>
              <a:rPr lang="ko-KR" altLang="en-US" sz="1600" dirty="0">
                <a:solidFill>
                  <a:srgbClr val="006600"/>
                </a:solidFill>
                <a:latin typeface="+mj-lt"/>
                <a:ea typeface="돋움체" panose="020B0609000101010101" pitchFamily="49" charset="-127"/>
              </a:rPr>
              <a:t> 계산</a:t>
            </a:r>
            <a:endParaRPr lang="en-US" altLang="ko-KR" sz="1600" dirty="0">
              <a:solidFill>
                <a:srgbClr val="006600"/>
              </a:solidFill>
              <a:latin typeface="+mj-lt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+ 2)-&gt;Show();</a:t>
            </a:r>
            <a:endParaRPr lang="en-US" altLang="ko-KR" sz="1600" dirty="0">
              <a:solidFill>
                <a:srgbClr val="006600"/>
              </a:solidFill>
              <a:latin typeface="+mj-lt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6600"/>
              </a:solidFill>
              <a:latin typeface="+mj-lt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828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375824"/>
            <a:ext cx="98708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size_t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++)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(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)-&gt;Show();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array[4] = {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(1),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(2),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(3),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(4) };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객체 배열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//array[0].Show();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array;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(array)/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)) ;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생각해 보기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671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ko-KR" altLang="en-US" dirty="0"/>
              <a:t>객체 내의 </a:t>
            </a:r>
            <a:r>
              <a:rPr lang="ko-KR" altLang="en-US" dirty="0" err="1"/>
              <a:t>멤버변수와</a:t>
            </a:r>
            <a:r>
              <a:rPr lang="ko-KR" altLang="en-US" dirty="0"/>
              <a:t> </a:t>
            </a:r>
            <a:r>
              <a:rPr lang="ko-KR" altLang="en-US" dirty="0" err="1"/>
              <a:t>멤버함수의</a:t>
            </a:r>
            <a:r>
              <a:rPr lang="ko-KR" altLang="en-US" dirty="0"/>
              <a:t>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 err="1">
                <a:latin typeface="Consolas" panose="020B0609020204030204" pitchFamily="49" charset="0"/>
              </a:rPr>
              <a:t>멤버함수를</a:t>
            </a:r>
            <a:r>
              <a:rPr lang="ko-KR" altLang="en-US" sz="1600" dirty="0">
                <a:latin typeface="Consolas" panose="020B0609020204030204" pitchFamily="49" charset="0"/>
              </a:rPr>
              <a:t> 호출하면 함수 내의 </a:t>
            </a:r>
            <a:r>
              <a:rPr lang="ko-KR" altLang="en-US" sz="1600" dirty="0" err="1">
                <a:latin typeface="Consolas" panose="020B0609020204030204" pitchFamily="49" charset="0"/>
              </a:rPr>
              <a:t>멤버변수는</a:t>
            </a:r>
            <a:r>
              <a:rPr lang="ko-KR" altLang="en-US" sz="1600" dirty="0">
                <a:latin typeface="Consolas" panose="020B0609020204030204" pitchFamily="49" charset="0"/>
              </a:rPr>
              <a:t> 특정 객체의 </a:t>
            </a:r>
            <a:r>
              <a:rPr lang="ko-KR" altLang="en-US" sz="1600" dirty="0" err="1">
                <a:latin typeface="Consolas" panose="020B0609020204030204" pitchFamily="49" charset="0"/>
              </a:rPr>
              <a:t>멤버변수가</a:t>
            </a:r>
            <a:r>
              <a:rPr lang="ko-KR" altLang="en-US" sz="1600" dirty="0">
                <a:latin typeface="Consolas" panose="020B0609020204030204" pitchFamily="49" charset="0"/>
              </a:rPr>
              <a:t> 된다</a:t>
            </a:r>
            <a:r>
              <a:rPr lang="en-US" altLang="ko-KR" sz="1600" dirty="0">
                <a:latin typeface="Consolas" panose="020B0609020204030204" pitchFamily="49" charset="0"/>
              </a:rPr>
              <a:t>. </a:t>
            </a:r>
          </a:p>
          <a:p>
            <a:r>
              <a:rPr lang="ko-KR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멤버변수</a:t>
            </a:r>
            <a:r>
              <a:rPr lang="ko-KR" altLang="en-US" sz="1600" dirty="0" err="1">
                <a:latin typeface="Consolas" panose="020B0609020204030204" pitchFamily="49" charset="0"/>
              </a:rPr>
              <a:t>는</a:t>
            </a:r>
            <a:r>
              <a:rPr lang="ko-KR" altLang="en-US" sz="1600" dirty="0">
                <a:latin typeface="Consolas" panose="020B0609020204030204" pitchFamily="49" charset="0"/>
              </a:rPr>
              <a:t> 객체를 선언할 때마다 </a:t>
            </a:r>
            <a:r>
              <a:rPr lang="ko-KR" altLang="en-US" sz="1600" b="1" dirty="0" err="1">
                <a:latin typeface="Consolas" panose="020B0609020204030204" pitchFamily="49" charset="0"/>
              </a:rPr>
              <a:t>기억공간을</a:t>
            </a:r>
            <a:r>
              <a:rPr lang="ko-KR" altLang="en-US" sz="1600" b="1" dirty="0">
                <a:latin typeface="Consolas" panose="020B0609020204030204" pitchFamily="49" charset="0"/>
              </a:rPr>
              <a:t> 따로 </a:t>
            </a:r>
            <a:r>
              <a:rPr lang="ko-KR" altLang="en-US" sz="1600" b="1" dirty="0" err="1">
                <a:latin typeface="Consolas" panose="020B0609020204030204" pitchFamily="49" charset="0"/>
              </a:rPr>
              <a:t>할당</a:t>
            </a:r>
            <a:r>
              <a:rPr lang="ko-KR" altLang="en-US" sz="1600" dirty="0" err="1">
                <a:latin typeface="Consolas" panose="020B0609020204030204" pitchFamily="49" charset="0"/>
              </a:rPr>
              <a:t>받아</a:t>
            </a:r>
            <a:r>
              <a:rPr lang="ko-KR" altLang="en-US" sz="1600" dirty="0">
                <a:latin typeface="Consolas" panose="020B0609020204030204" pitchFamily="49" charset="0"/>
              </a:rPr>
              <a:t> 관리된다</a:t>
            </a:r>
            <a:r>
              <a:rPr lang="en-US" altLang="ko-KR" sz="1600" dirty="0">
                <a:latin typeface="Consolas" panose="020B0609020204030204" pitchFamily="49" charset="0"/>
              </a:rPr>
              <a:t>. </a:t>
            </a:r>
          </a:p>
          <a:p>
            <a:r>
              <a:rPr lang="ko-KR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멤버함수</a:t>
            </a:r>
            <a:r>
              <a:rPr lang="ko-KR" altLang="en-US" sz="1600" dirty="0" err="1">
                <a:latin typeface="Consolas" panose="020B0609020204030204" pitchFamily="49" charset="0"/>
              </a:rPr>
              <a:t>는</a:t>
            </a:r>
            <a:r>
              <a:rPr lang="ko-KR" altLang="en-US" sz="1600" dirty="0">
                <a:latin typeface="Consolas" panose="020B0609020204030204" pitchFamily="49" charset="0"/>
              </a:rPr>
              <a:t> 멤버변수처럼</a:t>
            </a:r>
            <a:r>
              <a:rPr lang="ko-KR" altLang="en-US" sz="1600" b="1" dirty="0">
                <a:latin typeface="Consolas" panose="020B0609020204030204" pitchFamily="49" charset="0"/>
              </a:rPr>
              <a:t> 따로 관리되지 않고</a:t>
            </a:r>
            <a:r>
              <a:rPr lang="ko-KR" altLang="en-US" sz="1600" dirty="0">
                <a:latin typeface="Consolas" panose="020B0609020204030204" pitchFamily="49" charset="0"/>
              </a:rPr>
              <a:t> 호출할 때 어떤 객체로 </a:t>
            </a:r>
            <a:r>
              <a:rPr lang="ko-KR" altLang="en-US" sz="1600" dirty="0" err="1">
                <a:latin typeface="Consolas" panose="020B0609020204030204" pitchFamily="49" charset="0"/>
              </a:rPr>
              <a:t>접근했느냐에</a:t>
            </a:r>
            <a:r>
              <a:rPr lang="ko-KR" altLang="en-US" sz="1600" dirty="0">
                <a:latin typeface="Consolas" panose="020B0609020204030204" pitchFamily="49" charset="0"/>
              </a:rPr>
              <a:t> 따라 함수 내에서 출력될 멤버변수의 소속 객체가 정해진다</a:t>
            </a:r>
            <a:endParaRPr lang="en-US" altLang="ko-KR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  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036312" y="3744072"/>
            <a:ext cx="1217720" cy="4334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522749" y="3744072"/>
            <a:ext cx="1217720" cy="4334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254032" y="4442596"/>
            <a:ext cx="3268717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27748" y="5342297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x.Show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624631" y="5342297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y.Show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909418" y="3374740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latin typeface="Consolas" panose="020B0609020204030204" pitchFamily="49" charset="0"/>
              </a:rPr>
              <a:t>y.num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421227" y="3374740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x.num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390897" y="3744072"/>
            <a:ext cx="28076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Consolas" panose="020B0609020204030204" pitchFamily="49" charset="0"/>
              </a:rPr>
              <a:t>MyClass</a:t>
            </a:r>
            <a:r>
              <a:rPr lang="en-US" altLang="ko-KR" dirty="0">
                <a:latin typeface="Consolas" panose="020B0609020204030204" pitchFamily="49" charset="0"/>
              </a:rPr>
              <a:t> x(1);</a:t>
            </a:r>
          </a:p>
          <a:p>
            <a:r>
              <a:rPr lang="en-US" altLang="ko-KR" dirty="0" err="1">
                <a:latin typeface="Consolas" panose="020B0609020204030204" pitchFamily="49" charset="0"/>
              </a:rPr>
              <a:t>MyClass</a:t>
            </a:r>
            <a:r>
              <a:rPr lang="en-US" altLang="ko-KR" dirty="0">
                <a:latin typeface="Consolas" panose="020B0609020204030204" pitchFamily="49" charset="0"/>
              </a:rPr>
              <a:t> y(2);</a:t>
            </a:r>
            <a:endParaRPr lang="en-US" altLang="ko-KR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568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내부 포인터</a:t>
            </a:r>
            <a:r>
              <a:rPr lang="en-US" altLang="ko-KR" dirty="0"/>
              <a:t> this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</a:rPr>
              <a:t>this</a:t>
            </a:r>
            <a:r>
              <a:rPr lang="ko-KR" altLang="en-US" sz="1600" dirty="0"/>
              <a:t>는 컴파일러에 의해 생성되는 포인터</a:t>
            </a:r>
            <a:r>
              <a:rPr lang="en-US" altLang="ko-KR" sz="1600" dirty="0"/>
              <a:t>, </a:t>
            </a:r>
            <a:r>
              <a:rPr lang="ko-KR" altLang="en-US" sz="1600" b="1" dirty="0" err="1"/>
              <a:t>멤버함수를</a:t>
            </a:r>
            <a:r>
              <a:rPr lang="ko-KR" altLang="en-US" sz="1600" b="1" dirty="0"/>
              <a:t> 호출한 객체</a:t>
            </a:r>
            <a:r>
              <a:rPr lang="ko-KR" altLang="en-US" sz="1600" dirty="0"/>
              <a:t>를 가리키고 멤버함수에서만 사용할 수 있다</a:t>
            </a:r>
            <a:r>
              <a:rPr lang="en-US" altLang="ko-KR" sz="1600" dirty="0"/>
              <a:t>.</a:t>
            </a:r>
          </a:p>
          <a:p>
            <a:r>
              <a:rPr lang="ko-KR" altLang="en-US" sz="1600" b="1" dirty="0" err="1"/>
              <a:t>멤버변수</a:t>
            </a:r>
            <a:r>
              <a:rPr lang="ko-KR" altLang="en-US" sz="1600" dirty="0" err="1"/>
              <a:t>는</a:t>
            </a:r>
            <a:r>
              <a:rPr lang="ko-KR" altLang="en-US" sz="1600" dirty="0"/>
              <a:t> ‘</a:t>
            </a:r>
            <a:r>
              <a:rPr lang="ko-KR" altLang="en-US" sz="1600" dirty="0" err="1"/>
              <a:t>객체명</a:t>
            </a:r>
            <a:r>
              <a:rPr lang="en-US" altLang="ko-KR" sz="1600" dirty="0"/>
              <a:t>.</a:t>
            </a:r>
            <a:r>
              <a:rPr lang="ko-KR" altLang="en-US" sz="1600" dirty="0"/>
              <a:t>멤버’ 혹은 ‘</a:t>
            </a:r>
            <a:r>
              <a:rPr lang="ko-KR" altLang="en-US" sz="1600" dirty="0" err="1"/>
              <a:t>객체포인터</a:t>
            </a:r>
            <a:r>
              <a:rPr lang="en-US" altLang="ko-KR" sz="1600" dirty="0"/>
              <a:t>-&gt;</a:t>
            </a:r>
            <a:r>
              <a:rPr lang="ko-KR" altLang="en-US" sz="1600" dirty="0" err="1"/>
              <a:t>멤버’와</a:t>
            </a:r>
            <a:r>
              <a:rPr lang="ko-KR" altLang="en-US" sz="1600" dirty="0"/>
              <a:t> 같이 누구의 멤버인지를 명시해야 하지만</a:t>
            </a:r>
            <a:endParaRPr lang="en-US" altLang="ko-KR" sz="1600" dirty="0"/>
          </a:p>
          <a:p>
            <a:r>
              <a:rPr lang="ko-KR" altLang="en-US" sz="1600" b="1" dirty="0" err="1"/>
              <a:t>멤버함수</a:t>
            </a:r>
            <a:r>
              <a:rPr lang="ko-KR" altLang="en-US" sz="1600" b="1" dirty="0"/>
              <a:t> 내</a:t>
            </a:r>
            <a:r>
              <a:rPr lang="ko-KR" altLang="en-US" sz="1600" dirty="0"/>
              <a:t>에서는 명시 없이 사용이 가능하다</a:t>
            </a:r>
            <a:endParaRPr lang="en-US" altLang="ko-KR" sz="1600" dirty="0"/>
          </a:p>
          <a:p>
            <a:r>
              <a:rPr lang="ko-KR" altLang="en-US" sz="1600" b="1" dirty="0"/>
              <a:t>이유는</a:t>
            </a:r>
            <a:r>
              <a:rPr lang="ko-KR" altLang="en-US" sz="1600" dirty="0"/>
              <a:t> 컴파일러가 암시적으로 모든 멤버 앞에 </a:t>
            </a:r>
            <a:r>
              <a:rPr lang="en-US" altLang="ko-KR" sz="1600" dirty="0"/>
              <a:t>this-&gt;</a:t>
            </a:r>
            <a:r>
              <a:rPr lang="ko-KR" altLang="en-US" sz="1600" dirty="0"/>
              <a:t>를 붙여주었기 때문이다</a:t>
            </a:r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1095219" y="3108499"/>
            <a:ext cx="5240376" cy="3046988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 </a:t>
            </a:r>
            <a:r>
              <a:rPr lang="en-US" altLang="ko-KR" sz="1600" b="1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예시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600" b="1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663558" y="3108499"/>
            <a:ext cx="4690242" cy="206210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x(1);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x.Show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 &amp;x );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71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this </a:t>
            </a:r>
            <a:r>
              <a:rPr lang="ko-KR" altLang="en-US" dirty="0"/>
              <a:t>포인터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this </a:t>
            </a:r>
            <a:r>
              <a:rPr lang="ko-KR" altLang="en-US" sz="1800" dirty="0"/>
              <a:t>포인터</a:t>
            </a:r>
            <a:endParaRPr lang="en-US" altLang="ko-KR" sz="1800" dirty="0"/>
          </a:p>
          <a:p>
            <a:pPr lvl="1">
              <a:buFont typeface="Wingdings" pitchFamily="2" charset="2"/>
              <a:buChar char=""/>
            </a:pPr>
            <a:r>
              <a:rPr lang="en-US" altLang="ko-KR" sz="1600" dirty="0"/>
              <a:t>this </a:t>
            </a:r>
            <a:r>
              <a:rPr lang="ko-KR" altLang="en-US" sz="1600" dirty="0"/>
              <a:t>포인터는 </a:t>
            </a:r>
            <a:r>
              <a:rPr lang="ko-KR" altLang="en-US" sz="1600" dirty="0" err="1"/>
              <a:t>멤버함수</a:t>
            </a:r>
            <a:r>
              <a:rPr lang="ko-KR" altLang="en-US" sz="1600" dirty="0"/>
              <a:t> 내에서 </a:t>
            </a:r>
            <a:r>
              <a:rPr lang="ko-KR" altLang="en-US" sz="1600" b="1" dirty="0"/>
              <a:t>호출 객체의 주소</a:t>
            </a:r>
            <a:r>
              <a:rPr lang="ko-KR" altLang="en-US" sz="1600" dirty="0"/>
              <a:t>를 저장하는 포인터다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"/>
            </a:pPr>
            <a:r>
              <a:rPr lang="en-US" altLang="ko-KR" sz="1600" dirty="0"/>
              <a:t>this </a:t>
            </a:r>
            <a:r>
              <a:rPr lang="ko-KR" altLang="en-US" sz="1600" dirty="0"/>
              <a:t>포인터는 컴파일러에 의해서 제공되므로 프로그래머가 </a:t>
            </a:r>
            <a:r>
              <a:rPr lang="ko-KR" altLang="en-US" sz="1600" b="1" dirty="0"/>
              <a:t>별도로 선언하지 않아도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멤버함수</a:t>
            </a:r>
            <a:r>
              <a:rPr lang="ko-KR" altLang="en-US" sz="1600" dirty="0"/>
              <a:t> 내에 항상 존재한다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"/>
            </a:pPr>
            <a:r>
              <a:rPr lang="ko-KR" altLang="en-US" sz="1600" dirty="0" err="1"/>
              <a:t>멤버함수가</a:t>
            </a:r>
            <a:r>
              <a:rPr lang="ko-KR" altLang="en-US" sz="1600" dirty="0"/>
              <a:t> </a:t>
            </a:r>
            <a:r>
              <a:rPr lang="ko-KR" altLang="en-US" sz="1600" b="1" dirty="0"/>
              <a:t>호출</a:t>
            </a:r>
            <a:r>
              <a:rPr lang="ko-KR" altLang="en-US" sz="1600" dirty="0"/>
              <a:t>되면 컴파일러는 호출한 객체의 주소를 </a:t>
            </a:r>
            <a:r>
              <a:rPr lang="ko-KR" altLang="en-US" sz="1600" dirty="0" err="1"/>
              <a:t>멤버함수</a:t>
            </a:r>
            <a:r>
              <a:rPr lang="ko-KR" altLang="en-US" sz="1600" dirty="0"/>
              <a:t> 내의 </a:t>
            </a:r>
            <a:r>
              <a:rPr lang="en-US" altLang="ko-KR" sz="1600" dirty="0"/>
              <a:t>this </a:t>
            </a:r>
            <a:r>
              <a:rPr lang="ko-KR" altLang="en-US" sz="1600" dirty="0"/>
              <a:t>포인터에 저장한다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"/>
            </a:pPr>
            <a:r>
              <a:rPr lang="ko-KR" altLang="en-US" sz="1600" dirty="0" err="1"/>
              <a:t>멤버함수</a:t>
            </a:r>
            <a:r>
              <a:rPr lang="ko-KR" altLang="en-US" sz="1600" dirty="0"/>
              <a:t> 내에서 </a:t>
            </a:r>
            <a:r>
              <a:rPr lang="ko-KR" altLang="en-US" sz="1600" dirty="0" err="1"/>
              <a:t>멤버변수를</a:t>
            </a:r>
            <a:r>
              <a:rPr lang="ko-KR" altLang="en-US" sz="1600" dirty="0"/>
              <a:t> 참조하거나 다른 </a:t>
            </a:r>
            <a:r>
              <a:rPr lang="ko-KR" altLang="en-US" sz="1600" dirty="0" err="1"/>
              <a:t>멤버함수를</a:t>
            </a:r>
            <a:r>
              <a:rPr lang="ko-KR" altLang="en-US" sz="1600" dirty="0"/>
              <a:t> 호출할 때 </a:t>
            </a:r>
            <a:r>
              <a:rPr lang="ko-KR" altLang="en-US" sz="1600" b="1" dirty="0"/>
              <a:t>묵시적으로</a:t>
            </a:r>
            <a:r>
              <a:rPr lang="ko-KR" altLang="en-US" sz="1600" dirty="0"/>
              <a:t> </a:t>
            </a:r>
            <a:r>
              <a:rPr lang="en-US" altLang="ko-KR" sz="1600" dirty="0"/>
              <a:t>this </a:t>
            </a:r>
            <a:r>
              <a:rPr lang="ko-KR" altLang="en-US" sz="1600" dirty="0"/>
              <a:t>포인터로 접근한다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"/>
            </a:pPr>
            <a:r>
              <a:rPr lang="ko-KR" altLang="en-US" sz="1600" dirty="0"/>
              <a:t>컴파일러가 </a:t>
            </a:r>
            <a:r>
              <a:rPr lang="ko-KR" altLang="en-US" sz="1600" dirty="0" err="1"/>
              <a:t>멤버변수</a:t>
            </a:r>
            <a:r>
              <a:rPr lang="ko-KR" altLang="en-US" sz="1600" dirty="0"/>
              <a:t> 앞에 자동적으로 포인터를 붙여주므로 </a:t>
            </a:r>
            <a:r>
              <a:rPr lang="en-US" altLang="ko-KR" sz="1600" dirty="0"/>
              <a:t>this </a:t>
            </a:r>
            <a:r>
              <a:rPr lang="ko-KR" altLang="en-US" sz="1600" dirty="0"/>
              <a:t>포인터를 </a:t>
            </a:r>
            <a:r>
              <a:rPr lang="ko-KR" altLang="en-US" sz="1600" b="1" dirty="0"/>
              <a:t>생략</a:t>
            </a:r>
            <a:r>
              <a:rPr lang="ko-KR" altLang="en-US" sz="1600" dirty="0"/>
              <a:t>하는 경우가 많지만</a:t>
            </a:r>
            <a:r>
              <a:rPr lang="en-US" altLang="ko-KR" sz="1600" dirty="0"/>
              <a:t>,</a:t>
            </a:r>
            <a:r>
              <a:rPr lang="ko-KR" altLang="en-US" sz="1600" dirty="0"/>
              <a:t> 프로그래머가 </a:t>
            </a:r>
            <a:r>
              <a:rPr lang="en-US" altLang="ko-KR" sz="1600" dirty="0"/>
              <a:t>this </a:t>
            </a:r>
            <a:r>
              <a:rPr lang="ko-KR" altLang="en-US" sz="1600" dirty="0"/>
              <a:t>포인터를 </a:t>
            </a:r>
            <a:r>
              <a:rPr lang="ko-KR" altLang="en-US" sz="1600" dirty="0" err="1"/>
              <a:t>멤버변수나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멤버함수에</a:t>
            </a:r>
            <a:r>
              <a:rPr lang="ko-KR" altLang="en-US" sz="1600" dirty="0"/>
              <a:t> </a:t>
            </a:r>
            <a:r>
              <a:rPr lang="ko-KR" altLang="en-US" sz="1600" b="1" dirty="0"/>
              <a:t>직접 붙여주어도 상관없다</a:t>
            </a:r>
            <a:r>
              <a:rPr lang="en-US" altLang="ko-KR" sz="16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객체 포인터 </a:t>
            </a:r>
            <a:r>
              <a:rPr lang="en-US" altLang="ko-KR" sz="1800" dirty="0"/>
              <a:t>this</a:t>
            </a:r>
            <a:r>
              <a:rPr lang="ko-KR" altLang="en-US" sz="1800" dirty="0"/>
              <a:t>를 반드시 사용해야 하는 경우</a:t>
            </a:r>
            <a:endParaRPr lang="en-US" altLang="ko-KR" sz="1800" dirty="0"/>
          </a:p>
          <a:p>
            <a:pPr lvl="1"/>
            <a:r>
              <a:rPr lang="ko-KR" altLang="en-US" sz="1600" dirty="0"/>
              <a:t>함수의 매개변수와 멤버변수명이 동일해서 이를 </a:t>
            </a:r>
            <a:r>
              <a:rPr lang="ko-KR" altLang="en-US" sz="1600" b="1" dirty="0"/>
              <a:t>구분</a:t>
            </a:r>
            <a:r>
              <a:rPr lang="ko-KR" altLang="en-US" sz="1600" dirty="0"/>
              <a:t>해야 할 때다</a:t>
            </a:r>
            <a:r>
              <a:rPr lang="en-US" altLang="ko-KR" sz="1600" dirty="0"/>
              <a:t>.</a:t>
            </a:r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50074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객체 포인터 사용하기</a:t>
            </a:r>
            <a:endParaRPr lang="en-US" altLang="ko-KR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B59-353C-485F-B977-04EF5763E803}"/>
              </a:ext>
            </a:extLst>
          </p:cNvPr>
          <p:cNvSpPr txBox="1"/>
          <p:nvPr/>
        </p:nvSpPr>
        <p:spPr>
          <a:xfrm>
            <a:off x="838200" y="1683701"/>
            <a:ext cx="54586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real;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image;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Complex(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=0,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=0 );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pt-BR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::Complex(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pt-BR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real(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), image(</a:t>
            </a:r>
            <a:r>
              <a:rPr lang="pt-BR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pt-BR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"(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+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image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)"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22E49-FB57-414A-9CB6-699D9CA1E369}"/>
              </a:ext>
            </a:extLst>
          </p:cNvPr>
          <p:cNvSpPr txBox="1"/>
          <p:nvPr/>
        </p:nvSpPr>
        <p:spPr>
          <a:xfrm>
            <a:off x="7398327" y="1683701"/>
            <a:ext cx="385131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x(10,20);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x.ShowComplex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y.ShowComplex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pCom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pCom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&amp;x;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pCom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pCom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&amp;y;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pCom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46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1D1AB-761A-4C30-8DF0-B920C87C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CE09D-380B-4F47-9DA1-67821A793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This </a:t>
            </a:r>
            <a:r>
              <a:rPr lang="ko-KR" altLang="en-US" sz="1800" dirty="0"/>
              <a:t>포인터 명시적 사용</a:t>
            </a:r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22C73F-356B-4FE2-892D-4F7BF18B9DC9}"/>
              </a:ext>
            </a:extLst>
          </p:cNvPr>
          <p:cNvSpPr txBox="1"/>
          <p:nvPr/>
        </p:nvSpPr>
        <p:spPr>
          <a:xfrm>
            <a:off x="838200" y="1702401"/>
            <a:ext cx="517207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real;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image;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Complex(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=0,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image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=0);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::Complex(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image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image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image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B85786-5AD6-420D-AC6A-104F48D19D95}"/>
              </a:ext>
            </a:extLst>
          </p:cNvPr>
          <p:cNvSpPr txBox="1"/>
          <p:nvPr/>
        </p:nvSpPr>
        <p:spPr>
          <a:xfrm>
            <a:off x="6096000" y="1702401"/>
            <a:ext cx="517207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//Complex::Complex(int real, int image) 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//{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 this-&gt;real=real; 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 this-&gt;image=image; 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//}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"( 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-&gt;real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+ 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-&gt;image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)"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x(10,20);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x.ShowComplex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405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객체의 매개변수 전달 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dirty="0"/>
              <a:t>객체의 </a:t>
            </a:r>
            <a:r>
              <a:rPr lang="ko-KR" altLang="en-US" sz="1600" b="1" dirty="0"/>
              <a:t>값</a:t>
            </a:r>
            <a:r>
              <a:rPr lang="ko-KR" altLang="en-US" sz="1600" dirty="0"/>
              <a:t>에 의한 전달 방식 </a:t>
            </a:r>
            <a:r>
              <a:rPr lang="en-US" altLang="ko-KR" sz="1600" dirty="0"/>
              <a:t>( Call</a:t>
            </a:r>
            <a:r>
              <a:rPr lang="ko-KR" altLang="en-US" sz="1600" dirty="0"/>
              <a:t> </a:t>
            </a:r>
            <a:r>
              <a:rPr lang="en-US" altLang="ko-KR" sz="1600" dirty="0"/>
              <a:t>by</a:t>
            </a:r>
            <a:r>
              <a:rPr lang="ko-KR" altLang="en-US" sz="1600" dirty="0"/>
              <a:t> </a:t>
            </a:r>
            <a:r>
              <a:rPr lang="en-US" altLang="ko-KR" sz="1600" dirty="0"/>
              <a:t>Value</a:t>
            </a:r>
            <a:r>
              <a:rPr lang="ko-KR" altLang="en-US" sz="1600" dirty="0"/>
              <a:t> 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400" dirty="0"/>
              <a:t>값에 의한 전달 방식은 함수를 호출할 때 기술한 실 매개변수의 값만 함수 측의 형식 매개변수로 전달된다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dirty="0"/>
              <a:t>형식 매개변수는 실 매개변수와는 별개의 기억공간이 할당되고 여기에 값만 복사된다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600" dirty="0"/>
          </a:p>
          <a:p>
            <a:r>
              <a:rPr lang="ko-KR" altLang="en-US" sz="1600" dirty="0"/>
              <a:t>객체의 </a:t>
            </a:r>
            <a:r>
              <a:rPr lang="ko-KR" altLang="en-US" sz="1600" b="1" dirty="0"/>
              <a:t>주소</a:t>
            </a:r>
            <a:r>
              <a:rPr lang="ko-KR" altLang="en-US" sz="1600" dirty="0"/>
              <a:t>에 의한 전달 방식 </a:t>
            </a:r>
            <a:r>
              <a:rPr lang="en-US" altLang="ko-KR" sz="1600" dirty="0"/>
              <a:t>( Call</a:t>
            </a:r>
            <a:r>
              <a:rPr lang="ko-KR" altLang="en-US" sz="1600" dirty="0"/>
              <a:t> </a:t>
            </a:r>
            <a:r>
              <a:rPr lang="en-US" altLang="ko-KR" sz="1600" dirty="0"/>
              <a:t>by</a:t>
            </a:r>
            <a:r>
              <a:rPr lang="ko-KR" altLang="en-US" sz="1600" dirty="0"/>
              <a:t> </a:t>
            </a:r>
            <a:r>
              <a:rPr lang="en-US" altLang="ko-KR" sz="1600" dirty="0"/>
              <a:t>Address</a:t>
            </a:r>
            <a:r>
              <a:rPr lang="ko-KR" altLang="en-US" sz="1600" dirty="0"/>
              <a:t> 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400" dirty="0"/>
              <a:t>함수 호출 후에 변경되어야 하는 실 매개변수는 </a:t>
            </a:r>
            <a:endParaRPr lang="en-US" altLang="ko-KR" sz="1400" dirty="0"/>
          </a:p>
          <a:p>
            <a:pPr lvl="1"/>
            <a:r>
              <a:rPr lang="ko-KR" altLang="en-US" sz="1400" dirty="0"/>
              <a:t>객체의 </a:t>
            </a:r>
            <a:r>
              <a:rPr lang="ko-KR" altLang="en-US" sz="1400" dirty="0" err="1"/>
              <a:t>주소값을</a:t>
            </a:r>
            <a:r>
              <a:rPr lang="ko-KR" altLang="en-US" sz="1400" dirty="0"/>
              <a:t> 전달해 주어 함수 내부에서 포인터로 간접 참조할 수 있도록 해야 한다</a:t>
            </a:r>
            <a:r>
              <a:rPr lang="en-US" altLang="ko-KR" sz="1400" dirty="0"/>
              <a:t>.</a:t>
            </a:r>
          </a:p>
          <a:p>
            <a:pPr lvl="1">
              <a:buNone/>
            </a:pPr>
            <a:endParaRPr lang="en-US" altLang="ko-KR" sz="1400" dirty="0"/>
          </a:p>
          <a:p>
            <a:r>
              <a:rPr lang="ko-KR" altLang="en-US" sz="1600" dirty="0"/>
              <a:t>객체의 </a:t>
            </a:r>
            <a:r>
              <a:rPr lang="ko-KR" altLang="en-US" sz="1600" b="1" dirty="0"/>
              <a:t>참조</a:t>
            </a:r>
            <a:r>
              <a:rPr lang="ko-KR" altLang="en-US" sz="1600" dirty="0"/>
              <a:t>에 의한 전달 방식 </a:t>
            </a:r>
            <a:r>
              <a:rPr lang="en-US" altLang="ko-KR" sz="1600" dirty="0"/>
              <a:t>( Call</a:t>
            </a:r>
            <a:r>
              <a:rPr lang="ko-KR" altLang="en-US" sz="1600" dirty="0"/>
              <a:t> </a:t>
            </a:r>
            <a:r>
              <a:rPr lang="en-US" altLang="ko-KR" sz="1600" dirty="0"/>
              <a:t>by</a:t>
            </a:r>
            <a:r>
              <a:rPr lang="ko-KR" altLang="en-US" sz="1600" dirty="0"/>
              <a:t> </a:t>
            </a:r>
            <a:r>
              <a:rPr lang="en-US" altLang="ko-KR" sz="1600" dirty="0"/>
              <a:t>Reference</a:t>
            </a:r>
            <a:r>
              <a:rPr lang="ko-KR" altLang="en-US" sz="1600" dirty="0"/>
              <a:t> </a:t>
            </a:r>
            <a:r>
              <a:rPr lang="en-US" altLang="ko-KR" sz="1600" dirty="0"/>
              <a:t>)</a:t>
            </a:r>
          </a:p>
          <a:p>
            <a:pPr lvl="1"/>
            <a:r>
              <a:rPr lang="ko-KR" altLang="en-US" sz="1400" dirty="0"/>
              <a:t>참조 변수를 이용하면 실 매개변수의 값을 변경할 수 있다는 장점이 있다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또한 값에 의한 전달 방식은 메모리를 실 매개변수와 별개의 공간으로 만들기 때문에 함수가 호출될 때마다 메모리를 매번 할당하지만 참조 변수는 이름만 부여되기 때문에 메모리를 효율적으로 사용할 수 있다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600" dirty="0"/>
          </a:p>
          <a:p>
            <a:endParaRPr lang="en-US" altLang="ko-KR" sz="1600" dirty="0"/>
          </a:p>
          <a:p>
            <a:pPr lvl="1">
              <a:buNone/>
            </a:pPr>
            <a:r>
              <a:rPr lang="en-US" altLang="ko-KR" sz="1400" dirty="0"/>
              <a:t>	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72440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2409E-3146-4C9B-9C27-0C4178582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99260-9C3D-446F-99CF-C32160BDD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272B7-DC40-47E8-9AD8-8F199D147C58}"/>
              </a:ext>
            </a:extLst>
          </p:cNvPr>
          <p:cNvSpPr txBox="1"/>
          <p:nvPr/>
        </p:nvSpPr>
        <p:spPr>
          <a:xfrm>
            <a:off x="838200" y="1235675"/>
            <a:ext cx="504209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클래스 인스턴스 반환 </a:t>
            </a:r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//Call by Reference</a:t>
            </a:r>
            <a:endParaRPr lang="ko-KR" altLang="en-US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int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 = 0;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pt-B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MyClass(</a:t>
            </a:r>
            <a:r>
              <a:rPr lang="pt-BR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pt-B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pt-BR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pt-B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num(</a:t>
            </a:r>
            <a:r>
              <a:rPr lang="pt-BR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pt-BR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){ }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Add() { ++num; }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{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 </a:t>
            </a:r>
            <a:r>
              <a:rPr lang="en-US" altLang="ko-KR" sz="12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FuncByValue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){</a:t>
            </a:r>
          </a:p>
          <a:p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.Add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FuncByAddress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){</a:t>
            </a:r>
          </a:p>
          <a:p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obj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-&gt;Add();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FuncByReference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){</a:t>
            </a:r>
          </a:p>
          <a:p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.Add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2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54152-2069-44E9-9E1B-AF84B3D62F8B}"/>
              </a:ext>
            </a:extLst>
          </p:cNvPr>
          <p:cNvSpPr txBox="1"/>
          <p:nvPr/>
        </p:nvSpPr>
        <p:spPr>
          <a:xfrm>
            <a:off x="6096000" y="1205259"/>
            <a:ext cx="50420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x(1);</a:t>
            </a:r>
          </a:p>
          <a:p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</a:t>
            </a:r>
            <a:r>
              <a:rPr lang="en-US" altLang="ko-KR" sz="12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x.Show</a:t>
            </a:r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  <a:endParaRPr lang="en-US" altLang="ko-KR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</a:t>
            </a:r>
            <a:r>
              <a:rPr lang="en-US" altLang="ko-KR" sz="12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2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&amp;x;</a:t>
            </a:r>
            <a:endParaRPr lang="en-US" altLang="ko-KR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</a:t>
            </a:r>
            <a:r>
              <a:rPr lang="en-US" altLang="ko-KR" sz="12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-&gt;Show();</a:t>
            </a:r>
            <a:endParaRPr lang="en-US" altLang="ko-KR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//(*</a:t>
            </a:r>
            <a:r>
              <a:rPr lang="en-US" altLang="ko-KR" sz="12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pClass</a:t>
            </a:r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).Show();</a:t>
            </a:r>
            <a:endParaRPr lang="en-US" altLang="ko-KR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=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FuncByValue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(x);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a.Show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b =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FuncByAddress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(&amp;x); b-&gt;Show();</a:t>
            </a:r>
          </a:p>
          <a:p>
            <a:r>
              <a:rPr lang="en-US" altLang="ko-KR" sz="12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2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c =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FuncByReference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(x); </a:t>
            </a:r>
            <a:r>
              <a:rPr lang="en-US" altLang="ko-KR" sz="12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c.Show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ko-KR" altLang="en-US" sz="12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2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149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latin typeface="+mj-ea"/>
              </a:rPr>
              <a:t>예제 </a:t>
            </a:r>
            <a:r>
              <a:rPr lang="en-US" altLang="ko-KR" sz="1800" dirty="0">
                <a:latin typeface="+mj-ea"/>
              </a:rPr>
              <a:t>11-4. </a:t>
            </a:r>
            <a:r>
              <a:rPr lang="ko-KR" altLang="en-US" sz="1800" dirty="0">
                <a:latin typeface="+mj-ea"/>
              </a:rPr>
              <a:t>객체의 값에 의한 전달 방식의 함수 작성하기</a:t>
            </a:r>
            <a:endParaRPr lang="en-US" altLang="ko-KR" sz="1800" dirty="0"/>
          </a:p>
          <a:p>
            <a:r>
              <a:rPr lang="ko-KR" altLang="en-US" sz="1800" dirty="0">
                <a:latin typeface="+mj-ea"/>
              </a:rPr>
              <a:t>예제 </a:t>
            </a:r>
            <a:r>
              <a:rPr lang="en-US" altLang="ko-KR" sz="1800" dirty="0">
                <a:latin typeface="+mj-ea"/>
              </a:rPr>
              <a:t>11-5. </a:t>
            </a:r>
            <a:r>
              <a:rPr lang="ko-KR" altLang="en-US" sz="1800" dirty="0">
                <a:latin typeface="+mj-ea"/>
              </a:rPr>
              <a:t>결과값이 객체인 함수 작성하기</a:t>
            </a:r>
            <a:endParaRPr lang="en-US" altLang="ko-KR" sz="1800" dirty="0"/>
          </a:p>
          <a:p>
            <a:r>
              <a:rPr lang="ko-KR" altLang="en-US" sz="1800" dirty="0">
                <a:latin typeface="+mj-ea"/>
              </a:rPr>
              <a:t>예제 </a:t>
            </a:r>
            <a:r>
              <a:rPr lang="en-US" altLang="ko-KR" sz="1800" dirty="0">
                <a:latin typeface="+mj-ea"/>
              </a:rPr>
              <a:t>11-6. </a:t>
            </a:r>
            <a:r>
              <a:rPr lang="ko-KR" altLang="en-US" sz="1800" dirty="0">
                <a:latin typeface="+mj-ea"/>
              </a:rPr>
              <a:t>객체의</a:t>
            </a:r>
            <a:r>
              <a:rPr lang="en-US" altLang="ko-KR" sz="1800" dirty="0">
                <a:latin typeface="+mj-ea"/>
              </a:rPr>
              <a:t> </a:t>
            </a:r>
            <a:r>
              <a:rPr lang="ko-KR" altLang="en-US" sz="1800" dirty="0">
                <a:latin typeface="+mj-ea"/>
              </a:rPr>
              <a:t>주소에 의한 전달 방식의 함수 작성하기</a:t>
            </a:r>
            <a:endParaRPr lang="en-US" altLang="ko-KR" sz="1800" dirty="0"/>
          </a:p>
          <a:p>
            <a:r>
              <a:rPr lang="ko-KR" altLang="en-US" sz="1800" dirty="0">
                <a:latin typeface="+mj-ea"/>
              </a:rPr>
              <a:t>예제 </a:t>
            </a:r>
            <a:r>
              <a:rPr lang="en-US" altLang="ko-KR" sz="1800" dirty="0">
                <a:latin typeface="+mj-ea"/>
              </a:rPr>
              <a:t>11-7. </a:t>
            </a:r>
            <a:r>
              <a:rPr lang="ko-KR" altLang="en-US" sz="1800" dirty="0">
                <a:latin typeface="+mj-ea"/>
              </a:rPr>
              <a:t>객체의 참조에 의한 전달 방식의 함수 작성하기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57009201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F28DBF1B-01D0-4FBC-BB1B-5659CB34DC19}" vid="{4A242179-4008-4EAD-92AB-026544F4F03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2137</TotalTime>
  <Words>1478</Words>
  <Application>Microsoft Office PowerPoint</Application>
  <PresentationFormat>와이드스크린</PresentationFormat>
  <Paragraphs>282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HY헤드라인M</vt:lpstr>
      <vt:lpstr>맑은 고딕</vt:lpstr>
      <vt:lpstr>Arial</vt:lpstr>
      <vt:lpstr>Consolas</vt:lpstr>
      <vt:lpstr>Wingdings</vt:lpstr>
      <vt:lpstr>kdw</vt:lpstr>
      <vt:lpstr>C++ 객체의 활용</vt:lpstr>
      <vt:lpstr>학습목표</vt:lpstr>
      <vt:lpstr>객체 배열</vt:lpstr>
      <vt:lpstr>예제</vt:lpstr>
      <vt:lpstr>객체 포인터</vt:lpstr>
      <vt:lpstr>객체 배열과 포인터</vt:lpstr>
      <vt:lpstr>연습문제</vt:lpstr>
      <vt:lpstr>객체 내의 멤버변수와 멤버함수의 구조</vt:lpstr>
      <vt:lpstr>내부 포인터 this</vt:lpstr>
      <vt:lpstr>this 포인터 </vt:lpstr>
      <vt:lpstr>예제</vt:lpstr>
      <vt:lpstr>예제</vt:lpstr>
      <vt:lpstr>객체의 매개변수 전달 방식</vt:lpstr>
      <vt:lpstr>예제</vt:lpstr>
      <vt:lpstr>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421</cp:revision>
  <dcterms:created xsi:type="dcterms:W3CDTF">2020-02-16T05:20:05Z</dcterms:created>
  <dcterms:modified xsi:type="dcterms:W3CDTF">2024-05-14T02:33:10Z</dcterms:modified>
</cp:coreProperties>
</file>