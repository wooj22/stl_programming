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61" r:id="rId3"/>
    <p:sldId id="267" r:id="rId4"/>
    <p:sldId id="268" r:id="rId5"/>
    <p:sldId id="269" r:id="rId6"/>
    <p:sldId id="270" r:id="rId7"/>
    <p:sldId id="264" r:id="rId8"/>
    <p:sldId id="271" r:id="rId9"/>
    <p:sldId id="272" r:id="rId10"/>
    <p:sldId id="273" r:id="rId11"/>
    <p:sldId id="275" r:id="rId12"/>
    <p:sldId id="274" r:id="rId13"/>
    <p:sldId id="265" r:id="rId14"/>
    <p:sldId id="27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46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74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33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3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41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99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865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62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32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273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05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319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템플릿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템플릿 함수의 필요성과 정의하는 방법을 학습한다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템플릿 클래스의 필요성과 정의하는 방법을 학습한다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592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템플릿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/>
              <a:t>템플릿</a:t>
            </a:r>
            <a:endParaRPr lang="en-US" altLang="ko-KR" sz="1600" b="1" dirty="0"/>
          </a:p>
          <a:p>
            <a:pPr lvl="1"/>
            <a:r>
              <a:rPr lang="ko-KR" altLang="en-US" sz="1400" dirty="0"/>
              <a:t>사용자</a:t>
            </a:r>
            <a:r>
              <a:rPr lang="en-US" altLang="ko-KR" sz="1400" dirty="0"/>
              <a:t>(</a:t>
            </a:r>
            <a:r>
              <a:rPr lang="ko-KR" altLang="en-US" sz="1400" dirty="0"/>
              <a:t>프로그래머</a:t>
            </a:r>
            <a:r>
              <a:rPr lang="en-US" altLang="ko-KR" sz="1400" dirty="0"/>
              <a:t>)</a:t>
            </a:r>
            <a:r>
              <a:rPr lang="ko-KR" altLang="en-US" sz="1400" dirty="0"/>
              <a:t>가 </a:t>
            </a:r>
            <a:r>
              <a:rPr lang="ko-KR" altLang="en-US" sz="1400" b="1" dirty="0"/>
              <a:t>원하는 타입</a:t>
            </a:r>
            <a:r>
              <a:rPr lang="ko-KR" altLang="en-US" sz="1400" dirty="0"/>
              <a:t>을 넣어주면 알아서 </a:t>
            </a:r>
            <a:r>
              <a:rPr lang="ko-KR" altLang="en-US" sz="1400" b="1" dirty="0"/>
              <a:t>코드를 찍어내는 틀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쉽게 말해 어떠한 물건을 찍어</a:t>
            </a:r>
            <a:r>
              <a:rPr lang="en-US" altLang="ko-KR" sz="1400" dirty="0"/>
              <a:t>7</a:t>
            </a:r>
            <a:r>
              <a:rPr lang="ko-KR" altLang="en-US" sz="1400" dirty="0"/>
              <a:t>내는 틀 이라고 생각하면 됩니다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(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모형자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붕어빵 틀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altLang="ko-KR" sz="1400" dirty="0"/>
          </a:p>
          <a:p>
            <a:pPr lvl="1"/>
            <a:r>
              <a:rPr lang="ko-KR" altLang="en-US" sz="1400" b="1" dirty="0"/>
              <a:t>매개변수 </a:t>
            </a:r>
            <a:r>
              <a:rPr lang="ko-KR" altLang="en-US" sz="1400" b="1" dirty="0" err="1"/>
              <a:t>다형성</a:t>
            </a:r>
            <a:r>
              <a:rPr lang="ko-KR" altLang="en-US" sz="1400" b="1" dirty="0"/>
              <a:t> </a:t>
            </a:r>
            <a:r>
              <a:rPr lang="en-US" altLang="ko-KR" sz="1400" dirty="0"/>
              <a:t>– </a:t>
            </a:r>
            <a:r>
              <a:rPr lang="ko-KR" altLang="en-US" sz="1400" dirty="0"/>
              <a:t>타입이 다른 동일한 코드를 컴파일러가 자동으로 작성</a:t>
            </a:r>
            <a:endParaRPr lang="en-US" altLang="ko-KR" sz="1400" dirty="0"/>
          </a:p>
          <a:p>
            <a:pPr lvl="1"/>
            <a:endParaRPr lang="en-US" altLang="ko-KR" sz="1400" b="1" dirty="0"/>
          </a:p>
          <a:p>
            <a:r>
              <a:rPr lang="ko-KR" altLang="en-US" sz="1600" b="1" dirty="0"/>
              <a:t>일반화</a:t>
            </a:r>
            <a:r>
              <a:rPr lang="ko-KR" altLang="en-US" sz="1600" dirty="0"/>
              <a:t> </a:t>
            </a:r>
            <a:r>
              <a:rPr lang="ko-KR" altLang="en-US" sz="1600" b="1" dirty="0"/>
              <a:t>프로그래밍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en-US" altLang="ko-KR" sz="1600" b="1" dirty="0"/>
              <a:t>Generic Programming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400" dirty="0"/>
              <a:t>효과적인 알고리즘에 대한 가장 추상적인 표현 형태를 찾기 위한 </a:t>
            </a:r>
            <a:r>
              <a:rPr lang="ko-KR" altLang="en-US" sz="1400" b="1" dirty="0"/>
              <a:t>일반적인 </a:t>
            </a:r>
            <a:r>
              <a:rPr lang="ko-KR" altLang="en-US" sz="1400" b="1" dirty="0" err="1"/>
              <a:t>파라미터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가진 프로그래밍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템플릿을 사용하지 않고 여러 타입에 대해서 동작하는 함수를 만들려면</a:t>
            </a:r>
            <a:r>
              <a:rPr lang="en-US" altLang="ko-KR" sz="1400" dirty="0"/>
              <a:t>,</a:t>
            </a:r>
            <a:r>
              <a:rPr lang="ko-KR" altLang="en-US" sz="1400" dirty="0"/>
              <a:t> 각 타입에 대해 </a:t>
            </a:r>
            <a:r>
              <a:rPr lang="ko-KR" altLang="en-US" sz="1400" b="1" dirty="0"/>
              <a:t>함수를 오버로딩</a:t>
            </a:r>
            <a:r>
              <a:rPr lang="ko-KR" altLang="en-US" sz="1400" dirty="0"/>
              <a:t>을 해야 함</a:t>
            </a:r>
            <a:endParaRPr lang="en-US" altLang="ko-KR" sz="1400" dirty="0"/>
          </a:p>
          <a:p>
            <a:pPr lvl="1"/>
            <a:r>
              <a:rPr lang="ko-KR" altLang="en-US" sz="1400" b="1" dirty="0"/>
              <a:t>하나의 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템플릿</a:t>
            </a:r>
            <a:r>
              <a:rPr lang="ko-KR" altLang="en-US" sz="1400" b="1" dirty="0"/>
              <a:t>만으로 함수를 오버로딩하는 효과</a:t>
            </a:r>
            <a:r>
              <a:rPr lang="ko-KR" altLang="en-US" sz="1400" dirty="0"/>
              <a:t>를 가질 수 있다면</a:t>
            </a:r>
            <a:r>
              <a:rPr lang="en-US" altLang="ko-KR" sz="1400" dirty="0"/>
              <a:t>,</a:t>
            </a:r>
            <a:r>
              <a:rPr lang="ko-KR" altLang="en-US" sz="1400" dirty="0"/>
              <a:t> 이것이 일반화 프로그래밍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r>
              <a:rPr lang="en-US" altLang="ko-KR" sz="1600" dirty="0"/>
              <a:t>C</a:t>
            </a:r>
            <a:r>
              <a:rPr lang="ko-KR" altLang="en-US" sz="1600" dirty="0"/>
              <a:t>언어에서</a:t>
            </a:r>
            <a:r>
              <a:rPr lang="en-US" altLang="ko-KR" sz="1600" dirty="0"/>
              <a:t> </a:t>
            </a:r>
            <a:r>
              <a:rPr lang="ko-KR" altLang="en-US" sz="1600" dirty="0"/>
              <a:t>일반화 </a:t>
            </a:r>
            <a:r>
              <a:rPr lang="en-US" altLang="ko-KR" sz="1600" dirty="0"/>
              <a:t>– </a:t>
            </a:r>
            <a:r>
              <a:rPr lang="en-US" altLang="ko-KR" sz="1600" b="1" dirty="0"/>
              <a:t>STL</a:t>
            </a:r>
            <a:r>
              <a:rPr lang="ko-KR" altLang="en-US" sz="1600" dirty="0"/>
              <a:t> </a:t>
            </a:r>
            <a:r>
              <a:rPr lang="en-US" altLang="ko-KR" sz="1600" dirty="0"/>
              <a:t>( </a:t>
            </a:r>
            <a:r>
              <a:rPr lang="ko-KR" altLang="en-US" sz="1600" dirty="0"/>
              <a:t>템플릿으로 일반화를 구현한 표준 라이브러리 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STL </a:t>
            </a:r>
            <a:r>
              <a:rPr lang="en-US" altLang="ko-KR" sz="1400" dirty="0"/>
              <a:t>(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표준 템플릿 라이브러리</a:t>
            </a:r>
            <a:r>
              <a:rPr lang="ko-KR" altLang="en-US" sz="1400" dirty="0"/>
              <a:t> </a:t>
            </a:r>
            <a:r>
              <a:rPr lang="en-US" altLang="ko-KR" sz="1400" dirty="0"/>
              <a:t>Standard Template Library)</a:t>
            </a:r>
          </a:p>
          <a:p>
            <a:pPr lvl="1"/>
            <a:r>
              <a:rPr lang="en-US" altLang="ko-KR" sz="1400" dirty="0"/>
              <a:t>STL</a:t>
            </a:r>
            <a:r>
              <a:rPr lang="ko-KR" altLang="en-US" sz="1400" dirty="0"/>
              <a:t>은 </a:t>
            </a:r>
            <a:r>
              <a:rPr lang="ko-KR" altLang="en-US" sz="1400" b="1" dirty="0"/>
              <a:t>알고리즘</a:t>
            </a:r>
            <a:r>
              <a:rPr lang="ko-KR" altLang="en-US" sz="1400" dirty="0"/>
              <a:t>이라 불리는 유용한 수 많은 연산과 </a:t>
            </a:r>
            <a:r>
              <a:rPr lang="ko-KR" altLang="en-US" sz="1400" b="1" dirty="0" err="1"/>
              <a:t>컨테이너</a:t>
            </a:r>
            <a:r>
              <a:rPr lang="ko-KR" altLang="en-US" sz="1400" dirty="0" err="1"/>
              <a:t>라</a:t>
            </a:r>
            <a:r>
              <a:rPr lang="ko-KR" altLang="en-US" sz="1400" dirty="0"/>
              <a:t> 불리는 어려가지 객체를 모으기 위한 다양한 선형 </a:t>
            </a:r>
            <a:r>
              <a:rPr lang="ko-KR" altLang="en-US" sz="1400" dirty="0" err="1"/>
              <a:t>데이터형</a:t>
            </a:r>
            <a:r>
              <a:rPr lang="ko-KR" altLang="en-US" sz="1400" dirty="0"/>
              <a:t> 구조를 제공하는 프레임 워크다</a:t>
            </a:r>
            <a:r>
              <a:rPr lang="en-US" altLang="ko-KR" sz="1400" dirty="0"/>
              <a:t>. </a:t>
            </a:r>
            <a:r>
              <a:rPr lang="ko-KR" altLang="en-US" sz="1400" dirty="0"/>
              <a:t>알고리즘과 컨테이너 둘 다 템플릿이다</a:t>
            </a:r>
            <a:r>
              <a:rPr lang="en-US" altLang="ko-KR" sz="1400" dirty="0"/>
              <a:t>.</a:t>
            </a:r>
            <a:endParaRPr lang="en-US" altLang="ko-KR" sz="10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69549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템플릿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템플릿 함수</a:t>
            </a:r>
            <a:endParaRPr lang="en-US" altLang="ko-KR" sz="1400" dirty="0"/>
          </a:p>
          <a:p>
            <a:pPr lvl="1"/>
            <a:r>
              <a:rPr lang="ko-KR" altLang="en-US" sz="1400" dirty="0"/>
              <a:t>템플릿을 사용하면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ko-KR" altLang="en-US" sz="1400" b="1" dirty="0"/>
              <a:t>함수나 클래스를 만드는 작업</a:t>
            </a:r>
            <a:r>
              <a:rPr lang="ko-KR" altLang="en-US" sz="1400" dirty="0"/>
              <a:t>을 프로그래머 대신 </a:t>
            </a:r>
            <a:r>
              <a:rPr lang="en-US" altLang="ko-KR" sz="1400" dirty="0"/>
              <a:t>C++ </a:t>
            </a:r>
            <a:r>
              <a:rPr lang="ko-KR" altLang="en-US" sz="1400" dirty="0"/>
              <a:t>컴파일러가 제공해 준다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r>
              <a:rPr lang="ko-KR" altLang="en-US" sz="1400" b="1" dirty="0"/>
              <a:t>코드의 재활용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기존에는 함수 알고리즘은 같은데</a:t>
            </a:r>
            <a:r>
              <a:rPr lang="en-US" altLang="ko-KR" sz="1400" dirty="0"/>
              <a:t>, </a:t>
            </a:r>
            <a:r>
              <a:rPr lang="ko-KR" altLang="en-US" sz="1400" dirty="0"/>
              <a:t>이를 수행하는 </a:t>
            </a:r>
            <a:r>
              <a:rPr lang="ko-KR" altLang="en-US" sz="1400" b="1" dirty="0"/>
              <a:t>변수의 </a:t>
            </a:r>
            <a:r>
              <a:rPr lang="ko-KR" altLang="en-US" sz="1400" b="1" dirty="0" err="1">
                <a:solidFill>
                  <a:srgbClr val="C00000"/>
                </a:solidFill>
              </a:rPr>
              <a:t>자료형</a:t>
            </a:r>
            <a:r>
              <a:rPr lang="ko-KR" altLang="en-US" sz="1400" dirty="0" err="1"/>
              <a:t>이</a:t>
            </a:r>
            <a:r>
              <a:rPr lang="ko-KR" altLang="en-US" sz="1400" dirty="0"/>
              <a:t> 다르다는 이유로 함수를 여러 번 정의했다</a:t>
            </a:r>
            <a:r>
              <a:rPr lang="en-US" altLang="ko-KR" sz="1400" dirty="0"/>
              <a:t>.</a:t>
            </a:r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r>
              <a:rPr lang="ko-KR" altLang="en-US" sz="1400" dirty="0"/>
              <a:t>함수 </a:t>
            </a:r>
            <a:r>
              <a:rPr lang="en-US" altLang="ko-KR" sz="1400" dirty="0"/>
              <a:t>3</a:t>
            </a:r>
            <a:r>
              <a:rPr lang="ko-KR" altLang="en-US" sz="1400" dirty="0"/>
              <a:t>개를 살펴보면 형식 매개변수의 자료형과 함수의 </a:t>
            </a:r>
            <a:r>
              <a:rPr lang="ko-KR" altLang="en-US" sz="1400" dirty="0" err="1"/>
              <a:t>반환값에</a:t>
            </a:r>
            <a:r>
              <a:rPr lang="ko-KR" altLang="en-US" sz="1400" dirty="0"/>
              <a:t> 대한 자료형만 다르고 나머지 알고리즘은 동일하다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이렇게 함수 </a:t>
            </a:r>
            <a:r>
              <a:rPr lang="en-US" altLang="ko-KR" sz="1400" dirty="0"/>
              <a:t>3</a:t>
            </a:r>
            <a:r>
              <a:rPr lang="ko-KR" altLang="en-US" sz="1400" dirty="0"/>
              <a:t>개에서 서로 다른 부분인 </a:t>
            </a:r>
            <a:r>
              <a:rPr lang="ko-KR" altLang="en-US" sz="1400" b="1" dirty="0" err="1"/>
              <a:t>자료형</a:t>
            </a:r>
            <a:r>
              <a:rPr lang="ko-KR" altLang="en-US" sz="1400" dirty="0" err="1"/>
              <a:t>만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T </a:t>
            </a:r>
            <a:r>
              <a:rPr lang="ko-KR" altLang="en-US" sz="1400" dirty="0"/>
              <a:t>로 바꾸어 주자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lvl="1"/>
            <a:endParaRPr lang="en-US" altLang="ko-KR" sz="1200" dirty="0"/>
          </a:p>
          <a:p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1203972" y="2312625"/>
            <a:ext cx="3003432" cy="138499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➊ </a:t>
            </a:r>
            <a:r>
              <a:rPr lang="en-US" altLang="ko-KR" sz="1400" b="1" dirty="0" err="1">
                <a:solidFill>
                  <a:srgbClr val="00A4E6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b="1" dirty="0"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Consolas" panose="020B0609020204030204" pitchFamily="49" charset="0"/>
              </a:rPr>
              <a:t>myAbs</a:t>
            </a:r>
            <a:r>
              <a:rPr lang="en-US" altLang="ko-KR" sz="1400" dirty="0">
                <a:latin typeface="Consolas" panose="020B0609020204030204" pitchFamily="49" charset="0"/>
              </a:rPr>
              <a:t>( </a:t>
            </a:r>
            <a:r>
              <a:rPr lang="en-US" altLang="ko-KR" sz="1400" b="1" dirty="0" err="1">
                <a:solidFill>
                  <a:srgbClr val="00A4E6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 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{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if(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&lt;0) num=-num;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return num;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398773" y="2323483"/>
            <a:ext cx="3073494" cy="138499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  <a:sym typeface="Wingdings"/>
              </a:rPr>
              <a:t> </a:t>
            </a:r>
            <a:r>
              <a:rPr lang="en-US" altLang="ko-KR" sz="1400" b="1" dirty="0">
                <a:solidFill>
                  <a:srgbClr val="00A4E6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b="1" dirty="0"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Consolas" panose="020B0609020204030204" pitchFamily="49" charset="0"/>
              </a:rPr>
              <a:t>myAbs</a:t>
            </a:r>
            <a:r>
              <a:rPr lang="en-US" altLang="ko-KR" sz="1400" dirty="0">
                <a:latin typeface="Consolas" panose="020B0609020204030204" pitchFamily="49" charset="0"/>
              </a:rPr>
              <a:t>( </a:t>
            </a:r>
            <a:r>
              <a:rPr lang="en-US" altLang="ko-KR" sz="1400" b="1" dirty="0">
                <a:solidFill>
                  <a:srgbClr val="00A4E6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 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{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if(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&lt;0) num=-num;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return num;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663637" y="2323484"/>
            <a:ext cx="3437633" cy="138499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  <a:sym typeface="Wingdings"/>
              </a:rPr>
              <a:t>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en-US" altLang="ko-KR" sz="1400" b="1" dirty="0">
                <a:solidFill>
                  <a:srgbClr val="00A4E6"/>
                </a:solidFill>
                <a:latin typeface="Consolas" panose="020B0609020204030204" pitchFamily="49" charset="0"/>
              </a:rPr>
              <a:t>long</a:t>
            </a:r>
            <a:r>
              <a:rPr lang="en-US" altLang="ko-KR" sz="1400" b="1" dirty="0">
                <a:latin typeface="Consolas" panose="020B0609020204030204" pitchFamily="49" charset="0"/>
              </a:rPr>
              <a:t> </a:t>
            </a:r>
            <a:r>
              <a:rPr lang="en-US" altLang="ko-KR" sz="1400" b="1" dirty="0" err="1">
                <a:solidFill>
                  <a:srgbClr val="00A4E6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Consolas" panose="020B0609020204030204" pitchFamily="49" charset="0"/>
              </a:rPr>
              <a:t>myAbs</a:t>
            </a:r>
            <a:r>
              <a:rPr lang="en-US" altLang="ko-KR" sz="1400" dirty="0">
                <a:latin typeface="Consolas" panose="020B0609020204030204" pitchFamily="49" charset="0"/>
              </a:rPr>
              <a:t>( </a:t>
            </a:r>
            <a:r>
              <a:rPr lang="en-US" altLang="ko-KR" sz="1400" b="1" dirty="0">
                <a:solidFill>
                  <a:srgbClr val="00A4E6"/>
                </a:solidFill>
                <a:latin typeface="Consolas" panose="020B0609020204030204" pitchFamily="49" charset="0"/>
              </a:rPr>
              <a:t>long </a:t>
            </a:r>
            <a:r>
              <a:rPr lang="en-US" altLang="ko-KR" sz="1400" b="1" dirty="0" err="1">
                <a:solidFill>
                  <a:srgbClr val="00A4E6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b="1" dirty="0">
                <a:solidFill>
                  <a:srgbClr val="00A4E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 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{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if(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&lt;0) num=-num;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return num;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12993" y="4669544"/>
            <a:ext cx="5959274" cy="15696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rgbClr val="00A4E6"/>
                </a:solidFill>
                <a:latin typeface="Consolas" panose="020B0609020204030204" pitchFamily="49" charset="0"/>
              </a:rPr>
              <a:t>T</a:t>
            </a:r>
            <a:r>
              <a:rPr lang="en-US" altLang="ko-KR" sz="1600" b="1" dirty="0"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latin typeface="Consolas" panose="020B0609020204030204" pitchFamily="49" charset="0"/>
              </a:rPr>
              <a:t>myAbs</a:t>
            </a:r>
            <a:r>
              <a:rPr lang="en-US" altLang="ko-KR" sz="1600" dirty="0"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00A4E6"/>
                </a:solidFill>
                <a:latin typeface="Consolas" panose="020B0609020204030204" pitchFamily="49" charset="0"/>
              </a:rPr>
              <a:t>T</a:t>
            </a:r>
            <a:r>
              <a:rPr lang="en-US" altLang="ko-KR" sz="1600" dirty="0">
                <a:latin typeface="Consolas" panose="020B0609020204030204" pitchFamily="49" charset="0"/>
              </a:rPr>
              <a:t> num)  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//T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는 </a:t>
            </a:r>
            <a:r>
              <a:rPr lang="ko-KR" altLang="en-US" sz="1400" b="1" dirty="0">
                <a:solidFill>
                  <a:srgbClr val="006600"/>
                </a:solidFill>
                <a:latin typeface="Consolas" panose="020B0609020204030204" pitchFamily="49" charset="0"/>
              </a:rPr>
              <a:t>타입 매개변수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(type parameter)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if(</a:t>
            </a:r>
            <a:r>
              <a:rPr lang="en-US" altLang="ko-KR" sz="1600" dirty="0" err="1">
                <a:latin typeface="Consolas" panose="020B0609020204030204" pitchFamily="49" charset="0"/>
              </a:rPr>
              <a:t>num</a:t>
            </a:r>
            <a:r>
              <a:rPr lang="en-US" altLang="ko-KR" sz="1600" dirty="0">
                <a:latin typeface="Consolas" panose="020B0609020204030204" pitchFamily="49" charset="0"/>
              </a:rPr>
              <a:t>&lt;0) num=-num;</a:t>
            </a: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  return num;</a:t>
            </a: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518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템플릿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/>
              <a:t>T</a:t>
            </a:r>
            <a:r>
              <a:rPr lang="ko-KR" altLang="en-US" sz="1600" dirty="0"/>
              <a:t>가 무엇인지 컴파일러에게 알려주지 않았기 때문에 </a:t>
            </a:r>
            <a:r>
              <a:rPr lang="ko-KR" altLang="en-US" sz="1600" b="1" dirty="0"/>
              <a:t>에러</a:t>
            </a:r>
            <a:r>
              <a:rPr lang="ko-KR" altLang="en-US" sz="1600" dirty="0"/>
              <a:t>가 발생한다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400" dirty="0"/>
              <a:t>“</a:t>
            </a:r>
            <a:r>
              <a:rPr lang="ko-KR" altLang="en-US" sz="1400" dirty="0" err="1"/>
              <a:t>자료형</a:t>
            </a:r>
            <a:r>
              <a:rPr lang="ko-KR" altLang="en-US" sz="1400" dirty="0"/>
              <a:t> 이름</a:t>
            </a:r>
            <a:r>
              <a:rPr lang="en-US" altLang="ko-KR" sz="1400" dirty="0"/>
              <a:t>(</a:t>
            </a:r>
            <a:r>
              <a:rPr lang="en-US" altLang="ko-KR" sz="1400" dirty="0" err="1"/>
              <a:t>typename</a:t>
            </a:r>
            <a:r>
              <a:rPr lang="en-US" altLang="ko-KR" sz="1400" dirty="0"/>
              <a:t>)</a:t>
            </a:r>
            <a:r>
              <a:rPr lang="ko-KR" altLang="en-US" sz="1400" dirty="0"/>
              <a:t>인 </a:t>
            </a:r>
            <a:r>
              <a:rPr lang="en-US" altLang="ko-KR" sz="1400" dirty="0"/>
              <a:t>T</a:t>
            </a:r>
            <a:r>
              <a:rPr lang="ko-KR" altLang="en-US" sz="1400" dirty="0"/>
              <a:t>는 </a:t>
            </a:r>
            <a:r>
              <a:rPr lang="ko-KR" altLang="en-US" sz="1400" dirty="0" err="1"/>
              <a:t>자료형을</a:t>
            </a:r>
            <a:r>
              <a:rPr lang="ko-KR" altLang="en-US" sz="1400" dirty="0"/>
              <a:t> 템플릿화하기 위한 기호” 라는 의미를 컴파일러에게 알려주자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r>
              <a:rPr lang="ko-KR" altLang="en-US" sz="1600" dirty="0"/>
              <a:t>앞의 코드에 </a:t>
            </a:r>
            <a:r>
              <a:rPr lang="en-US" altLang="ko-KR" sz="1600" dirty="0"/>
              <a:t>template &lt;</a:t>
            </a:r>
            <a:r>
              <a:rPr lang="en-US" altLang="ko-KR" sz="1600" dirty="0" err="1"/>
              <a:t>typename</a:t>
            </a:r>
            <a:r>
              <a:rPr lang="en-US" altLang="ko-KR" sz="1600" dirty="0"/>
              <a:t> T&gt;</a:t>
            </a:r>
            <a:r>
              <a:rPr lang="ko-KR" altLang="en-US" sz="1600" dirty="0"/>
              <a:t>까지 추가하면 절댓값을 구하는 완벽한 템플릿 함수가 작성된다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r>
              <a:rPr lang="ko-KR" altLang="en-US" sz="1600" dirty="0"/>
              <a:t>위 알고리즘에 적용될 </a:t>
            </a:r>
            <a:r>
              <a:rPr lang="ko-KR" altLang="en-US" sz="1600" b="1" dirty="0"/>
              <a:t>자료형</a:t>
            </a:r>
            <a:r>
              <a:rPr lang="ko-KR" altLang="en-US" sz="1600" dirty="0"/>
              <a:t>은 </a:t>
            </a:r>
            <a:r>
              <a:rPr lang="ko-KR" altLang="en-US" sz="1600" b="1" dirty="0"/>
              <a:t>함수를 </a:t>
            </a:r>
            <a:r>
              <a:rPr lang="ko-KR" altLang="en-US" sz="1600" b="1" dirty="0">
                <a:solidFill>
                  <a:srgbClr val="C00000"/>
                </a:solidFill>
              </a:rPr>
              <a:t>호출에 따라</a:t>
            </a:r>
            <a:r>
              <a:rPr lang="ko-KR" altLang="en-US" sz="1600" dirty="0"/>
              <a:t> </a:t>
            </a:r>
            <a:r>
              <a:rPr lang="ko-KR" altLang="en-US" sz="1600" b="1" dirty="0"/>
              <a:t>결정</a:t>
            </a:r>
            <a:r>
              <a:rPr lang="ko-KR" altLang="en-US" sz="1600" dirty="0"/>
              <a:t>해주는데</a:t>
            </a:r>
            <a:r>
              <a:rPr lang="en-US" altLang="ko-KR" sz="1600" dirty="0"/>
              <a:t>, </a:t>
            </a:r>
            <a:r>
              <a:rPr lang="ko-KR" altLang="en-US" sz="1600" dirty="0"/>
              <a:t>다음과 같이 실매개변수를 기술해 주면 실매개변수의 자료형에 의해서 템플릿이 결정된다</a:t>
            </a:r>
            <a:r>
              <a:rPr lang="en-US" altLang="ko-KR" sz="1600" dirty="0"/>
              <a:t>. (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anum Gothic"/>
              </a:rPr>
              <a:t> 주의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anum Gothic"/>
              </a:rPr>
              <a:t>, </a:t>
            </a:r>
            <a:r>
              <a:rPr lang="ko-KR" altLang="en-US" sz="1400" b="1" i="0" dirty="0">
                <a:solidFill>
                  <a:srgbClr val="000000"/>
                </a:solidFill>
                <a:effectLst/>
                <a:latin typeface="Nanum Gothic"/>
              </a:rPr>
              <a:t>컴파일 할 때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anum Gothic"/>
              </a:rPr>
              <a:t> 입력한 자료형에 따라 미리 만들어지며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anum Gothic"/>
              </a:rPr>
              <a:t>,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anum Gothic"/>
              </a:rPr>
              <a:t>  함수가 호출될 때  만들어지는 것이 아니다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anum Gothic"/>
              </a:rPr>
              <a:t>. )</a:t>
            </a:r>
            <a:endParaRPr lang="en-US" altLang="ko-KR" sz="1600" dirty="0"/>
          </a:p>
          <a:p>
            <a:endParaRPr lang="en-US" altLang="ko-KR" sz="1800" dirty="0"/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475869" y="1958389"/>
            <a:ext cx="6377812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altLang="ko-KR" sz="1400" dirty="0">
                <a:latin typeface="Consolas" panose="020B0609020204030204" pitchFamily="49" charset="0"/>
              </a:rPr>
              <a:t> &lt;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altLang="ko-KR" sz="1400" dirty="0">
                <a:latin typeface="Consolas" panose="020B0609020204030204" pitchFamily="49" charset="0"/>
              </a:rPr>
              <a:t> T&gt;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475868" y="2709870"/>
            <a:ext cx="6377812" cy="164352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 &lt;</a:t>
            </a:r>
            <a:r>
              <a:rPr lang="en-US" altLang="ko-KR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typename</a:t>
            </a: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T</a:t>
            </a: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T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en-US" altLang="ko-KR" sz="1400" b="1" dirty="0" err="1">
                <a:latin typeface="Consolas" panose="020B0609020204030204" pitchFamily="49" charset="0"/>
              </a:rPr>
              <a:t>myAbs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T</a:t>
            </a:r>
            <a:r>
              <a:rPr lang="en-US" altLang="ko-KR" sz="1400" dirty="0">
                <a:latin typeface="Consolas" panose="020B0609020204030204" pitchFamily="49" charset="0"/>
              </a:rPr>
              <a:t> num)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if(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&lt;0) num=-num;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return num;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475869" y="5398155"/>
            <a:ext cx="6474316" cy="58945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a = -10;</a:t>
            </a:r>
          </a:p>
          <a:p>
            <a:pPr>
              <a:lnSpc>
                <a:spcPct val="120000"/>
              </a:lnSpc>
            </a:pPr>
            <a:r>
              <a:rPr lang="en-US" altLang="ko-KR" sz="1400" b="1" dirty="0" err="1">
                <a:latin typeface="Consolas" panose="020B0609020204030204" pitchFamily="49" charset="0"/>
              </a:rPr>
              <a:t>myAbs</a:t>
            </a:r>
            <a:r>
              <a:rPr lang="en-US" altLang="ko-KR" sz="1400" dirty="0">
                <a:latin typeface="Consolas" panose="020B0609020204030204" pitchFamily="49" charset="0"/>
              </a:rPr>
              <a:t>( a );  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매개변수로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자료형을 추론한다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.</a:t>
            </a:r>
            <a:endParaRPr lang="ko-KR" altLang="en-US" sz="1400" dirty="0">
              <a:solidFill>
                <a:srgbClr val="0066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722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템플릿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 err="1"/>
              <a:t>myabs</a:t>
            </a:r>
            <a:r>
              <a:rPr lang="en-US" altLang="ko-KR" sz="1600" dirty="0"/>
              <a:t> </a:t>
            </a:r>
            <a:r>
              <a:rPr lang="ko-KR" altLang="en-US" sz="1600" dirty="0"/>
              <a:t>함수를 호출할 때 정수형 변수를 실 매개변수로 전달해 주면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T</a:t>
            </a:r>
            <a:r>
              <a:rPr lang="ko-KR" altLang="en-US" sz="1600" dirty="0"/>
              <a:t>가 </a:t>
            </a:r>
            <a:r>
              <a:rPr lang="en-US" altLang="ko-KR" sz="1600" dirty="0" err="1"/>
              <a:t>int</a:t>
            </a:r>
            <a:r>
              <a:rPr lang="ko-KR" altLang="en-US" sz="1600" dirty="0"/>
              <a:t>형으로 결정되어 </a:t>
            </a:r>
            <a:endParaRPr lang="en-US" altLang="ko-KR" sz="1600" dirty="0"/>
          </a:p>
          <a:p>
            <a:r>
              <a:rPr lang="ko-KR" altLang="en-US" sz="1600" b="1" dirty="0"/>
              <a:t>컴파일러</a:t>
            </a:r>
            <a:r>
              <a:rPr lang="ko-KR" altLang="en-US" sz="1600" dirty="0"/>
              <a:t>는 템플릿 함수를 기반으로 같은 형태의 </a:t>
            </a:r>
            <a:r>
              <a:rPr lang="ko-KR" altLang="en-US" sz="1600" b="1" dirty="0"/>
              <a:t>함수를 생성</a:t>
            </a:r>
            <a:r>
              <a:rPr lang="ko-KR" altLang="en-US" sz="1600" dirty="0"/>
              <a:t>해준다</a:t>
            </a:r>
            <a:r>
              <a:rPr lang="en-US" altLang="ko-KR" sz="1600" dirty="0"/>
              <a:t>. </a:t>
            </a:r>
          </a:p>
          <a:p>
            <a:r>
              <a:rPr lang="ko-KR" altLang="en-US" sz="1600" dirty="0"/>
              <a:t>이를 </a:t>
            </a:r>
            <a:r>
              <a:rPr lang="ko-KR" altLang="en-US" sz="1600" b="1" dirty="0"/>
              <a:t>템플릿 함수</a:t>
            </a:r>
            <a:r>
              <a:rPr lang="ko-KR" altLang="en-US" sz="1600" dirty="0"/>
              <a:t>의 </a:t>
            </a:r>
            <a:r>
              <a:rPr lang="ko-KR" altLang="en-US" sz="1600" b="1" dirty="0">
                <a:solidFill>
                  <a:schemeClr val="accent2">
                    <a:lumMod val="75000"/>
                  </a:schemeClr>
                </a:solidFill>
              </a:rPr>
              <a:t>인스턴스화</a:t>
            </a:r>
            <a:r>
              <a:rPr lang="ko-KR" altLang="en-US" sz="1600" dirty="0"/>
              <a:t>라고 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r>
              <a:rPr lang="ko-KR" altLang="en-US" sz="1600" dirty="0"/>
              <a:t>함수 템플릿과 템플릿 함수를 구분하자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4327122" y="3551756"/>
            <a:ext cx="2311180" cy="1883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altLang="ko-KR" sz="1400" dirty="0">
                <a:latin typeface="Consolas" panose="020B0609020204030204" pitchFamily="49" charset="0"/>
              </a:rPr>
              <a:t> &lt;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en-US" altLang="ko-KR" sz="1400" b="1" dirty="0">
                <a:latin typeface="Consolas" panose="020B0609020204030204" pitchFamily="49" charset="0"/>
              </a:rPr>
              <a:t>T</a:t>
            </a:r>
            <a:r>
              <a:rPr lang="en-US" altLang="ko-KR" sz="1400" dirty="0"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ko-KR" sz="1400" b="1" dirty="0">
                <a:latin typeface="Consolas" panose="020B0609020204030204" pitchFamily="49" charset="0"/>
              </a:rPr>
              <a:t>T</a:t>
            </a:r>
            <a:r>
              <a:rPr lang="en-US" altLang="ko-KR" sz="1400" dirty="0">
                <a:latin typeface="Consolas" panose="020B0609020204030204" pitchFamily="49" charset="0"/>
              </a:rPr>
              <a:t> Abs( </a:t>
            </a:r>
            <a:r>
              <a:rPr lang="en-US" altLang="ko-KR" sz="1400" b="1" dirty="0">
                <a:latin typeface="Consolas" panose="020B0609020204030204" pitchFamily="49" charset="0"/>
              </a:rPr>
              <a:t>T</a:t>
            </a:r>
            <a:r>
              <a:rPr lang="en-US" altLang="ko-KR" sz="1400" dirty="0">
                <a:latin typeface="Consolas" panose="020B0609020204030204" pitchFamily="49" charset="0"/>
              </a:rPr>
              <a:t> num 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if(num&lt;0)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  num=-num;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  return num;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>
            <a:spLocks noChangeAspect="1" noChangeArrowheads="1"/>
          </p:cNvSpPr>
          <p:nvPr/>
        </p:nvSpPr>
        <p:spPr bwMode="auto">
          <a:xfrm>
            <a:off x="2059698" y="3551756"/>
            <a:ext cx="1850273" cy="738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ko-KR" sz="1400" dirty="0">
                <a:latin typeface="Consolas" panose="020B0609020204030204" pitchFamily="49" charset="0"/>
              </a:rPr>
              <a:t>/* </a:t>
            </a:r>
            <a:r>
              <a:rPr lang="ko-KR" altLang="en-US" sz="1400" dirty="0">
                <a:latin typeface="Consolas" panose="020B0609020204030204" pitchFamily="49" charset="0"/>
              </a:rPr>
              <a:t>함수 호출*</a:t>
            </a:r>
            <a:r>
              <a:rPr lang="en-US" altLang="ko-KR" sz="14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a=-10;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Abs(a);</a:t>
            </a:r>
          </a:p>
        </p:txBody>
      </p:sp>
      <p:sp>
        <p:nvSpPr>
          <p:cNvPr id="6" name="Rectangle 4"/>
          <p:cNvSpPr>
            <a:spLocks noChangeAspect="1" noChangeArrowheads="1"/>
          </p:cNvSpPr>
          <p:nvPr/>
        </p:nvSpPr>
        <p:spPr bwMode="auto">
          <a:xfrm>
            <a:off x="2059697" y="4692252"/>
            <a:ext cx="1850273" cy="738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ko-KR" sz="1400" dirty="0">
                <a:latin typeface="Consolas" panose="020B0609020204030204" pitchFamily="49" charset="0"/>
              </a:rPr>
              <a:t>/* </a:t>
            </a:r>
            <a:r>
              <a:rPr lang="ko-KR" altLang="en-US" sz="1400" dirty="0">
                <a:latin typeface="Consolas" panose="020B0609020204030204" pitchFamily="49" charset="0"/>
              </a:rPr>
              <a:t>함수 호출*</a:t>
            </a:r>
            <a:r>
              <a:rPr lang="en-US" altLang="ko-KR" sz="14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dirty="0">
                <a:latin typeface="Consolas" panose="020B0609020204030204" pitchFamily="49" charset="0"/>
              </a:rPr>
              <a:t> b=-3.4;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Abs(b);</a:t>
            </a:r>
          </a:p>
        </p:txBody>
      </p:sp>
      <p:sp>
        <p:nvSpPr>
          <p:cNvPr id="8" name="Rectangle 4"/>
          <p:cNvSpPr>
            <a:spLocks noChangeAspect="1" noChangeArrowheads="1"/>
          </p:cNvSpPr>
          <p:nvPr/>
        </p:nvSpPr>
        <p:spPr bwMode="auto">
          <a:xfrm>
            <a:off x="7055451" y="3206678"/>
            <a:ext cx="2725610" cy="11695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Abs(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num)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  if(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&lt;0) 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=-num;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  return num;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Rectangle 4"/>
          <p:cNvSpPr>
            <a:spLocks noChangeAspect="1" noChangeArrowheads="1"/>
          </p:cNvSpPr>
          <p:nvPr/>
        </p:nvSpPr>
        <p:spPr bwMode="auto">
          <a:xfrm>
            <a:off x="7055453" y="4572927"/>
            <a:ext cx="2725608" cy="11695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dirty="0">
                <a:latin typeface="Consolas" panose="020B0609020204030204" pitchFamily="49" charset="0"/>
              </a:rPr>
              <a:t> Abs(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dirty="0">
                <a:latin typeface="Consolas" panose="020B0609020204030204" pitchFamily="49" charset="0"/>
              </a:rPr>
              <a:t> num)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  if(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&lt;0) </a:t>
            </a:r>
            <a:r>
              <a:rPr lang="en-US" altLang="ko-KR" sz="1400" dirty="0" err="1">
                <a:latin typeface="Consolas" panose="020B0609020204030204" pitchFamily="49" charset="0"/>
              </a:rPr>
              <a:t>num</a:t>
            </a:r>
            <a:r>
              <a:rPr lang="en-US" altLang="ko-KR" sz="1400" dirty="0">
                <a:latin typeface="Consolas" panose="020B0609020204030204" pitchFamily="49" charset="0"/>
              </a:rPr>
              <a:t>=-num;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  return num;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039BD9-2E1D-4430-A73E-AB3EFA0D2CDB}"/>
              </a:ext>
            </a:extLst>
          </p:cNvPr>
          <p:cNvSpPr txBox="1"/>
          <p:nvPr/>
        </p:nvSpPr>
        <p:spPr>
          <a:xfrm>
            <a:off x="7145615" y="2807530"/>
            <a:ext cx="2635446" cy="33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/* </a:t>
            </a:r>
            <a:r>
              <a:rPr lang="ko-KR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템플릿</a:t>
            </a:r>
            <a:r>
              <a:rPr lang="ko-KR" alt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함수</a:t>
            </a:r>
            <a:r>
              <a:rPr lang="ko-KR" altLang="en-US" sz="1400" dirty="0">
                <a:latin typeface="Consolas" panose="020B0609020204030204" pitchFamily="49" charset="0"/>
              </a:rPr>
              <a:t> *</a:t>
            </a:r>
            <a:r>
              <a:rPr lang="en-US" altLang="ko-KR" sz="1400" dirty="0">
                <a:latin typeface="Consolas" panose="020B0609020204030204" pitchFamily="49" charset="0"/>
              </a:rPr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6CD9B-437D-4E04-815D-F5E46AAF4602}"/>
              </a:ext>
            </a:extLst>
          </p:cNvPr>
          <p:cNvSpPr txBox="1"/>
          <p:nvPr/>
        </p:nvSpPr>
        <p:spPr>
          <a:xfrm>
            <a:off x="4327122" y="3138454"/>
            <a:ext cx="2311180" cy="33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/* </a:t>
            </a:r>
            <a:r>
              <a:rPr lang="ko-KR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함수 템플릿</a:t>
            </a:r>
            <a:r>
              <a:rPr lang="ko-KR" alt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400" dirty="0"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latin typeface="Consolas" panose="020B0609020204030204" pitchFamily="49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82417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절댓값을 구하는 함수의 오버로딩</a:t>
            </a:r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절댓값을 구하는 함수의 </a:t>
            </a:r>
            <a:r>
              <a:rPr lang="ko-KR" altLang="en-US" sz="1600" b="1" dirty="0">
                <a:solidFill>
                  <a:srgbClr val="00A4E6"/>
                </a:solidFill>
                <a:latin typeface="+mj-ea"/>
              </a:rPr>
              <a:t>템플릿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화 하기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078524" y="2218780"/>
            <a:ext cx="6991685" cy="3877985"/>
          </a:xfrm>
          <a:prstGeom prst="rect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myAbs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&lt;0)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=-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a=-10; 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의 절댓값은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 "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myAbs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(a)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b=-3.4;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의 절댓값은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 "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myAbs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(b)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03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템플릿 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dirty="0"/>
              <a:t>템플릿 클래스</a:t>
            </a:r>
            <a:endParaRPr lang="en-US" altLang="ko-KR" sz="1600" dirty="0"/>
          </a:p>
          <a:p>
            <a:pPr lvl="1"/>
            <a:r>
              <a:rPr lang="ko-KR" altLang="en-US" sz="1400" b="1" dirty="0"/>
              <a:t>다양한 </a:t>
            </a:r>
            <a:r>
              <a:rPr lang="ko-KR" altLang="en-US" sz="1400" b="1" dirty="0" err="1"/>
              <a:t>자료형</a:t>
            </a:r>
            <a:r>
              <a:rPr lang="ko-KR" altLang="en-US" sz="1400" dirty="0" err="1"/>
              <a:t>이</a:t>
            </a:r>
            <a:r>
              <a:rPr lang="ko-KR" altLang="en-US" sz="1400" dirty="0"/>
              <a:t> 처리되는 클래스가 필요할 때 클래스를 여러 번 정의하는 것이 번거롭다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그러므로 클래스를 템플릿화 해 보자</a:t>
            </a:r>
            <a:r>
              <a:rPr lang="en-US" altLang="ko-KR" sz="1400" dirty="0"/>
              <a:t>. </a:t>
            </a:r>
            <a:r>
              <a:rPr lang="ko-KR" altLang="en-US" sz="1400" b="1" dirty="0">
                <a:solidFill>
                  <a:srgbClr val="C00000"/>
                </a:solidFill>
              </a:rPr>
              <a:t>클래스 템플릿</a:t>
            </a:r>
            <a:r>
              <a:rPr lang="en-US" altLang="ko-KR" sz="1400" dirty="0"/>
              <a:t>.</a:t>
            </a:r>
          </a:p>
          <a:p>
            <a:pPr lvl="1">
              <a:buNone/>
            </a:pPr>
            <a:endParaRPr lang="en-US" altLang="ko-KR" sz="1400" dirty="0"/>
          </a:p>
          <a:p>
            <a:pPr lvl="1">
              <a:buNone/>
            </a:pPr>
            <a:endParaRPr lang="en-US" altLang="ko-KR" sz="1400" dirty="0"/>
          </a:p>
          <a:p>
            <a:pPr lvl="1">
              <a:buNone/>
            </a:pPr>
            <a:endParaRPr lang="en-US" altLang="ko-KR" sz="1400" dirty="0"/>
          </a:p>
          <a:p>
            <a:pPr lvl="1">
              <a:buNone/>
            </a:pPr>
            <a:endParaRPr lang="en-US" altLang="ko-KR" sz="1400" dirty="0"/>
          </a:p>
          <a:p>
            <a:pPr lvl="1">
              <a:buNone/>
            </a:pPr>
            <a:endParaRPr lang="en-US" altLang="ko-KR" sz="400" dirty="0"/>
          </a:p>
          <a:p>
            <a:pPr lvl="1"/>
            <a:r>
              <a:rPr lang="ko-KR" altLang="en-US" sz="1400" dirty="0"/>
              <a:t>클래스 템플릿을 정의할 때 </a:t>
            </a:r>
            <a:r>
              <a:rPr lang="en-US" altLang="ko-KR" sz="1400" dirty="0"/>
              <a:t>template &lt;</a:t>
            </a:r>
            <a:r>
              <a:rPr lang="en-US" altLang="ko-KR" sz="1400" dirty="0" err="1"/>
              <a:t>typename</a:t>
            </a:r>
            <a:r>
              <a:rPr lang="en-US" altLang="ko-KR" sz="1400" dirty="0"/>
              <a:t> TYPE&gt;</a:t>
            </a:r>
            <a:r>
              <a:rPr lang="ko-KR" altLang="en-US" sz="1400" dirty="0"/>
              <a:t>을 덧붙인다</a:t>
            </a:r>
            <a:r>
              <a:rPr lang="en-US" altLang="ko-KR" sz="1400" dirty="0"/>
              <a:t>. </a:t>
            </a:r>
          </a:p>
          <a:p>
            <a:pPr lvl="1"/>
            <a:r>
              <a:rPr lang="en-US" altLang="ko-KR" sz="1400" dirty="0"/>
              <a:t>TYPE</a:t>
            </a:r>
            <a:r>
              <a:rPr lang="ko-KR" altLang="en-US" sz="1400" dirty="0"/>
              <a:t>은 식별자로 나중에 특정 자료형으로 바뀐다</a:t>
            </a:r>
            <a:r>
              <a:rPr lang="en-US" altLang="ko-KR" sz="1400" dirty="0"/>
              <a:t>. </a:t>
            </a:r>
            <a:r>
              <a:rPr lang="ko-KR" altLang="en-US" sz="1400" dirty="0"/>
              <a:t>템플릿 클래스를 정의하는 문장 내에서도 변수 선언문 중에서 나중에 자료형이 변경되어야 하는 부분을 </a:t>
            </a:r>
            <a:r>
              <a:rPr lang="en-US" altLang="ko-KR" sz="1400" dirty="0"/>
              <a:t>TYPE</a:t>
            </a:r>
            <a:r>
              <a:rPr lang="ko-KR" altLang="en-US" sz="1400" dirty="0"/>
              <a:t>으로 지정한다</a:t>
            </a:r>
            <a:r>
              <a:rPr lang="en-US" altLang="ko-KR" sz="1400" dirty="0"/>
              <a:t>.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526772" y="2362306"/>
            <a:ext cx="4569228" cy="10772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클래스명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...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526772" y="4692490"/>
            <a:ext cx="4569228" cy="135421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value;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. . . . . .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963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템플릿 선언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/>
              <a:t>멤버함수를</a:t>
            </a:r>
            <a:r>
              <a:rPr lang="ko-KR" altLang="en-US" dirty="0"/>
              <a:t> 정의할 때 </a:t>
            </a:r>
            <a:r>
              <a:rPr lang="en-US" altLang="ko-KR" dirty="0"/>
              <a:t>template &lt;</a:t>
            </a:r>
            <a:r>
              <a:rPr lang="en-US" altLang="ko-KR" dirty="0" err="1"/>
              <a:t>typename</a:t>
            </a:r>
            <a:r>
              <a:rPr lang="en-US" altLang="ko-KR" dirty="0"/>
              <a:t> TYPE&gt;</a:t>
            </a:r>
            <a:r>
              <a:rPr lang="ko-KR" altLang="en-US" dirty="0"/>
              <a:t>을 각각의 </a:t>
            </a:r>
            <a:r>
              <a:rPr lang="ko-KR" altLang="en-US" b="1" dirty="0"/>
              <a:t>멤버함수를 정의할 때마다</a:t>
            </a:r>
            <a:r>
              <a:rPr lang="ko-KR" altLang="en-US" dirty="0"/>
              <a:t> 기술해야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멤버함수를 정의할 때 </a:t>
            </a:r>
            <a:r>
              <a:rPr lang="ko-KR" altLang="en-US" dirty="0" err="1"/>
              <a:t>스코프</a:t>
            </a:r>
            <a:r>
              <a:rPr lang="ko-KR" altLang="en-US" dirty="0"/>
              <a:t> 연산자 앞에 붙는 </a:t>
            </a:r>
            <a:r>
              <a:rPr lang="ko-KR" altLang="en-US" b="1" dirty="0"/>
              <a:t>클래스명 다음에도</a:t>
            </a:r>
            <a:r>
              <a:rPr lang="ko-KR" altLang="en-US" dirty="0"/>
              <a:t> </a:t>
            </a:r>
            <a:r>
              <a:rPr lang="en-US" altLang="ko-KR" dirty="0"/>
              <a:t>&lt;TYPE&gt;</a:t>
            </a:r>
            <a:r>
              <a:rPr lang="ko-KR" altLang="en-US" dirty="0"/>
              <a:t>을 붙인다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멤버함수</a:t>
            </a:r>
            <a:r>
              <a:rPr lang="ko-KR" altLang="en-US" dirty="0"/>
              <a:t> </a:t>
            </a:r>
            <a:r>
              <a:rPr lang="en-US" altLang="ko-KR" dirty="0" err="1"/>
              <a:t>SetValue</a:t>
            </a:r>
            <a:r>
              <a:rPr lang="ko-KR" altLang="en-US" dirty="0"/>
              <a:t>를 살펴보자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"/>
            </a:pPr>
            <a:r>
              <a:rPr lang="en-US" altLang="ko-KR" dirty="0" err="1"/>
              <a:t>SetValue</a:t>
            </a:r>
            <a:r>
              <a:rPr lang="en-US" altLang="ko-KR" dirty="0"/>
              <a:t> </a:t>
            </a:r>
            <a:r>
              <a:rPr lang="ko-KR" altLang="en-US" dirty="0"/>
              <a:t>함수 내부에서 사용하는 </a:t>
            </a:r>
            <a:r>
              <a:rPr lang="en-US" altLang="ko-KR" dirty="0"/>
              <a:t>DATATYPE</a:t>
            </a:r>
            <a:r>
              <a:rPr lang="ko-KR" altLang="en-US" dirty="0"/>
              <a:t>이 무엇인지를 설명한다</a:t>
            </a:r>
            <a:r>
              <a:rPr lang="en-US" altLang="ko-KR" dirty="0"/>
              <a:t>. </a:t>
            </a:r>
          </a:p>
          <a:p>
            <a:pPr marL="457200" lvl="1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여기서는 자료형 이름</a:t>
            </a:r>
            <a:r>
              <a:rPr lang="en-US" altLang="ko-KR" dirty="0"/>
              <a:t>(</a:t>
            </a:r>
            <a:r>
              <a:rPr lang="en-US" altLang="ko-KR" dirty="0" err="1"/>
              <a:t>typename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TYPE</a:t>
            </a:r>
            <a:r>
              <a:rPr lang="ko-KR" altLang="en-US" dirty="0"/>
              <a:t>을 템플릿으로 사용하겠다는 것을 컴파일러에게 알려준다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dirty="0"/>
              <a:t>위에서 정의한 </a:t>
            </a:r>
            <a:r>
              <a:rPr lang="ko-KR" altLang="en-US" b="1" dirty="0"/>
              <a:t>템플릿 클래스</a:t>
            </a:r>
            <a:r>
              <a:rPr lang="ko-KR" altLang="en-US" dirty="0"/>
              <a:t>는 </a:t>
            </a:r>
            <a:r>
              <a:rPr lang="en-US" altLang="ko-KR" dirty="0">
                <a:solidFill>
                  <a:srgbClr val="C00000"/>
                </a:solidFill>
              </a:rPr>
              <a:t>Test</a:t>
            </a:r>
            <a:r>
              <a:rPr lang="ko-KR" altLang="en-US" dirty="0"/>
              <a:t>가 아니라 </a:t>
            </a:r>
            <a:r>
              <a:rPr lang="en-US" altLang="ko-KR" b="1" dirty="0">
                <a:solidFill>
                  <a:srgbClr val="C00000"/>
                </a:solidFill>
              </a:rPr>
              <a:t>Test&lt;TYPE&gt;</a:t>
            </a:r>
            <a:r>
              <a:rPr lang="ko-KR" altLang="en-US" dirty="0"/>
              <a:t>이므로</a:t>
            </a:r>
            <a:r>
              <a:rPr lang="en-US" altLang="ko-KR" dirty="0"/>
              <a:t>, Test&lt;TYPE&gt;::</a:t>
            </a:r>
            <a:r>
              <a:rPr lang="ko-KR" altLang="en-US" dirty="0"/>
              <a:t>을 덧붙여 소속 </a:t>
            </a:r>
            <a:r>
              <a:rPr lang="ko-KR" altLang="en-US" dirty="0" err="1"/>
              <a:t>클래스명을</a:t>
            </a:r>
            <a:r>
              <a:rPr lang="ko-KR" altLang="en-US" dirty="0"/>
              <a:t> 밝힌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335891" y="1918869"/>
            <a:ext cx="7643985" cy="28007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C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value;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SetValue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C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  <a:ea typeface="돋움체" panose="020B0609000101010101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template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</a:t>
            </a:r>
            <a:r>
              <a:rPr lang="en-US" altLang="ko-KR" sz="1600" b="1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typename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//----- </a:t>
            </a:r>
            <a:r>
              <a:rPr lang="en-US" altLang="ko-KR" sz="1600" dirty="0">
                <a:latin typeface="Consolas" panose="020B0609020204030204" pitchFamily="49" charset="0"/>
                <a:sym typeface="Wingdings"/>
              </a:rPr>
              <a:t>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Test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>
                <a:solidFill>
                  <a:srgbClr val="C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SetValue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C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latin typeface="Consolas" panose="020B0609020204030204" pitchFamily="49" charset="0"/>
                <a:ea typeface="돋움체" panose="020B0609000101010101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//----- </a:t>
            </a:r>
            <a:r>
              <a:rPr lang="en-US" altLang="ko-KR" sz="1600" dirty="0">
                <a:latin typeface="Consolas" panose="020B0609020204030204" pitchFamily="49" charset="0"/>
                <a:sym typeface="Wingdings"/>
              </a:rPr>
              <a:t>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value = </a:t>
            </a:r>
            <a:r>
              <a:rPr lang="en-US" altLang="ko-KR" sz="1600" dirty="0">
                <a:latin typeface="Consolas" panose="020B0609020204030204" pitchFamily="49" charset="0"/>
                <a:ea typeface="돋움체" panose="020B0609000101010101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16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템플릿 클래스 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>
            <a:normAutofit/>
          </a:bodyPr>
          <a:lstStyle/>
          <a:p>
            <a:r>
              <a:rPr lang="ko-KR" altLang="en-US" sz="1400" dirty="0"/>
              <a:t>템플릿 클래스를 하나만 정의해 두고 객체를 생성할 때 다양한 </a:t>
            </a:r>
            <a:r>
              <a:rPr lang="ko-KR" altLang="en-US" sz="1400" dirty="0" err="1"/>
              <a:t>자료형을</a:t>
            </a:r>
            <a:r>
              <a:rPr lang="ko-KR" altLang="en-US" sz="1400" dirty="0"/>
              <a:t> 지정해 객체를 생성할 수 있다</a:t>
            </a:r>
            <a:r>
              <a:rPr lang="en-US" altLang="ko-KR" sz="1400" dirty="0"/>
              <a:t>. </a:t>
            </a:r>
          </a:p>
          <a:p>
            <a:r>
              <a:rPr lang="ko-KR" altLang="en-US" sz="1400" b="1" dirty="0"/>
              <a:t>템플릿 클래스</a:t>
            </a:r>
            <a:r>
              <a:rPr lang="ko-KR" altLang="en-US" sz="1400" dirty="0"/>
              <a:t>의</a:t>
            </a:r>
            <a:r>
              <a:rPr lang="ko-KR" altLang="en-US" sz="1400" b="1" dirty="0"/>
              <a:t> 객체를 생성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선언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할 때</a:t>
            </a:r>
            <a:r>
              <a:rPr lang="ko-KR" altLang="en-US" sz="1400" dirty="0"/>
              <a:t>도 클래스명 다음에 </a:t>
            </a:r>
            <a:r>
              <a:rPr lang="en-US" altLang="ko-KR" sz="1400" dirty="0"/>
              <a:t>&lt; &gt;</a:t>
            </a:r>
            <a:r>
              <a:rPr lang="ko-KR" altLang="en-US" sz="1400" dirty="0"/>
              <a:t>를 추가하고 그 안에 특정 </a:t>
            </a:r>
            <a:r>
              <a:rPr lang="ko-KR" altLang="en-US" sz="1400" dirty="0" err="1"/>
              <a:t>자료형을</a:t>
            </a:r>
            <a:r>
              <a:rPr lang="ko-KR" altLang="en-US" sz="1400" dirty="0"/>
              <a:t> 써 주어야 한다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r>
              <a:rPr lang="en-US" altLang="ko-KR" sz="1200" dirty="0"/>
              <a:t>obj1 </a:t>
            </a:r>
            <a:r>
              <a:rPr lang="ko-KR" altLang="en-US" sz="1200" dirty="0"/>
              <a:t>객체를 생성하면서 </a:t>
            </a:r>
            <a:r>
              <a:rPr lang="en-US" altLang="ko-KR" sz="1200" dirty="0"/>
              <a:t>&lt; &gt; </a:t>
            </a:r>
            <a:r>
              <a:rPr lang="ko-KR" altLang="en-US" sz="1200" dirty="0"/>
              <a:t>안에 기술한 </a:t>
            </a:r>
            <a:r>
              <a:rPr lang="en-US" altLang="ko-KR" sz="1200" dirty="0" err="1"/>
              <a:t>int</a:t>
            </a:r>
            <a:r>
              <a:rPr lang="ko-KR" altLang="en-US" sz="1200" dirty="0"/>
              <a:t>가 템플릿 클래스 </a:t>
            </a:r>
            <a:r>
              <a:rPr lang="en-US" altLang="ko-KR" sz="1200" dirty="0"/>
              <a:t>Test</a:t>
            </a:r>
            <a:r>
              <a:rPr lang="ko-KR" altLang="en-US" sz="1200" dirty="0"/>
              <a:t>에서 사용한 </a:t>
            </a:r>
            <a:r>
              <a:rPr lang="en-US" altLang="ko-KR" sz="1200" dirty="0"/>
              <a:t>TYPE</a:t>
            </a:r>
            <a:r>
              <a:rPr lang="ko-KR" altLang="en-US" sz="1200" dirty="0"/>
              <a:t>과 대치가 일어난다</a:t>
            </a:r>
            <a:r>
              <a:rPr lang="en-US" altLang="ko-KR" sz="1200" dirty="0"/>
              <a:t>. obj1</a:t>
            </a:r>
            <a:r>
              <a:rPr lang="ko-KR" altLang="en-US" sz="1200" dirty="0"/>
              <a:t>이란 </a:t>
            </a:r>
            <a:r>
              <a:rPr lang="ko-KR" altLang="en-US" sz="1200"/>
              <a:t>객체는 </a:t>
            </a:r>
            <a:r>
              <a:rPr lang="en-US" altLang="ko-KR" sz="1200"/>
              <a:t>TYPE</a:t>
            </a:r>
            <a:r>
              <a:rPr lang="ko-KR" altLang="en-US" sz="1200" dirty="0"/>
              <a:t>이 </a:t>
            </a:r>
            <a:r>
              <a:rPr lang="en-US" altLang="ko-KR" sz="1200" dirty="0" err="1"/>
              <a:t>int</a:t>
            </a:r>
            <a:r>
              <a:rPr lang="ko-KR" altLang="en-US" sz="1200" dirty="0"/>
              <a:t>로 변경된 클래스로 생성된 객체이므로 멤버변수의 </a:t>
            </a:r>
            <a:r>
              <a:rPr lang="ko-KR" altLang="en-US" sz="1200" dirty="0" err="1"/>
              <a:t>자료형이나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멤버함수의</a:t>
            </a:r>
            <a:r>
              <a:rPr lang="ko-KR" altLang="en-US" sz="1200" dirty="0"/>
              <a:t> 매개변수 혹은 </a:t>
            </a:r>
            <a:r>
              <a:rPr lang="ko-KR" altLang="en-US" sz="1200" dirty="0" err="1"/>
              <a:t>반환값의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자료형이</a:t>
            </a:r>
            <a:r>
              <a:rPr lang="ko-KR" altLang="en-US" sz="1200" dirty="0"/>
              <a:t> 모두 </a:t>
            </a:r>
            <a:r>
              <a:rPr lang="en-US" altLang="ko-KR" sz="1200" dirty="0" err="1"/>
              <a:t>int</a:t>
            </a:r>
            <a:r>
              <a:rPr lang="ko-KR" altLang="en-US" sz="1200" dirty="0"/>
              <a:t>형으로 제공된다</a:t>
            </a:r>
            <a:r>
              <a:rPr lang="en-US" altLang="ko-KR" sz="1200" dirty="0"/>
              <a:t>.</a:t>
            </a:r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endParaRPr lang="en-US" altLang="ko-KR" sz="1200" dirty="0"/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922213" y="2005157"/>
            <a:ext cx="7515401" cy="660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Test</a:t>
            </a:r>
            <a:r>
              <a:rPr lang="en-US" altLang="ko-KR" sz="1600" b="1" dirty="0">
                <a:latin typeface="Consolas" panose="020B0609020204030204" pitchFamily="49" charset="0"/>
              </a:rPr>
              <a:t>&lt;</a:t>
            </a:r>
            <a:r>
              <a:rPr lang="en-US" altLang="ko-KR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b="1" dirty="0">
                <a:latin typeface="Consolas" panose="020B0609020204030204" pitchFamily="49" charset="0"/>
              </a:rPr>
              <a:t>&gt;</a:t>
            </a:r>
            <a:r>
              <a:rPr lang="en-US" altLang="ko-KR" sz="1600" dirty="0">
                <a:latin typeface="Consolas" panose="020B0609020204030204" pitchFamily="49" charset="0"/>
              </a:rPr>
              <a:t> obj1(10);</a:t>
            </a: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Consolas" panose="020B0609020204030204" pitchFamily="49" charset="0"/>
              </a:rPr>
              <a:t>Test</a:t>
            </a:r>
            <a:r>
              <a:rPr lang="en-US" altLang="ko-KR" sz="1600" b="1" dirty="0">
                <a:latin typeface="Consolas" panose="020B0609020204030204" pitchFamily="49" charset="0"/>
              </a:rPr>
              <a:t>&lt;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600" b="1" dirty="0">
                <a:latin typeface="Consolas" panose="020B0609020204030204" pitchFamily="49" charset="0"/>
              </a:rPr>
              <a:t>&gt;</a:t>
            </a:r>
            <a:r>
              <a:rPr lang="en-US" altLang="ko-KR" sz="1600" dirty="0">
                <a:latin typeface="Consolas" panose="020B0609020204030204" pitchFamily="49" charset="0"/>
              </a:rPr>
              <a:t> obj2(5.7);   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//C++17 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이후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생략가능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63933" y="3645878"/>
            <a:ext cx="32863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Consolas" panose="020B0609020204030204" pitchFamily="49" charset="0"/>
              </a:rPr>
              <a:t>Test&lt;</a:t>
            </a:r>
            <a:r>
              <a:rPr lang="en-US" altLang="ko-KR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latin typeface="Consolas" panose="020B0609020204030204" pitchFamily="49" charset="0"/>
              </a:rPr>
              <a:t>&gt; obj1(10);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475958" y="4092611"/>
            <a:ext cx="3286353" cy="21421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class Test {</a:t>
            </a:r>
          </a:p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rgbClr val="00A4E6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b="1" dirty="0"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</a:rPr>
              <a:t>value;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void </a:t>
            </a:r>
            <a:r>
              <a:rPr lang="en-US" altLang="ko-KR" sz="1400" dirty="0" err="1">
                <a:latin typeface="Consolas" panose="020B0609020204030204" pitchFamily="49" charset="0"/>
              </a:rPr>
              <a:t>SetValue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b="1" dirty="0"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</a:rPr>
              <a:t>v)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void Test::</a:t>
            </a:r>
            <a:r>
              <a:rPr lang="en-US" altLang="ko-KR" sz="1400" dirty="0" err="1">
                <a:latin typeface="Consolas" panose="020B0609020204030204" pitchFamily="49" charset="0"/>
              </a:rPr>
              <a:t>SetValue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b="1" dirty="0"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</a:rPr>
              <a:t>v)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  value = v;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Consolas" panose="020B0609020204030204" pitchFamily="49" charset="0"/>
              </a:rPr>
              <a:t>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878141" y="3645878"/>
            <a:ext cx="32863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Consolas" panose="020B0609020204030204" pitchFamily="49" charset="0"/>
              </a:rPr>
              <a:t>Test&lt;</a:t>
            </a:r>
            <a:r>
              <a:rPr lang="en-US" altLang="ko-KR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600" dirty="0">
                <a:latin typeface="Consolas" panose="020B0609020204030204" pitchFamily="49" charset="0"/>
              </a:rPr>
              <a:t>&gt; obj2(5.7);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791151" y="4092611"/>
            <a:ext cx="3286353" cy="18158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Consolas" panose="020B0609020204030204" pitchFamily="49" charset="0"/>
              </a:rPr>
              <a:t>class Test {</a:t>
            </a:r>
          </a:p>
          <a:p>
            <a:r>
              <a:rPr lang="en-US" altLang="ko-KR" sz="1400" b="1" dirty="0">
                <a:latin typeface="Consolas" panose="020B0609020204030204" pitchFamily="49" charset="0"/>
              </a:rPr>
              <a:t>  </a:t>
            </a: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b="1" dirty="0"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</a:rPr>
              <a:t>value;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  void </a:t>
            </a:r>
            <a:r>
              <a:rPr lang="en-US" altLang="ko-KR" sz="1400" dirty="0" err="1">
                <a:latin typeface="Consolas" panose="020B0609020204030204" pitchFamily="49" charset="0"/>
              </a:rPr>
              <a:t>SetValue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b="1" dirty="0"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</a:rPr>
              <a:t>v)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};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void Test::</a:t>
            </a:r>
            <a:r>
              <a:rPr lang="en-US" altLang="ko-KR" sz="1400" dirty="0" err="1">
                <a:latin typeface="Consolas" panose="020B0609020204030204" pitchFamily="49" charset="0"/>
              </a:rPr>
              <a:t>SetValue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b="1" dirty="0"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</a:rPr>
              <a:t>v)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  value = v;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656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템플릿 선언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템플릿 클래스를 정의하다 보면 </a:t>
            </a:r>
            <a:endParaRPr lang="en-US" altLang="ko-KR" sz="1600" dirty="0"/>
          </a:p>
          <a:p>
            <a:r>
              <a:rPr lang="ko-KR" altLang="en-US" sz="1600" dirty="0"/>
              <a:t>멤버변수의 자료형과 멤버함수를 통해서 전달되는 </a:t>
            </a:r>
            <a:r>
              <a:rPr lang="ko-KR" altLang="en-US" sz="1600" b="1" dirty="0"/>
              <a:t>매개변수의 자료형</a:t>
            </a:r>
            <a:r>
              <a:rPr lang="ko-KR" altLang="en-US" sz="1600" dirty="0"/>
              <a:t>이 다를 경우가 있다</a:t>
            </a:r>
            <a:r>
              <a:rPr lang="en-US" altLang="ko-KR" sz="1600" dirty="0"/>
              <a:t>. </a:t>
            </a:r>
          </a:p>
          <a:p>
            <a:r>
              <a:rPr lang="ko-KR" altLang="en-US" sz="1600" dirty="0"/>
              <a:t>이럴 경우에는 </a:t>
            </a:r>
            <a:r>
              <a:rPr lang="ko-KR" altLang="en-US" sz="1600" b="1" dirty="0"/>
              <a:t>둘 이상의 </a:t>
            </a:r>
            <a:r>
              <a:rPr lang="ko-KR" altLang="en-US" sz="1600" b="1" dirty="0" err="1"/>
              <a:t>자료형</a:t>
            </a:r>
            <a:r>
              <a:rPr lang="ko-KR" altLang="en-US" sz="1600" dirty="0" err="1"/>
              <a:t>에</a:t>
            </a:r>
            <a:r>
              <a:rPr lang="ko-KR" altLang="en-US" sz="1600" dirty="0"/>
              <a:t> 대해서 템플릿을 선언하면 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092427" y="2762017"/>
            <a:ext cx="6096000" cy="23083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ARG_TYPE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  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Data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value;                                   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    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Data(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CopyData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ARG_TYPE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GetData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                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162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199" y="1235676"/>
            <a:ext cx="5726723" cy="477053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 템플릿의 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선언과 정의의 분리</a:t>
            </a:r>
            <a:endParaRPr lang="ko-KR" altLang="en-US" sz="16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xpos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ypos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Point(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=0,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=0);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ShowPosition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</a:p>
          <a:p>
            <a:r>
              <a:rPr lang="fr-FR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Point</a:t>
            </a:r>
            <a:r>
              <a:rPr lang="fr-FR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fr-FR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fr-FR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&gt;::</a:t>
            </a:r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Point(</a:t>
            </a:r>
            <a:r>
              <a:rPr lang="fr-FR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fr-FR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</a:t>
            </a:r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xpos(</a:t>
            </a:r>
            <a:r>
              <a:rPr lang="fr-FR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), ypos(</a:t>
            </a:r>
            <a:r>
              <a:rPr lang="fr-FR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</a:t>
            </a:r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 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Point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ShowPosition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'['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xpos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",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ypos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']'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837029" y="1503379"/>
            <a:ext cx="4516772" cy="35394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Point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pos1(3, 4);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pos1.ShowPosition();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Point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pos2(2.4, 3.6);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pos2.ShowPosition();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좌표 정보를 문자로 표시</a:t>
            </a:r>
            <a:endParaRPr lang="en-US" altLang="ko-KR" sz="16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Point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pos3(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'P'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'F'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pos3.ShowPosition();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016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>
                <a:solidFill>
                  <a:srgbClr val="00A4E6"/>
                </a:solidFill>
                <a:latin typeface="+mj-ea"/>
              </a:rPr>
              <a:t>템플릿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 클래스 정의하기</a:t>
            </a:r>
            <a:endParaRPr lang="en-US" altLang="ko-KR" sz="1800" dirty="0">
              <a:solidFill>
                <a:srgbClr val="00A4E6"/>
              </a:solidFill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A32D5-CFF8-45EC-8072-E1978EFC23AD}"/>
              </a:ext>
            </a:extLst>
          </p:cNvPr>
          <p:cNvSpPr txBox="1"/>
          <p:nvPr/>
        </p:nvSpPr>
        <p:spPr>
          <a:xfrm>
            <a:off x="838200" y="1678991"/>
            <a:ext cx="4987565" cy="452431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value;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Test(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SetValue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GetValue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::Test(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 value =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SetValue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 value =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GetValue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 {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value; 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obj1(10);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obj1.SetValue(10);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obj1.GetValue()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obj2(5.7);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obj2.GetValue()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5524E-CCA2-40D1-9789-58610ACCDF43}"/>
              </a:ext>
            </a:extLst>
          </p:cNvPr>
          <p:cNvSpPr txBox="1"/>
          <p:nvPr/>
        </p:nvSpPr>
        <p:spPr>
          <a:xfrm>
            <a:off x="6096000" y="1494325"/>
            <a:ext cx="5134708" cy="470898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  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template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value;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Test(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SetValue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GetValue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template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&gt;::Test(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 value =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;}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template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&gt;::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SetValue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 value =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;}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template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&gt;::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GetValue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 {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value; 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 obj1(10);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obj1.SetValue(10);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obj1.GetValue()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 obj2(5.7);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obj2.GetValue()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7298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84973-5E41-4B81-8556-8E08D5614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2CBA3E-932A-42C2-8692-483A71858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자료형 </a:t>
            </a:r>
            <a:r>
              <a:rPr lang="en-US" altLang="ko-KR" sz="1800" dirty="0">
                <a:solidFill>
                  <a:srgbClr val="00A4E6"/>
                </a:solidFill>
                <a:latin typeface="+mj-ea"/>
              </a:rPr>
              <a:t>2</a:t>
            </a:r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개에 대해 </a:t>
            </a:r>
            <a:r>
              <a:rPr lang="ko-KR" altLang="en-US" sz="1800" b="1" dirty="0" err="1">
                <a:solidFill>
                  <a:srgbClr val="00A4E6"/>
                </a:solidFill>
                <a:latin typeface="+mj-ea"/>
              </a:rPr>
              <a:t>템플릿</a:t>
            </a:r>
            <a:r>
              <a:rPr lang="ko-KR" altLang="en-US" sz="1800" dirty="0" err="1">
                <a:solidFill>
                  <a:srgbClr val="00A4E6"/>
                </a:solidFill>
                <a:latin typeface="+mj-ea"/>
              </a:rPr>
              <a:t>화하기</a:t>
            </a:r>
            <a:endParaRPr lang="ko-KR" alt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61012-68CD-4BD0-91B5-F9FFEB4253A5}"/>
              </a:ext>
            </a:extLst>
          </p:cNvPr>
          <p:cNvSpPr txBox="1"/>
          <p:nvPr/>
        </p:nvSpPr>
        <p:spPr>
          <a:xfrm>
            <a:off x="941894" y="1741980"/>
            <a:ext cx="4723615" cy="43396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value;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Data(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CopyData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GetData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it-IT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it-IT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::Data(</a:t>
            </a:r>
            <a:r>
              <a:rPr lang="it-IT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it-IT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it-IT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it-IT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 value = </a:t>
            </a:r>
            <a:r>
              <a:rPr lang="it-IT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it-IT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}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CopyData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 value =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}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GetData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 {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value; 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 = 10;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obj1(10);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obj1.GetData()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pt-BR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obj1.CopyData(a);    cout </a:t>
            </a:r>
            <a:r>
              <a:rPr lang="pt-BR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pt-BR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obj1.GetData() </a:t>
            </a:r>
            <a:r>
              <a:rPr lang="pt-BR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pt-BR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endl;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D3644-350E-4860-9AB0-C98C4407DA2B}"/>
              </a:ext>
            </a:extLst>
          </p:cNvPr>
          <p:cNvSpPr txBox="1"/>
          <p:nvPr/>
        </p:nvSpPr>
        <p:spPr>
          <a:xfrm>
            <a:off x="6180841" y="1526537"/>
            <a:ext cx="5172959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        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r>
              <a:rPr lang="en-US" altLang="ko-KR" sz="10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Data&lt;TYPE, ARG_TYPE&gt;                        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template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</a:t>
            </a:r>
            <a:r>
              <a:rPr lang="en-US" altLang="ko-KR" sz="10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ARG_TYPE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value;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Data(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CopyData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ARG_TYPE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GetData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template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</a:t>
            </a:r>
            <a:r>
              <a:rPr lang="en-US" altLang="ko-KR" sz="10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ARG_TYPE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ARG_TYPE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&gt;::Data(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 value = </a:t>
            </a:r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template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</a:t>
            </a:r>
            <a:r>
              <a:rPr lang="en-US" altLang="ko-KR" sz="10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ARG_TYPE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ARG_TYPE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&gt;::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CopyData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ARG_TYPE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 value = </a:t>
            </a:r>
            <a:r>
              <a:rPr lang="en-US" altLang="ko-KR" sz="10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template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</a:t>
            </a:r>
            <a:r>
              <a:rPr lang="en-US" altLang="ko-KR" sz="10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typename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ARG_TYPE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</a:p>
          <a:p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ARG_TYPE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&gt;::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GetData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 {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value; }</a:t>
            </a:r>
          </a:p>
          <a:p>
            <a:endParaRPr lang="ko-KR" altLang="en-US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 = 10;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&amp;&gt; obj1(10);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obj1.GetData()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obj1.CopyData(a);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obj1.GetData()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 = 3.4;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Data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0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&amp;&gt; obj2(1.5);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obj2.GetData()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obj2.CopyData(b);   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obj2.GetData() </a:t>
            </a:r>
            <a:r>
              <a:rPr lang="en-US" altLang="ko-KR" sz="10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58721143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194D78BC-44B7-4AC2-8C06-579B655FF330}" vid="{2AAC0CCA-5385-4D55-8E98-229E12908A3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2651</TotalTime>
  <Words>1951</Words>
  <Application>Microsoft Office PowerPoint</Application>
  <PresentationFormat>와이드스크린</PresentationFormat>
  <Paragraphs>360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HY헤드라인M</vt:lpstr>
      <vt:lpstr>Nanum Gothic</vt:lpstr>
      <vt:lpstr>돋움체</vt:lpstr>
      <vt:lpstr>맑은 고딕</vt:lpstr>
      <vt:lpstr>Arial</vt:lpstr>
      <vt:lpstr>Consolas</vt:lpstr>
      <vt:lpstr>Wingdings</vt:lpstr>
      <vt:lpstr>kdw</vt:lpstr>
      <vt:lpstr>C++ 템플릿</vt:lpstr>
      <vt:lpstr>학습목표</vt:lpstr>
      <vt:lpstr>템플릿</vt:lpstr>
      <vt:lpstr>템플릿 함수</vt:lpstr>
      <vt:lpstr>템플릿 함수</vt:lpstr>
      <vt:lpstr>템플릿 함수</vt:lpstr>
      <vt:lpstr>예제</vt:lpstr>
      <vt:lpstr>템플릿 클래스</vt:lpstr>
      <vt:lpstr>클래스 템플릿 선언</vt:lpstr>
      <vt:lpstr>템플릿 클래스 생성</vt:lpstr>
      <vt:lpstr>클래스 템플릿 선언</vt:lpstr>
      <vt:lpstr>예제</vt:lpstr>
      <vt:lpstr>예제</vt:lpstr>
      <vt:lpstr>예제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540</cp:revision>
  <dcterms:created xsi:type="dcterms:W3CDTF">2020-02-16T05:20:05Z</dcterms:created>
  <dcterms:modified xsi:type="dcterms:W3CDTF">2023-12-09T03:25:57Z</dcterms:modified>
</cp:coreProperties>
</file>