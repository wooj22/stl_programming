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4"/>
  </p:notesMasterIdLst>
  <p:sldIdLst>
    <p:sldId id="256" r:id="rId2"/>
    <p:sldId id="279" r:id="rId3"/>
    <p:sldId id="280" r:id="rId4"/>
    <p:sldId id="274" r:id="rId5"/>
    <p:sldId id="275" r:id="rId6"/>
    <p:sldId id="276" r:id="rId7"/>
    <p:sldId id="277" r:id="rId8"/>
    <p:sldId id="278" r:id="rId9"/>
    <p:sldId id="281" r:id="rId10"/>
    <p:sldId id="282" r:id="rId11"/>
    <p:sldId id="283" r:id="rId12"/>
    <p:sldId id="284" r:id="rId1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72" y="1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82305C-3B4A-4CEA-9B78-30452B89202A}" type="datetimeFigureOut">
              <a:rPr lang="ko-KR" altLang="en-US" smtClean="0"/>
              <a:t>2021-10-15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E29B41-DE66-4CCD-8EF4-D4A2091FF03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16840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none"/>
        </p:style>
        <p:txBody>
          <a:bodyPr anchor="ctr">
            <a:normAutofit/>
          </a:bodyPr>
          <a:lstStyle>
            <a:lvl1pPr algn="ctr">
              <a:defRPr sz="5400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 anchor="b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2021-10-15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8428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05793"/>
          </a:xfr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>
            <a:normAutofit/>
          </a:bodyPr>
          <a:lstStyle>
            <a:lvl1pPr>
              <a:defRPr sz="36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235676"/>
            <a:ext cx="10515600" cy="5099221"/>
          </a:xfrm>
        </p:spPr>
        <p:txBody>
          <a:bodyPr/>
          <a:lstStyle>
            <a:lvl1pPr>
              <a:lnSpc>
                <a:spcPct val="120000"/>
              </a:lnSpc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411156"/>
            <a:ext cx="2743200" cy="269129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fld id="{E82D2FF9-85B3-4DB3-BCC0-C2DF320F10A8}" type="datetimeFigureOut">
              <a:rPr lang="ko-KR" altLang="en-US" smtClean="0"/>
              <a:t>2021-10-15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411156"/>
            <a:ext cx="4114800" cy="269129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411156"/>
            <a:ext cx="2743200" cy="269129"/>
          </a:xfrm>
        </p:spPr>
        <p:txBody>
          <a:bodyPr/>
          <a:lstStyle>
            <a:lvl1pPr>
              <a:defRPr sz="1200"/>
            </a:lvl1pPr>
          </a:lstStyle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9060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2021-10-15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5495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2021-10-15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6354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2021-10-15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01414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2021-10-15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7117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2021-10-15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1516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2021-10-15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4930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2021-10-15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5903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2021-10-15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3515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D2FF9-85B3-4DB3-BCC0-C2DF320F10A8}" type="datetimeFigureOut">
              <a:rPr lang="ko-KR" altLang="en-US" smtClean="0"/>
              <a:t>2021-10-15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35263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6931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none"/>
        </p:style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344168"/>
            <a:ext cx="10515600" cy="501218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5ADFB-893C-4FE2-928F-7126B74AAB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02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lang="ko-KR" altLang="en-US" sz="4400" kern="1200" dirty="0" smtClean="0">
          <a:solidFill>
            <a:schemeClr val="bg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120000"/>
        </a:lnSpc>
        <a:spcBef>
          <a:spcPts val="500"/>
        </a:spcBef>
        <a:buFont typeface="Wingdings" panose="05000000000000000000" pitchFamily="2" charset="2"/>
        <a:buChar char="ü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C++</a:t>
            </a:r>
            <a:r>
              <a:rPr lang="ko-KR" altLang="en-US" dirty="0"/>
              <a:t> 메모리 관리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01999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메모리 동적 할당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400" dirty="0"/>
              <a:t>메모리의 </a:t>
            </a:r>
            <a:r>
              <a:rPr lang="ko-KR" altLang="en-US" sz="1400" b="1" dirty="0"/>
              <a:t>동적 할당</a:t>
            </a:r>
            <a:r>
              <a:rPr lang="ko-KR" altLang="en-US" sz="1400" dirty="0"/>
              <a:t>이란 </a:t>
            </a:r>
            <a:r>
              <a:rPr lang="en-US" altLang="ko-KR" sz="1400" dirty="0"/>
              <a:t>– </a:t>
            </a:r>
            <a:r>
              <a:rPr lang="ko-KR" altLang="en-US" sz="1400" dirty="0"/>
              <a:t>실행되는 중인 </a:t>
            </a:r>
            <a:r>
              <a:rPr lang="ko-KR" altLang="en-US" sz="1400" b="1" dirty="0"/>
              <a:t>런타임</a:t>
            </a:r>
            <a:r>
              <a:rPr lang="ko-KR" altLang="en-US" sz="1400" dirty="0"/>
              <a:t>에 사용자가 직접 할당 받는 것</a:t>
            </a:r>
            <a:endParaRPr lang="en-US" altLang="ko-KR" sz="1400" dirty="0"/>
          </a:p>
          <a:p>
            <a:r>
              <a:rPr lang="ko-KR" altLang="en-US" sz="1400" dirty="0"/>
              <a:t>메모리를 동적할당하는 경우 </a:t>
            </a:r>
            <a:r>
              <a:rPr lang="en-US" altLang="ko-KR" sz="1400" dirty="0"/>
              <a:t>- </a:t>
            </a:r>
            <a:r>
              <a:rPr lang="ko-KR" altLang="en-US" sz="1400" dirty="0" err="1"/>
              <a:t>전역변수와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지역변수로</a:t>
            </a:r>
            <a:r>
              <a:rPr lang="ko-KR" altLang="en-US" sz="1400" dirty="0"/>
              <a:t> 해결이 되지 않는 상황</a:t>
            </a:r>
            <a:endParaRPr lang="en-US" altLang="ko-KR" sz="1400" dirty="0"/>
          </a:p>
          <a:p>
            <a:endParaRPr lang="ko-KR" altLang="en-US" sz="1400" dirty="0"/>
          </a:p>
        </p:txBody>
      </p:sp>
      <p:sp>
        <p:nvSpPr>
          <p:cNvPr id="4" name="직사각형 3"/>
          <p:cNvSpPr/>
          <p:nvPr/>
        </p:nvSpPr>
        <p:spPr>
          <a:xfrm>
            <a:off x="1091989" y="2303357"/>
            <a:ext cx="9585989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name[30]; 	</a:t>
            </a:r>
            <a:r>
              <a:rPr lang="en-US" altLang="ko-KR" sz="14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4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전역변수로도 각각 필요한 공간을 미리 확보하는 것은 무리 </a:t>
            </a:r>
            <a:r>
              <a:rPr lang="en-US" altLang="ko-KR" sz="14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4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동적 할당이 필요</a:t>
            </a:r>
            <a:endParaRPr lang="en-US" altLang="ko-KR" sz="1400" dirty="0">
              <a:solidFill>
                <a:srgbClr val="0066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ReadName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gets_s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(name);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return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name;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name1;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name2;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name1 =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ReadName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name2 =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ReadName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	</a:t>
            </a:r>
            <a:r>
              <a:rPr lang="en-US" altLang="ko-KR" sz="14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//name2</a:t>
            </a:r>
            <a:r>
              <a:rPr lang="ko-KR" altLang="en-US" sz="14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를</a:t>
            </a:r>
            <a:r>
              <a:rPr lang="en-US" altLang="ko-KR" sz="14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ko-KR" altLang="en-US" sz="14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할당하는 순간 </a:t>
            </a:r>
            <a:r>
              <a:rPr lang="en-US" altLang="ko-KR" sz="14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name1</a:t>
            </a:r>
            <a:r>
              <a:rPr lang="ko-KR" altLang="en-US" sz="14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도 변한다</a:t>
            </a:r>
            <a:r>
              <a:rPr lang="en-US" altLang="ko-KR" sz="14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 //</a:t>
            </a:r>
            <a:r>
              <a:rPr lang="ko-KR" altLang="en-US" sz="14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별도의 공간 필요</a:t>
            </a:r>
            <a:endParaRPr lang="en-US" altLang="ko-KR" sz="1400" dirty="0">
              <a:solidFill>
                <a:srgbClr val="0066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name1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name2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return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0;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76604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메모리 동적 할당 함수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400" dirty="0"/>
              <a:t>메모리의 동적 할당이란 </a:t>
            </a:r>
            <a:r>
              <a:rPr lang="en-US" altLang="ko-KR" sz="1400" dirty="0"/>
              <a:t>: </a:t>
            </a:r>
            <a:r>
              <a:rPr lang="ko-KR" altLang="en-US" sz="1400" dirty="0" err="1"/>
              <a:t>필요할때</a:t>
            </a:r>
            <a:r>
              <a:rPr lang="ko-KR" altLang="en-US" sz="1400" dirty="0"/>
              <a:t> </a:t>
            </a:r>
            <a:r>
              <a:rPr lang="ko-KR" altLang="en-US" sz="1400" dirty="0" err="1"/>
              <a:t>힙</a:t>
            </a:r>
            <a:r>
              <a:rPr lang="ko-KR" altLang="en-US" sz="1400" dirty="0"/>
              <a:t> 영역으로 메모리 공간 할당</a:t>
            </a:r>
            <a:endParaRPr lang="en-US" altLang="ko-KR" sz="1600" dirty="0">
              <a:solidFill>
                <a:srgbClr val="0000FF"/>
              </a:solidFill>
            </a:endParaRPr>
          </a:p>
          <a:p>
            <a:pPr marL="457200" lvl="1" indent="0">
              <a:buNone/>
            </a:pPr>
            <a:r>
              <a:rPr lang="en-US" altLang="ko-KR" sz="1600" dirty="0">
                <a:solidFill>
                  <a:srgbClr val="0000FF"/>
                </a:solidFill>
              </a:rPr>
              <a:t>void</a:t>
            </a:r>
            <a:r>
              <a:rPr lang="ko-KR" altLang="en-US" sz="1600" dirty="0"/>
              <a:t> </a:t>
            </a:r>
            <a:r>
              <a:rPr lang="en-US" altLang="ko-KR" sz="1600" dirty="0"/>
              <a:t>* </a:t>
            </a:r>
            <a:r>
              <a:rPr lang="en-US" altLang="ko-KR" sz="1600" b="1" dirty="0" err="1"/>
              <a:t>malloc</a:t>
            </a:r>
            <a:r>
              <a:rPr lang="en-US" altLang="ko-KR" sz="1600" b="1" dirty="0"/>
              <a:t> </a:t>
            </a:r>
            <a:r>
              <a:rPr lang="en-US" altLang="ko-KR" sz="1600" dirty="0"/>
              <a:t>(</a:t>
            </a:r>
            <a:r>
              <a:rPr lang="en-US" altLang="ko-KR" sz="1600" dirty="0" err="1">
                <a:solidFill>
                  <a:srgbClr val="0000FF"/>
                </a:solidFill>
              </a:rPr>
              <a:t>size_t</a:t>
            </a:r>
            <a:r>
              <a:rPr lang="en-US" altLang="ko-KR" sz="1600" dirty="0"/>
              <a:t> size); 	</a:t>
            </a:r>
            <a:r>
              <a:rPr lang="en-US" altLang="ko-KR" sz="1600" dirty="0">
                <a:solidFill>
                  <a:srgbClr val="006600"/>
                </a:solidFill>
              </a:rPr>
              <a:t>//</a:t>
            </a:r>
            <a:r>
              <a:rPr lang="ko-KR" altLang="en-US" sz="1600" dirty="0" err="1">
                <a:solidFill>
                  <a:srgbClr val="006600"/>
                </a:solidFill>
              </a:rPr>
              <a:t>힙</a:t>
            </a:r>
            <a:r>
              <a:rPr lang="ko-KR" altLang="en-US" sz="1600" dirty="0">
                <a:solidFill>
                  <a:srgbClr val="006600"/>
                </a:solidFill>
              </a:rPr>
              <a:t> 영역으로 메모리 공간 할당</a:t>
            </a:r>
            <a:endParaRPr lang="en-US" altLang="ko-KR" sz="1600" dirty="0">
              <a:solidFill>
                <a:srgbClr val="006600"/>
              </a:solidFill>
            </a:endParaRPr>
          </a:p>
          <a:p>
            <a:pPr marL="457200" lvl="1" indent="0">
              <a:buNone/>
            </a:pPr>
            <a:r>
              <a:rPr lang="en-US" altLang="ko-KR" sz="1600" dirty="0">
                <a:solidFill>
                  <a:srgbClr val="0000FF"/>
                </a:solidFill>
              </a:rPr>
              <a:t>void</a:t>
            </a:r>
            <a:r>
              <a:rPr lang="en-US" altLang="ko-KR" sz="1600" dirty="0"/>
              <a:t> </a:t>
            </a:r>
            <a:r>
              <a:rPr lang="en-US" altLang="ko-KR" sz="1600" b="1" dirty="0"/>
              <a:t>free </a:t>
            </a:r>
            <a:r>
              <a:rPr lang="en-US" altLang="ko-KR" sz="1600" dirty="0"/>
              <a:t>(</a:t>
            </a:r>
            <a:r>
              <a:rPr lang="en-US" altLang="ko-KR" sz="1600" dirty="0">
                <a:solidFill>
                  <a:srgbClr val="0000FF"/>
                </a:solidFill>
              </a:rPr>
              <a:t>void</a:t>
            </a:r>
            <a:r>
              <a:rPr lang="en-US" altLang="ko-KR" sz="1600" dirty="0"/>
              <a:t> *</a:t>
            </a:r>
            <a:r>
              <a:rPr lang="en-US" altLang="ko-KR" sz="1600" dirty="0" err="1"/>
              <a:t>ptr</a:t>
            </a:r>
            <a:r>
              <a:rPr lang="en-US" altLang="ko-KR" sz="1600" dirty="0"/>
              <a:t>); 		</a:t>
            </a:r>
            <a:r>
              <a:rPr lang="en-US" altLang="ko-KR" sz="1600" dirty="0">
                <a:solidFill>
                  <a:srgbClr val="006600"/>
                </a:solidFill>
              </a:rPr>
              <a:t>//</a:t>
            </a:r>
            <a:r>
              <a:rPr lang="ko-KR" altLang="en-US" sz="1600" dirty="0" err="1">
                <a:solidFill>
                  <a:srgbClr val="006600"/>
                </a:solidFill>
              </a:rPr>
              <a:t>힙</a:t>
            </a:r>
            <a:r>
              <a:rPr lang="ko-KR" altLang="en-US" sz="1600" dirty="0">
                <a:solidFill>
                  <a:srgbClr val="006600"/>
                </a:solidFill>
              </a:rPr>
              <a:t> 영역에 할당된 메모리 공간 해제</a:t>
            </a:r>
            <a:endParaRPr lang="en-US" altLang="ko-KR" sz="1600" dirty="0">
              <a:solidFill>
                <a:srgbClr val="006600"/>
              </a:solidFill>
            </a:endParaRPr>
          </a:p>
          <a:p>
            <a:r>
              <a:rPr lang="en-US" altLang="ko-KR" sz="1400" dirty="0" err="1"/>
              <a:t>malloc</a:t>
            </a:r>
            <a:r>
              <a:rPr lang="en-US" altLang="ko-KR" sz="1400" dirty="0"/>
              <a:t> </a:t>
            </a:r>
            <a:r>
              <a:rPr lang="ko-KR" altLang="en-US" sz="1400" dirty="0"/>
              <a:t>함수는 </a:t>
            </a:r>
            <a:r>
              <a:rPr lang="ko-KR" altLang="en-US" sz="1400" dirty="0" err="1"/>
              <a:t>성공시</a:t>
            </a:r>
            <a:r>
              <a:rPr lang="ko-KR" altLang="en-US" sz="1400" dirty="0"/>
              <a:t> 할당된 메모리 </a:t>
            </a:r>
            <a:r>
              <a:rPr lang="ko-KR" altLang="en-US" sz="1400" dirty="0" err="1"/>
              <a:t>주소값</a:t>
            </a:r>
            <a:r>
              <a:rPr lang="en-US" altLang="ko-KR" sz="1400" dirty="0"/>
              <a:t>, </a:t>
            </a:r>
            <a:r>
              <a:rPr lang="ko-KR" altLang="en-US" sz="1400" dirty="0" err="1"/>
              <a:t>실패시</a:t>
            </a:r>
            <a:r>
              <a:rPr lang="ko-KR" altLang="en-US" sz="1400" dirty="0"/>
              <a:t> </a:t>
            </a:r>
            <a:r>
              <a:rPr lang="en-US" altLang="ko-KR" sz="1400" dirty="0"/>
              <a:t>NULL </a:t>
            </a:r>
            <a:r>
              <a:rPr lang="ko-KR" altLang="en-US" sz="1400" dirty="0"/>
              <a:t>반환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997226" y="3368839"/>
            <a:ext cx="8744046" cy="24622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ptr1 =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malloc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(4);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ptr2 =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malloc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(12);	 </a:t>
            </a:r>
          </a:p>
          <a:p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free(ptr1);  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free(ptr2);  </a:t>
            </a:r>
            <a:r>
              <a:rPr lang="en-US" altLang="ko-KR" sz="14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4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반드시 해제</a:t>
            </a:r>
            <a:endParaRPr lang="en-US" altLang="ko-KR" sz="1400" dirty="0">
              <a:solidFill>
                <a:srgbClr val="0066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return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0;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2409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반환형이</a:t>
            </a:r>
            <a:r>
              <a:rPr lang="en-US" altLang="ko-KR" dirty="0"/>
              <a:t> void</a:t>
            </a:r>
            <a:r>
              <a:rPr lang="ko-KR" altLang="en-US" dirty="0"/>
              <a:t>형 포인터인 이유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ko-KR" sz="1400" dirty="0" err="1"/>
              <a:t>malloc</a:t>
            </a:r>
            <a:r>
              <a:rPr lang="en-US" altLang="ko-KR" sz="1400" dirty="0"/>
              <a:t> </a:t>
            </a:r>
            <a:r>
              <a:rPr lang="ko-KR" altLang="en-US" sz="1400" dirty="0"/>
              <a:t>함수의 </a:t>
            </a:r>
            <a:r>
              <a:rPr lang="ko-KR" altLang="en-US" sz="1400" b="1" dirty="0"/>
              <a:t>일반적인 </a:t>
            </a:r>
            <a:r>
              <a:rPr lang="ko-KR" altLang="en-US" sz="1400" b="1" dirty="0" err="1"/>
              <a:t>호출형태</a:t>
            </a:r>
            <a:endParaRPr lang="ko-KR" altLang="en-US" sz="1400" b="1" dirty="0"/>
          </a:p>
          <a:p>
            <a:pPr marL="0" indent="0">
              <a:buNone/>
            </a:pPr>
            <a:r>
              <a:rPr lang="en-US" altLang="ko-KR" sz="1400" dirty="0"/>
              <a:t>    void * ptr1 = </a:t>
            </a:r>
            <a:r>
              <a:rPr lang="en-US" altLang="ko-KR" sz="1400" dirty="0" err="1"/>
              <a:t>malloc</a:t>
            </a:r>
            <a:r>
              <a:rPr lang="en-US" altLang="ko-KR" sz="1400" dirty="0"/>
              <a:t>( </a:t>
            </a:r>
            <a:r>
              <a:rPr lang="en-US" altLang="ko-KR" sz="1400" dirty="0" err="1"/>
              <a:t>sizeof</a:t>
            </a:r>
            <a:r>
              <a:rPr lang="en-US" altLang="ko-KR" sz="1400" dirty="0"/>
              <a:t>(</a:t>
            </a:r>
            <a:r>
              <a:rPr lang="en-US" altLang="ko-KR" sz="1400" dirty="0" err="1">
                <a:solidFill>
                  <a:srgbClr val="0000FF"/>
                </a:solidFill>
              </a:rPr>
              <a:t>int</a:t>
            </a:r>
            <a:r>
              <a:rPr lang="en-US" altLang="ko-KR" sz="1400" dirty="0"/>
              <a:t>) );</a:t>
            </a:r>
          </a:p>
          <a:p>
            <a:pPr marL="0" indent="0">
              <a:buNone/>
            </a:pPr>
            <a:r>
              <a:rPr lang="en-US" altLang="ko-KR" sz="1400" dirty="0"/>
              <a:t>    void * ptr2 = </a:t>
            </a:r>
            <a:r>
              <a:rPr lang="en-US" altLang="ko-KR" sz="1400" dirty="0" err="1"/>
              <a:t>malloc</a:t>
            </a:r>
            <a:r>
              <a:rPr lang="en-US" altLang="ko-KR" sz="1400" dirty="0"/>
              <a:t>( </a:t>
            </a:r>
            <a:r>
              <a:rPr lang="en-US" altLang="ko-KR" sz="1400" dirty="0" err="1"/>
              <a:t>sizeof</a:t>
            </a:r>
            <a:r>
              <a:rPr lang="en-US" altLang="ko-KR" sz="1400" dirty="0"/>
              <a:t>(</a:t>
            </a:r>
            <a:r>
              <a:rPr lang="en-US" altLang="ko-KR" sz="1400" dirty="0">
                <a:solidFill>
                  <a:srgbClr val="0000FF"/>
                </a:solidFill>
              </a:rPr>
              <a:t>double</a:t>
            </a:r>
            <a:r>
              <a:rPr lang="en-US" altLang="ko-KR" sz="1400" dirty="0"/>
              <a:t>) );</a:t>
            </a:r>
          </a:p>
          <a:p>
            <a:pPr marL="0" indent="0">
              <a:buNone/>
            </a:pPr>
            <a:r>
              <a:rPr lang="en-US" altLang="ko-KR" sz="1400" dirty="0"/>
              <a:t>    void * ptr3 = </a:t>
            </a:r>
            <a:r>
              <a:rPr lang="en-US" altLang="ko-KR" sz="1400" dirty="0" err="1"/>
              <a:t>malloc</a:t>
            </a:r>
            <a:r>
              <a:rPr lang="en-US" altLang="ko-KR" sz="1400" dirty="0"/>
              <a:t>( </a:t>
            </a:r>
            <a:r>
              <a:rPr lang="en-US" altLang="ko-KR" sz="1400" dirty="0" err="1"/>
              <a:t>sizeof</a:t>
            </a:r>
            <a:r>
              <a:rPr lang="en-US" altLang="ko-KR" sz="1400" dirty="0"/>
              <a:t>(</a:t>
            </a:r>
            <a:r>
              <a:rPr lang="en-US" altLang="ko-KR" sz="1400" dirty="0" err="1">
                <a:solidFill>
                  <a:srgbClr val="0000FF"/>
                </a:solidFill>
              </a:rPr>
              <a:t>int</a:t>
            </a:r>
            <a:r>
              <a:rPr lang="en-US" altLang="ko-KR" sz="1400" dirty="0"/>
              <a:t>)*7 );</a:t>
            </a:r>
          </a:p>
          <a:p>
            <a:r>
              <a:rPr lang="en-US" altLang="ko-KR" sz="1400" b="1" dirty="0" err="1"/>
              <a:t>sizeof</a:t>
            </a:r>
            <a:r>
              <a:rPr lang="en-US" altLang="ko-KR" sz="1400" b="1" dirty="0"/>
              <a:t> </a:t>
            </a:r>
            <a:r>
              <a:rPr lang="ko-KR" altLang="en-US" sz="1400" b="1" dirty="0"/>
              <a:t>연산 이후 실질적인 </a:t>
            </a:r>
            <a:r>
              <a:rPr lang="en-US" altLang="ko-KR" sz="1400" b="1" dirty="0" err="1"/>
              <a:t>malloc</a:t>
            </a:r>
            <a:r>
              <a:rPr lang="ko-KR" altLang="en-US" sz="1400" b="1" dirty="0"/>
              <a:t>의 호출</a:t>
            </a:r>
          </a:p>
          <a:p>
            <a:pPr marL="0" indent="0">
              <a:buNone/>
            </a:pPr>
            <a:r>
              <a:rPr lang="en-US" altLang="ko-KR" sz="1400" dirty="0"/>
              <a:t>    void * ptr1 = </a:t>
            </a:r>
            <a:r>
              <a:rPr lang="en-US" altLang="ko-KR" sz="1400" dirty="0" err="1"/>
              <a:t>malloc</a:t>
            </a:r>
            <a:r>
              <a:rPr lang="en-US" altLang="ko-KR" sz="1400" dirty="0"/>
              <a:t>( 4 );</a:t>
            </a:r>
          </a:p>
          <a:p>
            <a:pPr marL="0" indent="0">
              <a:buNone/>
            </a:pPr>
            <a:r>
              <a:rPr lang="en-US" altLang="ko-KR" sz="1400" dirty="0"/>
              <a:t>    void * ptr2 = </a:t>
            </a:r>
            <a:r>
              <a:rPr lang="en-US" altLang="ko-KR" sz="1400" dirty="0" err="1"/>
              <a:t>malloc</a:t>
            </a:r>
            <a:r>
              <a:rPr lang="en-US" altLang="ko-KR" sz="1400" dirty="0"/>
              <a:t>( 8 );</a:t>
            </a:r>
          </a:p>
          <a:p>
            <a:pPr marL="0" indent="0">
              <a:buNone/>
            </a:pPr>
            <a:r>
              <a:rPr lang="en-US" altLang="ko-KR" sz="1400" dirty="0"/>
              <a:t>    void * ptr3 = </a:t>
            </a:r>
            <a:r>
              <a:rPr lang="en-US" altLang="ko-KR" sz="1400" dirty="0" err="1"/>
              <a:t>malloc</a:t>
            </a:r>
            <a:r>
              <a:rPr lang="en-US" altLang="ko-KR" sz="1400" dirty="0"/>
              <a:t>( 28 );</a:t>
            </a:r>
          </a:p>
          <a:p>
            <a:endParaRPr lang="en-US" altLang="ko-KR" sz="1400" dirty="0"/>
          </a:p>
          <a:p>
            <a:r>
              <a:rPr lang="en-US" altLang="ko-KR" sz="1400" dirty="0" err="1"/>
              <a:t>malloc</a:t>
            </a:r>
            <a:r>
              <a:rPr lang="en-US" altLang="ko-KR" sz="1400" dirty="0"/>
              <a:t> </a:t>
            </a:r>
            <a:r>
              <a:rPr lang="ko-KR" altLang="en-US" sz="1400" dirty="0"/>
              <a:t>함수는 인자로 숫자만 하나 전달받을 뿐이라 할당하는 메모리의 용도를 알지 못한다</a:t>
            </a:r>
            <a:r>
              <a:rPr lang="en-US" altLang="ko-KR" sz="1400" dirty="0"/>
              <a:t>. </a:t>
            </a:r>
            <a:r>
              <a:rPr lang="ko-KR" altLang="en-US" sz="1400" dirty="0"/>
              <a:t> 메모리의 포인터 형을 결정 못함</a:t>
            </a:r>
            <a:r>
              <a:rPr lang="en-US" altLang="ko-KR" sz="1400" dirty="0"/>
              <a:t>. </a:t>
            </a:r>
          </a:p>
          <a:p>
            <a:r>
              <a:rPr lang="ko-KR" altLang="en-US" sz="1400" dirty="0"/>
              <a:t>따라서 다음과 곁이 </a:t>
            </a:r>
            <a:r>
              <a:rPr lang="ko-KR" altLang="en-US" sz="1400" b="1" dirty="0"/>
              <a:t>형 변환의 과정을 거쳐서 </a:t>
            </a:r>
            <a:r>
              <a:rPr lang="ko-KR" altLang="en-US" sz="1400" dirty="0"/>
              <a:t>할당된 메모리의 주소 값을 </a:t>
            </a:r>
            <a:r>
              <a:rPr lang="ko-KR" altLang="en-US" sz="1400" b="1" dirty="0"/>
              <a:t>저장해야</a:t>
            </a:r>
            <a:r>
              <a:rPr lang="ko-KR" altLang="en-US" sz="1400" dirty="0"/>
              <a:t> 한다</a:t>
            </a:r>
            <a:endParaRPr lang="en-US" altLang="ko-KR" sz="1400" dirty="0"/>
          </a:p>
          <a:p>
            <a:r>
              <a:rPr lang="en-US" altLang="ko-KR" sz="1400" dirty="0" err="1">
                <a:solidFill>
                  <a:srgbClr val="0000FF"/>
                </a:solidFill>
              </a:rPr>
              <a:t>int</a:t>
            </a:r>
            <a:r>
              <a:rPr lang="en-US" altLang="ko-KR" sz="1400" dirty="0">
                <a:solidFill>
                  <a:srgbClr val="0000FF"/>
                </a:solidFill>
              </a:rPr>
              <a:t> *</a:t>
            </a:r>
            <a:r>
              <a:rPr lang="en-US" altLang="ko-KR" sz="1400" dirty="0"/>
              <a:t> ptr1 = </a:t>
            </a:r>
            <a:r>
              <a:rPr lang="en-US" altLang="ko-KR" sz="1400" b="1" dirty="0"/>
              <a:t>(</a:t>
            </a:r>
            <a:r>
              <a:rPr lang="en-US" altLang="ko-KR" sz="1400" b="1" dirty="0" err="1"/>
              <a:t>int</a:t>
            </a:r>
            <a:r>
              <a:rPr lang="en-US" altLang="ko-KR" sz="1400" b="1" dirty="0"/>
              <a:t> *) </a:t>
            </a:r>
            <a:r>
              <a:rPr lang="en-US" altLang="ko-KR" sz="1400" dirty="0" err="1"/>
              <a:t>malloc</a:t>
            </a:r>
            <a:r>
              <a:rPr lang="en-US" altLang="ko-KR" sz="1400" dirty="0"/>
              <a:t>( </a:t>
            </a:r>
            <a:r>
              <a:rPr lang="en-US" altLang="ko-KR" sz="1400" dirty="0" err="1">
                <a:solidFill>
                  <a:srgbClr val="0000FF"/>
                </a:solidFill>
              </a:rPr>
              <a:t>sizeof</a:t>
            </a:r>
            <a:r>
              <a:rPr lang="en-US" altLang="ko-KR" sz="1400" dirty="0"/>
              <a:t>(</a:t>
            </a:r>
            <a:r>
              <a:rPr lang="en-US" altLang="ko-KR" sz="1400" b="1" dirty="0" err="1"/>
              <a:t>int</a:t>
            </a:r>
            <a:r>
              <a:rPr lang="en-US" altLang="ko-KR" sz="1400" dirty="0"/>
              <a:t>) );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751104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동적 할당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ko-KR" sz="1400" dirty="0" err="1"/>
              <a:t>malloc</a:t>
            </a:r>
            <a:r>
              <a:rPr lang="en-US" altLang="ko-KR" sz="1400" dirty="0"/>
              <a:t> </a:t>
            </a:r>
            <a:r>
              <a:rPr lang="ko-KR" altLang="en-US" sz="1400" dirty="0"/>
              <a:t>함수의 가장 모범적인 </a:t>
            </a:r>
            <a:r>
              <a:rPr lang="ko-KR" altLang="en-US" sz="1400" dirty="0" err="1"/>
              <a:t>호출형태</a:t>
            </a:r>
            <a:endParaRPr lang="ko-KR" altLang="en-US" sz="1400" dirty="0"/>
          </a:p>
          <a:p>
            <a:pPr marL="0" indent="0">
              <a:buNone/>
            </a:pPr>
            <a:r>
              <a:rPr lang="en-US" altLang="ko-KR" sz="1400" dirty="0">
                <a:latin typeface="Consolas" panose="020B0609020204030204" pitchFamily="49" charset="0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latin typeface="Consolas" panose="020B0609020204030204" pitchFamily="49" charset="0"/>
              </a:rPr>
              <a:t> *    ptr1 = 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latin typeface="Consolas" panose="020B0609020204030204" pitchFamily="49" charset="0"/>
              </a:rPr>
              <a:t> *)    </a:t>
            </a:r>
            <a:r>
              <a:rPr lang="en-US" altLang="ko-KR" sz="1400" b="1" dirty="0">
                <a:latin typeface="Consolas" panose="020B0609020204030204" pitchFamily="49" charset="0"/>
              </a:rPr>
              <a:t>malloc</a:t>
            </a:r>
            <a:r>
              <a:rPr lang="en-US" altLang="ko-KR" sz="1400" dirty="0">
                <a:latin typeface="Consolas" panose="020B0609020204030204" pitchFamily="49" charset="0"/>
              </a:rPr>
              <a:t>( </a:t>
            </a:r>
            <a:r>
              <a:rPr lang="en-US" altLang="ko-KR" sz="1400" dirty="0" err="1">
                <a:latin typeface="Consolas" panose="020B0609020204030204" pitchFamily="49" charset="0"/>
              </a:rPr>
              <a:t>sizeof</a:t>
            </a:r>
            <a:r>
              <a:rPr lang="en-US" altLang="ko-KR" sz="1400" dirty="0">
                <a:latin typeface="Consolas" panose="020B0609020204030204" pitchFamily="49" charset="0"/>
              </a:rPr>
              <a:t>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latin typeface="Consolas" panose="020B0609020204030204" pitchFamily="49" charset="0"/>
              </a:rPr>
              <a:t>) );</a:t>
            </a:r>
          </a:p>
          <a:p>
            <a:pPr marL="0" indent="0">
              <a:buNone/>
            </a:pPr>
            <a:r>
              <a:rPr lang="en-US" altLang="ko-KR" sz="1400" dirty="0">
                <a:latin typeface="Consolas" panose="020B0609020204030204" pitchFamily="49" charset="0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altLang="ko-KR" sz="1400" dirty="0">
                <a:latin typeface="Consolas" panose="020B0609020204030204" pitchFamily="49" charset="0"/>
              </a:rPr>
              <a:t> * ptr2 = 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altLang="ko-KR" sz="1400" dirty="0">
                <a:latin typeface="Consolas" panose="020B0609020204030204" pitchFamily="49" charset="0"/>
              </a:rPr>
              <a:t> *) </a:t>
            </a:r>
            <a:r>
              <a:rPr lang="en-US" altLang="ko-KR" sz="1400" b="1" dirty="0" err="1">
                <a:latin typeface="Consolas" panose="020B0609020204030204" pitchFamily="49" charset="0"/>
              </a:rPr>
              <a:t>malloc</a:t>
            </a:r>
            <a:r>
              <a:rPr lang="en-US" altLang="ko-KR" sz="1400" dirty="0">
                <a:latin typeface="Consolas" panose="020B0609020204030204" pitchFamily="49" charset="0"/>
              </a:rPr>
              <a:t>( </a:t>
            </a:r>
            <a:r>
              <a:rPr lang="en-US" altLang="ko-KR" sz="1400" dirty="0" err="1">
                <a:latin typeface="Consolas" panose="020B0609020204030204" pitchFamily="49" charset="0"/>
              </a:rPr>
              <a:t>sizeof</a:t>
            </a:r>
            <a:r>
              <a:rPr lang="en-US" altLang="ko-KR" sz="1400" dirty="0">
                <a:latin typeface="Consolas" panose="020B0609020204030204" pitchFamily="49" charset="0"/>
              </a:rPr>
              <a:t>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double</a:t>
            </a:r>
            <a:r>
              <a:rPr lang="en-US" altLang="ko-KR" sz="1400" dirty="0">
                <a:latin typeface="Consolas" panose="020B0609020204030204" pitchFamily="49" charset="0"/>
              </a:rPr>
              <a:t>) );</a:t>
            </a:r>
          </a:p>
          <a:p>
            <a:pPr marL="0" indent="0">
              <a:buNone/>
            </a:pPr>
            <a:r>
              <a:rPr lang="en-US" altLang="ko-KR" sz="1400" dirty="0">
                <a:latin typeface="Consolas" panose="020B0609020204030204" pitchFamily="49" charset="0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latin typeface="Consolas" panose="020B0609020204030204" pitchFamily="49" charset="0"/>
              </a:rPr>
              <a:t> *    ptr3 = 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latin typeface="Consolas" panose="020B0609020204030204" pitchFamily="49" charset="0"/>
              </a:rPr>
              <a:t> *)    </a:t>
            </a:r>
            <a:r>
              <a:rPr lang="en-US" altLang="ko-KR" sz="1400" b="1" dirty="0">
                <a:latin typeface="Consolas" panose="020B0609020204030204" pitchFamily="49" charset="0"/>
              </a:rPr>
              <a:t>malloc</a:t>
            </a:r>
            <a:r>
              <a:rPr lang="en-US" altLang="ko-KR" sz="1400" dirty="0">
                <a:latin typeface="Consolas" panose="020B0609020204030204" pitchFamily="49" charset="0"/>
              </a:rPr>
              <a:t>( </a:t>
            </a:r>
            <a:r>
              <a:rPr lang="en-US" altLang="ko-KR" sz="1400" dirty="0" err="1">
                <a:latin typeface="Consolas" panose="020B0609020204030204" pitchFamily="49" charset="0"/>
              </a:rPr>
              <a:t>sizeof</a:t>
            </a:r>
            <a:r>
              <a:rPr lang="en-US" altLang="ko-KR" sz="1400" dirty="0">
                <a:latin typeface="Consolas" panose="020B0609020204030204" pitchFamily="49" charset="0"/>
              </a:rPr>
              <a:t>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latin typeface="Consolas" panose="020B0609020204030204" pitchFamily="49" charset="0"/>
              </a:rPr>
              <a:t>) </a:t>
            </a:r>
            <a:r>
              <a:rPr lang="en-US" altLang="ko-KR" sz="1400" b="1" dirty="0">
                <a:latin typeface="Consolas" panose="020B0609020204030204" pitchFamily="49" charset="0"/>
              </a:rPr>
              <a:t>* 7</a:t>
            </a:r>
            <a:r>
              <a:rPr lang="en-US" altLang="ko-KR" sz="1400" dirty="0">
                <a:latin typeface="Consolas" panose="020B0609020204030204" pitchFamily="49" charset="0"/>
              </a:rPr>
              <a:t> );</a:t>
            </a:r>
          </a:p>
          <a:p>
            <a:endParaRPr lang="en-US" altLang="ko-KR" sz="1400" dirty="0"/>
          </a:p>
          <a:p>
            <a:r>
              <a:rPr lang="ko-KR" altLang="en-US" sz="1400" dirty="0"/>
              <a:t>메모리 할당 실패 시 </a:t>
            </a:r>
            <a:r>
              <a:rPr lang="en-US" altLang="ko-KR" sz="1400" dirty="0" err="1"/>
              <a:t>malloc</a:t>
            </a:r>
            <a:r>
              <a:rPr lang="en-US" altLang="ko-KR" sz="1400" dirty="0"/>
              <a:t> </a:t>
            </a:r>
            <a:r>
              <a:rPr lang="ko-KR" altLang="en-US" sz="1400" dirty="0"/>
              <a:t>함수는 </a:t>
            </a:r>
            <a:r>
              <a:rPr lang="en-US" altLang="ko-KR" sz="1400" dirty="0"/>
              <a:t>NULL</a:t>
            </a:r>
            <a:r>
              <a:rPr lang="ko-KR" altLang="en-US" sz="1400" dirty="0"/>
              <a:t>을 반환</a:t>
            </a:r>
          </a:p>
          <a:p>
            <a:pPr marL="0" indent="0">
              <a:buNone/>
            </a:pPr>
            <a:r>
              <a:rPr lang="en-US" altLang="ko-KR" sz="1400" dirty="0">
                <a:latin typeface="Consolas" panose="020B0609020204030204" pitchFamily="49" charset="0"/>
              </a:rPr>
              <a:t>    </a:t>
            </a:r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latin typeface="Consolas" panose="020B0609020204030204" pitchFamily="49" charset="0"/>
              </a:rPr>
              <a:t> * ptr1 = (</a:t>
            </a:r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latin typeface="Consolas" panose="020B0609020204030204" pitchFamily="49" charset="0"/>
              </a:rPr>
              <a:t> *) </a:t>
            </a:r>
            <a:r>
              <a:rPr lang="en-US" altLang="ko-KR" sz="1400" dirty="0" err="1">
                <a:latin typeface="Consolas" panose="020B0609020204030204" pitchFamily="49" charset="0"/>
              </a:rPr>
              <a:t>malloc</a:t>
            </a:r>
            <a:r>
              <a:rPr lang="en-US" altLang="ko-KR" sz="1400" dirty="0">
                <a:latin typeface="Consolas" panose="020B0609020204030204" pitchFamily="49" charset="0"/>
              </a:rPr>
              <a:t>(</a:t>
            </a:r>
            <a:r>
              <a:rPr lang="en-US" altLang="ko-KR" sz="1400" dirty="0" err="1">
                <a:latin typeface="Consolas" panose="020B0609020204030204" pitchFamily="49" charset="0"/>
              </a:rPr>
              <a:t>sizeof</a:t>
            </a:r>
            <a:r>
              <a:rPr lang="en-US" altLang="ko-KR" sz="1400" dirty="0">
                <a:latin typeface="Consolas" panose="020B0609020204030204" pitchFamily="49" charset="0"/>
              </a:rPr>
              <a:t>(</a:t>
            </a:r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altLang="ko-KR" sz="1400" dirty="0">
                <a:latin typeface="Consolas" panose="020B0609020204030204" pitchFamily="49" charset="0"/>
              </a:rPr>
              <a:t>));</a:t>
            </a:r>
          </a:p>
          <a:p>
            <a:pPr marL="0" indent="0">
              <a:buNone/>
            </a:pPr>
            <a:r>
              <a:rPr lang="en-US" altLang="ko-KR" sz="1400" dirty="0">
                <a:latin typeface="Consolas" panose="020B0609020204030204" pitchFamily="49" charset="0"/>
              </a:rPr>
              <a:t>    if( </a:t>
            </a:r>
            <a:r>
              <a:rPr lang="en-US" altLang="ko-KR" sz="1400" dirty="0" err="1">
                <a:latin typeface="Consolas" panose="020B0609020204030204" pitchFamily="49" charset="0"/>
              </a:rPr>
              <a:t>ptr</a:t>
            </a:r>
            <a:r>
              <a:rPr lang="en-US" altLang="ko-KR" sz="1400" dirty="0">
                <a:latin typeface="Consolas" panose="020B0609020204030204" pitchFamily="49" charset="0"/>
              </a:rPr>
              <a:t> == NULL) {  /*</a:t>
            </a:r>
            <a:r>
              <a:rPr lang="ko-KR" altLang="en-US" sz="1400" dirty="0" err="1">
                <a:latin typeface="Consolas" panose="020B0609020204030204" pitchFamily="49" charset="0"/>
              </a:rPr>
              <a:t>오류처리</a:t>
            </a:r>
            <a:r>
              <a:rPr lang="en-US" altLang="ko-KR" sz="1400" dirty="0">
                <a:latin typeface="Consolas" panose="020B0609020204030204" pitchFamily="49" charset="0"/>
              </a:rPr>
              <a:t>*/  }</a:t>
            </a:r>
          </a:p>
          <a:p>
            <a:endParaRPr lang="en-US" altLang="ko-KR" sz="1400" dirty="0"/>
          </a:p>
          <a:p>
            <a:r>
              <a:rPr lang="ko-KR" altLang="en-US" sz="1400" dirty="0" err="1"/>
              <a:t>동적할당이라고</a:t>
            </a:r>
            <a:r>
              <a:rPr lang="ko-KR" altLang="en-US" sz="1400" dirty="0"/>
              <a:t> 하는 이유는</a:t>
            </a:r>
            <a:endParaRPr lang="en-US" altLang="ko-KR" sz="1400" dirty="0"/>
          </a:p>
          <a:p>
            <a:r>
              <a:rPr lang="ko-KR" altLang="en-US" sz="1400" dirty="0"/>
              <a:t>컴파일 시 할당에 필요한 메모리 공간이 계산되지 않고</a:t>
            </a:r>
            <a:r>
              <a:rPr lang="en-US" altLang="ko-KR" sz="1400" dirty="0"/>
              <a:t>, </a:t>
            </a:r>
            <a:r>
              <a:rPr lang="ko-KR" altLang="en-US" sz="1400" b="1" dirty="0"/>
              <a:t>실행 시</a:t>
            </a:r>
            <a:r>
              <a:rPr lang="ko-KR" altLang="en-US" sz="1400" dirty="0"/>
              <a:t> </a:t>
            </a:r>
            <a:r>
              <a:rPr lang="ko-KR" altLang="en-US" sz="1400" b="1" dirty="0"/>
              <a:t>할당에 필요한 메모리 공간이 계산</a:t>
            </a:r>
            <a:r>
              <a:rPr lang="ko-KR" altLang="en-US" sz="1400" dirty="0"/>
              <a:t>되기 때문</a:t>
            </a:r>
          </a:p>
        </p:txBody>
      </p:sp>
    </p:spTree>
    <p:extLst>
      <p:ext uri="{BB962C8B-B14F-4D97-AF65-F5344CB8AC3E}">
        <p14:creationId xmlns:p14="http://schemas.microsoft.com/office/powerpoint/2010/main" val="4573598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메모리 해제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400" dirty="0"/>
              <a:t>free </a:t>
            </a:r>
            <a:r>
              <a:rPr lang="ko-KR" altLang="en-US" sz="1400" dirty="0"/>
              <a:t>함수를 호출하지 않으면</a:t>
            </a:r>
            <a:r>
              <a:rPr lang="en-US" altLang="ko-KR" sz="1400" dirty="0"/>
              <a:t>?</a:t>
            </a:r>
          </a:p>
          <a:p>
            <a:endParaRPr lang="en-US" altLang="ko-KR" sz="1400" dirty="0"/>
          </a:p>
          <a:p>
            <a:r>
              <a:rPr lang="en-US" altLang="ko-KR" sz="1600" dirty="0"/>
              <a:t>free </a:t>
            </a:r>
            <a:r>
              <a:rPr lang="ko-KR" altLang="en-US" sz="1600" dirty="0"/>
              <a:t>함수를 호출하지 않으면</a:t>
            </a:r>
            <a:r>
              <a:rPr lang="en-US" altLang="ko-KR" sz="1600" dirty="0"/>
              <a:t>?</a:t>
            </a:r>
            <a:endParaRPr lang="en-US" altLang="ko-KR" sz="1400" dirty="0"/>
          </a:p>
          <a:p>
            <a:pPr lvl="1"/>
            <a:r>
              <a:rPr lang="ko-KR" altLang="en-US" sz="1400" dirty="0"/>
              <a:t>할당된 메모리 공간은 </a:t>
            </a:r>
            <a:r>
              <a:rPr lang="ko-KR" altLang="en-US" sz="1400" b="1" dirty="0"/>
              <a:t>메모리</a:t>
            </a:r>
            <a:r>
              <a:rPr lang="ko-KR" altLang="en-US" sz="1400" dirty="0"/>
              <a:t>를 계속 차지하게 된다</a:t>
            </a:r>
            <a:r>
              <a:rPr lang="en-US" altLang="ko-KR" sz="1400" dirty="0"/>
              <a:t>. </a:t>
            </a:r>
          </a:p>
          <a:p>
            <a:pPr lvl="1"/>
            <a:r>
              <a:rPr lang="ko-KR" altLang="en-US" sz="1400" dirty="0"/>
              <a:t>프로그램의 오류와 성능 저하를 유발한다</a:t>
            </a:r>
            <a:r>
              <a:rPr lang="en-US" altLang="ko-KR" sz="1400" dirty="0"/>
              <a:t>.</a:t>
            </a:r>
          </a:p>
          <a:p>
            <a:r>
              <a:rPr lang="en-US" altLang="ko-KR" sz="1600" dirty="0"/>
              <a:t>free </a:t>
            </a:r>
            <a:r>
              <a:rPr lang="ko-KR" altLang="en-US" sz="1600" dirty="0"/>
              <a:t>함수를 호출하지 않으면 프로그램 종료 후에도 메모리를 차지하는가</a:t>
            </a:r>
            <a:r>
              <a:rPr lang="en-US" altLang="ko-KR" sz="1600" dirty="0"/>
              <a:t>?</a:t>
            </a:r>
            <a:endParaRPr lang="en-US" altLang="ko-KR" sz="1800" dirty="0"/>
          </a:p>
          <a:p>
            <a:pPr lvl="1"/>
            <a:r>
              <a:rPr lang="ko-KR" altLang="en-US" sz="1400" dirty="0"/>
              <a:t>프로그램이 종료되면 프로그램 실행 시 할당된 모든 자원이 반환된다</a:t>
            </a:r>
            <a:r>
              <a:rPr lang="en-US" altLang="ko-KR" sz="1400" dirty="0"/>
              <a:t>. </a:t>
            </a:r>
          </a:p>
          <a:p>
            <a:endParaRPr lang="en-US" altLang="ko-KR" sz="1400" dirty="0"/>
          </a:p>
          <a:p>
            <a:r>
              <a:rPr lang="ko-KR" altLang="en-US" sz="1400" dirty="0"/>
              <a:t>꼭 </a:t>
            </a:r>
            <a:r>
              <a:rPr lang="en-US" altLang="ko-KR" sz="1400" dirty="0"/>
              <a:t>free </a:t>
            </a:r>
            <a:r>
              <a:rPr lang="ko-KR" altLang="en-US" sz="1400" dirty="0"/>
              <a:t>함수를 호출해야 하는 이유는 무엇인가</a:t>
            </a:r>
            <a:r>
              <a:rPr lang="en-US" altLang="ko-KR" sz="1400" dirty="0"/>
              <a:t>?</a:t>
            </a:r>
          </a:p>
          <a:p>
            <a:pPr lvl="1"/>
            <a:r>
              <a:rPr lang="en-US" altLang="ko-KR" sz="1400" dirty="0" err="1"/>
              <a:t>fopen</a:t>
            </a:r>
            <a:r>
              <a:rPr lang="en-US" altLang="ko-KR" sz="1400" dirty="0"/>
              <a:t> </a:t>
            </a:r>
            <a:r>
              <a:rPr lang="ko-KR" altLang="en-US" sz="1400" dirty="0"/>
              <a:t>함수와 쌍을 이루어 </a:t>
            </a:r>
            <a:r>
              <a:rPr lang="en-US" altLang="ko-KR" sz="1400" dirty="0" err="1"/>
              <a:t>fclose</a:t>
            </a:r>
            <a:r>
              <a:rPr lang="en-US" altLang="ko-KR" sz="1400" dirty="0"/>
              <a:t> </a:t>
            </a:r>
            <a:r>
              <a:rPr lang="ko-KR" altLang="en-US" sz="1400" dirty="0"/>
              <a:t>함수를 호출하는 것과 유사</a:t>
            </a:r>
            <a:r>
              <a:rPr lang="en-US" altLang="ko-KR" sz="1400" dirty="0"/>
              <a:t>. </a:t>
            </a:r>
          </a:p>
          <a:p>
            <a:pPr lvl="1"/>
            <a:r>
              <a:rPr lang="ko-KR" altLang="en-US" sz="1400" dirty="0"/>
              <a:t>예제에서도 늘 </a:t>
            </a:r>
            <a:r>
              <a:rPr lang="en-US" altLang="ko-KR" sz="1400" dirty="0"/>
              <a:t>free </a:t>
            </a:r>
            <a:r>
              <a:rPr lang="ko-KR" altLang="en-US" sz="1400" dirty="0"/>
              <a:t>함수를 호출하는 이유는 </a:t>
            </a:r>
            <a:r>
              <a:rPr lang="ko-KR" altLang="en-US" sz="1400" b="1" dirty="0"/>
              <a:t>습관</a:t>
            </a:r>
            <a:r>
              <a:rPr lang="ko-KR" altLang="en-US" sz="1400" dirty="0"/>
              <a:t>을 들이기 위해서이다</a:t>
            </a:r>
            <a:r>
              <a:rPr lang="en-US" altLang="ko-KR" sz="1400" dirty="0"/>
              <a:t> </a:t>
            </a:r>
          </a:p>
          <a:p>
            <a:pPr lvl="1"/>
            <a:r>
              <a:rPr lang="en-US" altLang="ko-KR" sz="1400" dirty="0" err="1"/>
              <a:t>fopen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fclose</a:t>
            </a:r>
            <a:r>
              <a:rPr lang="ko-KR" altLang="en-US" sz="1400" dirty="0"/>
              <a:t>가 늘 쌍을 이루듯 </a:t>
            </a:r>
            <a:r>
              <a:rPr lang="en-US" altLang="ko-KR" sz="1400" dirty="0" err="1"/>
              <a:t>malloc</a:t>
            </a:r>
            <a:r>
              <a:rPr lang="en-US" altLang="ko-KR" sz="1400" dirty="0"/>
              <a:t>, free</a:t>
            </a:r>
            <a:r>
              <a:rPr lang="ko-KR" altLang="en-US" sz="1400" dirty="0"/>
              <a:t>도 쌍을 이루어야 한다</a:t>
            </a:r>
            <a:r>
              <a:rPr lang="en-US" altLang="ko-KR" sz="1400" dirty="0"/>
              <a:t>.</a:t>
            </a:r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2514510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calloc</a:t>
            </a:r>
            <a:r>
              <a:rPr lang="ko-KR" altLang="en-US" dirty="0"/>
              <a:t> </a:t>
            </a:r>
            <a:r>
              <a:rPr lang="en-US" altLang="ko-KR" dirty="0" err="1"/>
              <a:t>realloc</a:t>
            </a:r>
            <a:r>
              <a:rPr lang="ko-KR" altLang="en-US" dirty="0"/>
              <a:t>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ko-KR" sz="1600" dirty="0" err="1"/>
              <a:t>calloc</a:t>
            </a:r>
            <a:r>
              <a:rPr lang="en-US" altLang="ko-KR" sz="1600" dirty="0"/>
              <a:t> &amp; </a:t>
            </a:r>
            <a:r>
              <a:rPr lang="en-US" altLang="ko-KR" sz="1600" dirty="0" err="1"/>
              <a:t>realloc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>
                <a:solidFill>
                  <a:srgbClr val="0000FF"/>
                </a:solidFill>
              </a:rPr>
              <a:t>void</a:t>
            </a:r>
            <a:r>
              <a:rPr lang="en-US" altLang="ko-KR" sz="1600" dirty="0"/>
              <a:t> *</a:t>
            </a:r>
            <a:r>
              <a:rPr lang="en-US" altLang="ko-KR" sz="1600" b="1" dirty="0" err="1"/>
              <a:t>calloc</a:t>
            </a:r>
            <a:r>
              <a:rPr lang="en-US" altLang="ko-KR" sz="1600" dirty="0"/>
              <a:t>( </a:t>
            </a:r>
            <a:r>
              <a:rPr lang="en-US" altLang="ko-KR" sz="1600" dirty="0" err="1">
                <a:solidFill>
                  <a:srgbClr val="0000FF"/>
                </a:solidFill>
              </a:rPr>
              <a:t>size_t</a:t>
            </a:r>
            <a:r>
              <a:rPr lang="en-US" altLang="ko-KR" sz="1600" dirty="0"/>
              <a:t> </a:t>
            </a:r>
            <a:r>
              <a:rPr lang="en-US" altLang="ko-KR" sz="1600" dirty="0" err="1"/>
              <a:t>elt_count</a:t>
            </a:r>
            <a:r>
              <a:rPr lang="en-US" altLang="ko-KR" sz="1600" dirty="0"/>
              <a:t> , </a:t>
            </a:r>
            <a:r>
              <a:rPr lang="en-US" altLang="ko-KR" sz="1600" dirty="0" err="1">
                <a:solidFill>
                  <a:srgbClr val="0000FF"/>
                </a:solidFill>
              </a:rPr>
              <a:t>size_t</a:t>
            </a:r>
            <a:r>
              <a:rPr lang="en-US" altLang="ko-KR" sz="1600" dirty="0"/>
              <a:t> </a:t>
            </a:r>
            <a:r>
              <a:rPr lang="en-US" altLang="ko-KR" sz="1600" dirty="0" err="1"/>
              <a:t>elt_size</a:t>
            </a:r>
            <a:r>
              <a:rPr lang="en-US" altLang="ko-KR" sz="1600" dirty="0"/>
              <a:t> );</a:t>
            </a:r>
          </a:p>
          <a:p>
            <a:endParaRPr lang="en-US" altLang="ko-KR" sz="1400" dirty="0"/>
          </a:p>
          <a:p>
            <a:pPr lvl="1"/>
            <a:r>
              <a:rPr lang="en-US" altLang="ko-KR" sz="1400" dirty="0" err="1"/>
              <a:t>malloc</a:t>
            </a:r>
            <a:r>
              <a:rPr lang="en-US" altLang="ko-KR" sz="1400" dirty="0"/>
              <a:t> </a:t>
            </a:r>
            <a:r>
              <a:rPr lang="ko-KR" altLang="en-US" sz="1400" dirty="0"/>
              <a:t>함수와의 가장 큰 차이점은 메모리 할당을 위한 인자의 전달 방식</a:t>
            </a:r>
          </a:p>
          <a:p>
            <a:pPr lvl="1"/>
            <a:r>
              <a:rPr lang="en-US" altLang="ko-KR" sz="1400" b="1" dirty="0" err="1"/>
              <a:t>elt_count</a:t>
            </a:r>
            <a:r>
              <a:rPr lang="en-US" altLang="ko-KR" sz="1400" b="1" dirty="0"/>
              <a:t> * </a:t>
            </a:r>
            <a:r>
              <a:rPr lang="en-US" altLang="ko-KR" sz="1400" b="1" dirty="0" err="1"/>
              <a:t>elt_size</a:t>
            </a:r>
            <a:r>
              <a:rPr lang="en-US" altLang="ko-KR" sz="1400" b="1" dirty="0"/>
              <a:t> </a:t>
            </a:r>
            <a:r>
              <a:rPr lang="ko-KR" altLang="en-US" sz="1400" dirty="0"/>
              <a:t>크기의 바이트를 동적 할당한다</a:t>
            </a:r>
            <a:r>
              <a:rPr lang="en-US" altLang="ko-KR" sz="1400" dirty="0"/>
              <a:t>. </a:t>
            </a:r>
            <a:r>
              <a:rPr lang="ko-KR" altLang="en-US" sz="1400" dirty="0"/>
              <a:t>즉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elt_size</a:t>
            </a:r>
            <a:r>
              <a:rPr lang="en-US" altLang="ko-KR" sz="1400" dirty="0"/>
              <a:t> </a:t>
            </a:r>
            <a:r>
              <a:rPr lang="ko-KR" altLang="en-US" sz="1400" dirty="0"/>
              <a:t>크기의 블록을 </a:t>
            </a:r>
            <a:r>
              <a:rPr lang="en-US" altLang="ko-KR" sz="1400" dirty="0" err="1"/>
              <a:t>elt_count</a:t>
            </a:r>
            <a:r>
              <a:rPr lang="en-US" altLang="ko-KR" sz="1400" dirty="0"/>
              <a:t> </a:t>
            </a:r>
            <a:r>
              <a:rPr lang="ko-KR" altLang="en-US" sz="1400" dirty="0"/>
              <a:t>의 수만큼 </a:t>
            </a:r>
            <a:r>
              <a:rPr lang="ko-KR" altLang="en-US" sz="1400" dirty="0" err="1"/>
              <a:t>동적할당</a:t>
            </a:r>
            <a:r>
              <a:rPr lang="en-US" altLang="ko-KR" sz="1400" dirty="0"/>
              <a:t>! </a:t>
            </a:r>
          </a:p>
          <a:p>
            <a:pPr lvl="1"/>
            <a:r>
              <a:rPr lang="ko-KR" altLang="en-US" sz="1400" dirty="0"/>
              <a:t>그리고 </a:t>
            </a:r>
            <a:r>
              <a:rPr lang="en-US" altLang="ko-KR" sz="1400" dirty="0" err="1"/>
              <a:t>malloc</a:t>
            </a:r>
            <a:r>
              <a:rPr lang="en-US" altLang="ko-KR" sz="1400" dirty="0"/>
              <a:t> </a:t>
            </a:r>
            <a:r>
              <a:rPr lang="ko-KR" altLang="en-US" sz="1400" dirty="0"/>
              <a:t>함수와 달리 모든 비트를 </a:t>
            </a:r>
            <a:r>
              <a:rPr lang="en-US" altLang="ko-KR" sz="1400" b="1" dirty="0"/>
              <a:t>0</a:t>
            </a:r>
            <a:r>
              <a:rPr lang="ko-KR" altLang="en-US" sz="1400" b="1" dirty="0"/>
              <a:t>으로 초기화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en-US" altLang="ko-KR" sz="1600" dirty="0">
                <a:solidFill>
                  <a:srgbClr val="0000FF"/>
                </a:solidFill>
              </a:rPr>
              <a:t>void</a:t>
            </a:r>
            <a:r>
              <a:rPr lang="en-US" altLang="ko-KR" sz="1600" dirty="0"/>
              <a:t> * </a:t>
            </a:r>
            <a:r>
              <a:rPr lang="en-US" altLang="ko-KR" sz="1600" b="1" dirty="0" err="1"/>
              <a:t>realloc</a:t>
            </a:r>
            <a:r>
              <a:rPr lang="en-US" altLang="ko-KR" sz="1600" dirty="0"/>
              <a:t>( </a:t>
            </a:r>
            <a:r>
              <a:rPr lang="en-US" altLang="ko-KR" sz="1600" dirty="0">
                <a:solidFill>
                  <a:srgbClr val="0000FF"/>
                </a:solidFill>
              </a:rPr>
              <a:t>void</a:t>
            </a:r>
            <a:r>
              <a:rPr lang="en-US" altLang="ko-KR" sz="1600" dirty="0"/>
              <a:t> * </a:t>
            </a:r>
            <a:r>
              <a:rPr lang="en-US" altLang="ko-KR" sz="1600" dirty="0" err="1"/>
              <a:t>ptr</a:t>
            </a:r>
            <a:r>
              <a:rPr lang="en-US" altLang="ko-KR" sz="1600" dirty="0"/>
              <a:t> , </a:t>
            </a:r>
            <a:r>
              <a:rPr lang="en-US" altLang="ko-KR" sz="1600" dirty="0" err="1">
                <a:solidFill>
                  <a:srgbClr val="0000FF"/>
                </a:solidFill>
              </a:rPr>
              <a:t>size_t</a:t>
            </a:r>
            <a:r>
              <a:rPr lang="en-US" altLang="ko-KR" sz="1600" dirty="0"/>
              <a:t> size );</a:t>
            </a:r>
            <a:endParaRPr lang="en-US" altLang="ko-KR" sz="1400" dirty="0"/>
          </a:p>
          <a:p>
            <a:endParaRPr lang="en-US" altLang="ko-KR" sz="1400" dirty="0"/>
          </a:p>
          <a:p>
            <a:pPr lvl="1"/>
            <a:r>
              <a:rPr lang="en-US" altLang="ko-KR" sz="1400" dirty="0" err="1"/>
              <a:t>ptr</a:t>
            </a:r>
            <a:r>
              <a:rPr lang="ko-KR" altLang="en-US" sz="1400" dirty="0"/>
              <a:t>이 가리키는 </a:t>
            </a:r>
            <a:r>
              <a:rPr lang="ko-KR" altLang="en-US" sz="1400" dirty="0" err="1"/>
              <a:t>힙의</a:t>
            </a:r>
            <a:r>
              <a:rPr lang="ko-KR" altLang="en-US" sz="1400" dirty="0"/>
              <a:t> 메모리 공간을 </a:t>
            </a:r>
            <a:r>
              <a:rPr lang="en-US" altLang="ko-KR" sz="1400" dirty="0"/>
              <a:t>size</a:t>
            </a:r>
            <a:r>
              <a:rPr lang="ko-KR" altLang="en-US" sz="1400" dirty="0"/>
              <a:t>의 크기로 </a:t>
            </a:r>
            <a:r>
              <a:rPr lang="ko-KR" altLang="en-US" sz="1400" b="1" dirty="0"/>
              <a:t>늘리거나 줄인다</a:t>
            </a:r>
            <a:r>
              <a:rPr lang="en-US" altLang="ko-KR" sz="1400" b="1" dirty="0"/>
              <a:t>.</a:t>
            </a:r>
            <a:endParaRPr lang="en-US" altLang="ko-KR" sz="1400" dirty="0"/>
          </a:p>
          <a:p>
            <a:pPr lvl="1"/>
            <a:r>
              <a:rPr lang="en-US" altLang="ko-KR" sz="1400" dirty="0" err="1"/>
              <a:t>malloc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calloc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realloc</a:t>
            </a:r>
            <a:r>
              <a:rPr lang="en-US" altLang="ko-KR" sz="1400" dirty="0"/>
              <a:t> </a:t>
            </a:r>
            <a:r>
              <a:rPr lang="ko-KR" altLang="en-US" sz="1400" dirty="0"/>
              <a:t>함수 호출을 통해서 할당된 메모리 공간은 모두 </a:t>
            </a:r>
            <a:r>
              <a:rPr lang="en-US" altLang="ko-KR" sz="1400" dirty="0"/>
              <a:t>free </a:t>
            </a:r>
            <a:r>
              <a:rPr lang="ko-KR" altLang="en-US" sz="1400" dirty="0"/>
              <a:t>함수 호출을 통해서 해제한다</a:t>
            </a:r>
            <a:r>
              <a:rPr lang="en-US" altLang="ko-KR" sz="1400" dirty="0"/>
              <a:t>. </a:t>
            </a:r>
          </a:p>
          <a:p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881561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realloc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ko-KR" sz="1400" dirty="0" err="1"/>
              <a:t>realloc</a:t>
            </a:r>
            <a:r>
              <a:rPr lang="en-US" altLang="ko-KR" sz="1400" dirty="0"/>
              <a:t> </a:t>
            </a:r>
            <a:r>
              <a:rPr lang="ko-KR" altLang="en-US" sz="1400" dirty="0"/>
              <a:t>함수의 </a:t>
            </a:r>
            <a:r>
              <a:rPr lang="ko-KR" altLang="en-US" sz="1400" dirty="0" err="1"/>
              <a:t>보충설명</a:t>
            </a:r>
            <a:endParaRPr lang="ko-KR" altLang="en-US" sz="1400" dirty="0"/>
          </a:p>
          <a:p>
            <a:endParaRPr lang="ko-KR" altLang="en-US" sz="1400" dirty="0"/>
          </a:p>
          <a:p>
            <a:r>
              <a:rPr lang="en-US" altLang="ko-KR" sz="1400" dirty="0" err="1"/>
              <a:t>int</a:t>
            </a:r>
            <a:r>
              <a:rPr lang="en-US" altLang="ko-KR" sz="1400" dirty="0"/>
              <a:t> *</a:t>
            </a:r>
            <a:r>
              <a:rPr lang="en-US" altLang="ko-KR" sz="1400" dirty="0" err="1"/>
              <a:t>arr</a:t>
            </a:r>
            <a:r>
              <a:rPr lang="en-US" altLang="ko-KR" sz="1400" dirty="0"/>
              <a:t> = (</a:t>
            </a:r>
            <a:r>
              <a:rPr lang="en-US" altLang="ko-KR" sz="1400" dirty="0" err="1"/>
              <a:t>int</a:t>
            </a:r>
            <a:r>
              <a:rPr lang="en-US" altLang="ko-KR" sz="1400" dirty="0"/>
              <a:t> *) </a:t>
            </a:r>
            <a:r>
              <a:rPr lang="en-US" altLang="ko-KR" sz="1400" b="1" dirty="0" err="1"/>
              <a:t>malloc</a:t>
            </a:r>
            <a:r>
              <a:rPr lang="en-US" altLang="ko-KR" sz="1400" dirty="0"/>
              <a:t> ( </a:t>
            </a:r>
            <a:r>
              <a:rPr lang="en-US" altLang="ko-KR" sz="1400" dirty="0" err="1"/>
              <a:t>sizeof</a:t>
            </a:r>
            <a:r>
              <a:rPr lang="en-US" altLang="ko-KR" sz="1400" dirty="0"/>
              <a:t>(</a:t>
            </a:r>
            <a:r>
              <a:rPr lang="en-US" altLang="ko-KR" sz="1400" dirty="0" err="1"/>
              <a:t>int</a:t>
            </a:r>
            <a:r>
              <a:rPr lang="en-US" altLang="ko-KR" sz="1400" dirty="0"/>
              <a:t>)*3 );  // </a:t>
            </a:r>
            <a:r>
              <a:rPr lang="ko-KR" altLang="en-US" sz="1400" dirty="0"/>
              <a:t>길이 </a:t>
            </a:r>
            <a:r>
              <a:rPr lang="en-US" altLang="ko-KR" sz="1400" dirty="0"/>
              <a:t>3</a:t>
            </a:r>
            <a:r>
              <a:rPr lang="ko-KR" altLang="en-US" sz="1400" dirty="0"/>
              <a:t>인 </a:t>
            </a:r>
            <a:r>
              <a:rPr lang="en-US" altLang="ko-KR" sz="1400" dirty="0" err="1"/>
              <a:t>int</a:t>
            </a:r>
            <a:r>
              <a:rPr lang="ko-KR" altLang="en-US" sz="1400" dirty="0"/>
              <a:t>형 배열</a:t>
            </a:r>
          </a:p>
          <a:p>
            <a:r>
              <a:rPr lang="en-US" altLang="ko-KR" sz="1400" dirty="0" err="1"/>
              <a:t>arr</a:t>
            </a:r>
            <a:r>
              <a:rPr lang="en-US" altLang="ko-KR" sz="1400" dirty="0"/>
              <a:t>  = (</a:t>
            </a:r>
            <a:r>
              <a:rPr lang="en-US" altLang="ko-KR" sz="1400" dirty="0" err="1"/>
              <a:t>int</a:t>
            </a:r>
            <a:r>
              <a:rPr lang="en-US" altLang="ko-KR" sz="1400" dirty="0"/>
              <a:t> * ) </a:t>
            </a:r>
            <a:r>
              <a:rPr lang="en-US" altLang="ko-KR" sz="1400" b="1" dirty="0" err="1"/>
              <a:t>realloc</a:t>
            </a:r>
            <a:r>
              <a:rPr lang="en-US" altLang="ko-KR" sz="1400" b="1" dirty="0"/>
              <a:t> </a:t>
            </a:r>
            <a:r>
              <a:rPr lang="en-US" altLang="ko-KR" sz="1400" dirty="0"/>
              <a:t>( </a:t>
            </a:r>
            <a:r>
              <a:rPr lang="en-US" altLang="ko-KR" sz="1400" dirty="0" err="1"/>
              <a:t>arr</a:t>
            </a:r>
            <a:r>
              <a:rPr lang="en-US" altLang="ko-KR" sz="1400" dirty="0"/>
              <a:t>, </a:t>
            </a:r>
            <a:r>
              <a:rPr lang="en-US" altLang="ko-KR" sz="1400" dirty="0" err="1"/>
              <a:t>sizeof</a:t>
            </a:r>
            <a:r>
              <a:rPr lang="en-US" altLang="ko-KR" sz="1400" dirty="0"/>
              <a:t>(</a:t>
            </a:r>
            <a:r>
              <a:rPr lang="en-US" altLang="ko-KR" sz="1400" dirty="0" err="1"/>
              <a:t>int</a:t>
            </a:r>
            <a:r>
              <a:rPr lang="en-US" altLang="ko-KR" sz="1400" dirty="0"/>
              <a:t>)*5 );  // </a:t>
            </a:r>
            <a:r>
              <a:rPr lang="ko-KR" altLang="en-US" sz="1400" dirty="0"/>
              <a:t>길이 </a:t>
            </a:r>
            <a:r>
              <a:rPr lang="en-US" altLang="ko-KR" sz="1400" dirty="0"/>
              <a:t>5</a:t>
            </a:r>
            <a:r>
              <a:rPr lang="ko-KR" altLang="en-US" sz="1400" dirty="0"/>
              <a:t>인 </a:t>
            </a:r>
            <a:r>
              <a:rPr lang="en-US" altLang="ko-KR" sz="1400" dirty="0" err="1"/>
              <a:t>int</a:t>
            </a:r>
            <a:r>
              <a:rPr lang="ko-KR" altLang="en-US" sz="1400" dirty="0"/>
              <a:t>형 배열로 </a:t>
            </a:r>
            <a:r>
              <a:rPr lang="ko-KR" altLang="en-US" sz="1400" b="1" dirty="0"/>
              <a:t>확장</a:t>
            </a:r>
          </a:p>
          <a:p>
            <a:endParaRPr lang="ko-KR" altLang="en-US" sz="1400" dirty="0"/>
          </a:p>
          <a:p>
            <a:r>
              <a:rPr lang="en-US" altLang="ko-KR" sz="1400" dirty="0" err="1"/>
              <a:t>malloc</a:t>
            </a:r>
            <a:r>
              <a:rPr lang="en-US" altLang="ko-KR" sz="1400" dirty="0"/>
              <a:t> </a:t>
            </a:r>
            <a:r>
              <a:rPr lang="ko-KR" altLang="en-US" sz="1400" dirty="0"/>
              <a:t>함수</a:t>
            </a:r>
            <a:r>
              <a:rPr lang="en-US" altLang="ko-KR" sz="1400" dirty="0"/>
              <a:t>! </a:t>
            </a:r>
            <a:r>
              <a:rPr lang="ko-KR" altLang="en-US" sz="1400" dirty="0"/>
              <a:t>그리고 </a:t>
            </a:r>
            <a:r>
              <a:rPr lang="en-US" altLang="ko-KR" sz="1400" dirty="0" err="1"/>
              <a:t>realloc</a:t>
            </a:r>
            <a:r>
              <a:rPr lang="en-US" altLang="ko-KR" sz="1400" dirty="0"/>
              <a:t> </a:t>
            </a:r>
            <a:r>
              <a:rPr lang="ko-KR" altLang="en-US" sz="1400" dirty="0"/>
              <a:t>함수가 </a:t>
            </a:r>
            <a:r>
              <a:rPr lang="ko-KR" altLang="en-US" sz="1400" b="1" dirty="0"/>
              <a:t>반환한</a:t>
            </a:r>
            <a:r>
              <a:rPr lang="ko-KR" altLang="en-US" sz="1400" dirty="0"/>
              <a:t> </a:t>
            </a:r>
            <a:r>
              <a:rPr lang="ko-KR" altLang="en-US" sz="1400" b="1" dirty="0"/>
              <a:t>주소 값이 같은</a:t>
            </a:r>
            <a:r>
              <a:rPr lang="ko-KR" altLang="en-US" sz="1400" dirty="0"/>
              <a:t> 경우</a:t>
            </a:r>
          </a:p>
          <a:p>
            <a:pPr lvl="1"/>
            <a:r>
              <a:rPr lang="ko-KR" altLang="en-US" sz="1400" dirty="0"/>
              <a:t>기존에 할당된 메모리 공간을 이어서 확장할 </a:t>
            </a:r>
            <a:r>
              <a:rPr lang="ko-KR" altLang="en-US" sz="1400" b="1" dirty="0"/>
              <a:t>여력이 되는 경우</a:t>
            </a:r>
          </a:p>
          <a:p>
            <a:r>
              <a:rPr lang="en-US" altLang="ko-KR" sz="1400" dirty="0" err="1"/>
              <a:t>malloc</a:t>
            </a:r>
            <a:r>
              <a:rPr lang="en-US" altLang="ko-KR" sz="1400" dirty="0"/>
              <a:t> </a:t>
            </a:r>
            <a:r>
              <a:rPr lang="ko-KR" altLang="en-US" sz="1400" dirty="0"/>
              <a:t>함수</a:t>
            </a:r>
            <a:r>
              <a:rPr lang="en-US" altLang="ko-KR" sz="1400" dirty="0"/>
              <a:t>! </a:t>
            </a:r>
            <a:r>
              <a:rPr lang="ko-KR" altLang="en-US" sz="1400" dirty="0"/>
              <a:t>그리고 </a:t>
            </a:r>
            <a:r>
              <a:rPr lang="en-US" altLang="ko-KR" sz="1400" dirty="0" err="1"/>
              <a:t>realloc</a:t>
            </a:r>
            <a:r>
              <a:rPr lang="en-US" altLang="ko-KR" sz="1400" dirty="0"/>
              <a:t> </a:t>
            </a:r>
            <a:r>
              <a:rPr lang="ko-KR" altLang="en-US" sz="1400" dirty="0"/>
              <a:t>함수가 반환한 </a:t>
            </a:r>
            <a:r>
              <a:rPr lang="ko-KR" altLang="en-US" sz="1400" b="1" dirty="0"/>
              <a:t>주소 값이 다른</a:t>
            </a:r>
            <a:r>
              <a:rPr lang="ko-KR" altLang="en-US" sz="1400" dirty="0"/>
              <a:t> 경우</a:t>
            </a:r>
          </a:p>
          <a:p>
            <a:pPr lvl="1"/>
            <a:r>
              <a:rPr lang="ko-KR" altLang="en-US" sz="1400" dirty="0"/>
              <a:t>기존에 할당된 메모리 공간을 이을 </a:t>
            </a:r>
            <a:r>
              <a:rPr lang="ko-KR" altLang="en-US" sz="1400" b="1" dirty="0"/>
              <a:t>여력이 없어서 </a:t>
            </a:r>
            <a:r>
              <a:rPr lang="ko-KR" altLang="en-US" sz="1400" dirty="0"/>
              <a:t>새로운 공간을 마련하는 경우</a:t>
            </a:r>
          </a:p>
          <a:p>
            <a:endParaRPr lang="ko-KR" altLang="en-US" sz="1400" dirty="0"/>
          </a:p>
          <a:p>
            <a:r>
              <a:rPr lang="ko-KR" altLang="en-US" sz="1400" dirty="0"/>
              <a:t>새로운 공간을 마련해야 하는 경우에는 메모리의 복사 과정이 추가됨에 주의 하자</a:t>
            </a:r>
            <a:r>
              <a:rPr lang="en-US" altLang="ko-KR" sz="1400" dirty="0"/>
              <a:t>.</a:t>
            </a:r>
          </a:p>
          <a:p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5792093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문제 해결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400" dirty="0"/>
              <a:t>문자열</a:t>
            </a:r>
            <a:r>
              <a:rPr lang="en-US" altLang="ko-KR" sz="1400" dirty="0"/>
              <a:t> </a:t>
            </a:r>
            <a:r>
              <a:rPr lang="ko-KR" altLang="en-US" sz="1400" dirty="0"/>
              <a:t>반환 함수 예제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838200" y="1738977"/>
            <a:ext cx="96774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ReadName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char * name = (char *) </a:t>
            </a:r>
            <a:r>
              <a:rPr lang="en-US" altLang="ko-KR" sz="1400" b="1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malloc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sizeof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(char)*30);  </a:t>
            </a:r>
            <a:r>
              <a:rPr lang="en-US" altLang="ko-KR" sz="14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4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할당</a:t>
            </a:r>
            <a:endParaRPr lang="en-US" altLang="ko-KR" sz="1400" dirty="0">
              <a:solidFill>
                <a:srgbClr val="0066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gets_s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(name);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return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name;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name1;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char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name2;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name1 =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ReadName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name2 =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ReadName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();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name1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name2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free(name1);   </a:t>
            </a:r>
            <a:r>
              <a:rPr lang="en-US" altLang="ko-KR" sz="14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14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해제</a:t>
            </a:r>
            <a:endParaRPr lang="en-US" altLang="ko-KR" sz="1400" dirty="0">
              <a:solidFill>
                <a:srgbClr val="0066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free(name2);   </a:t>
            </a:r>
            <a:r>
              <a:rPr lang="en-US" altLang="ko-KR" sz="14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</a:t>
            </a:r>
            <a:r>
              <a:rPr lang="ko-KR" altLang="en-US" sz="1400" dirty="0">
                <a:solidFill>
                  <a:srgbClr val="0066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해제</a:t>
            </a:r>
            <a:endParaRPr lang="en-US" altLang="ko-KR" sz="1400" dirty="0">
              <a:solidFill>
                <a:srgbClr val="0066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return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0;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84974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/>
          <a:lstStyle/>
          <a:p>
            <a:r>
              <a:rPr lang="en-US" altLang="ko-KR" dirty="0"/>
              <a:t>C++ </a:t>
            </a:r>
            <a:r>
              <a:rPr lang="ko-KR" altLang="en-US" dirty="0"/>
              <a:t>의 메모리 </a:t>
            </a:r>
            <a:r>
              <a:rPr lang="ko-KR" altLang="en-US" dirty="0" err="1"/>
              <a:t>동적할당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1400" dirty="0"/>
              <a:t>C++</a:t>
            </a:r>
            <a:r>
              <a:rPr lang="ko-KR" altLang="en-US" sz="1400" dirty="0"/>
              <a:t>로 발전되면서 </a:t>
            </a:r>
            <a:r>
              <a:rPr lang="en-US" altLang="ko-KR" sz="1400" dirty="0">
                <a:solidFill>
                  <a:srgbClr val="0000FF"/>
                </a:solidFill>
              </a:rPr>
              <a:t>new</a:t>
            </a:r>
            <a:r>
              <a:rPr lang="ko-KR" altLang="en-US" sz="1400" dirty="0"/>
              <a:t>와 </a:t>
            </a:r>
            <a:r>
              <a:rPr lang="en-US" altLang="ko-KR" sz="1400" dirty="0">
                <a:solidFill>
                  <a:srgbClr val="0000FF"/>
                </a:solidFill>
              </a:rPr>
              <a:t>delete</a:t>
            </a:r>
            <a:r>
              <a:rPr lang="ko-KR" altLang="en-US" sz="1400" dirty="0"/>
              <a:t>가 추가된다</a:t>
            </a:r>
            <a:r>
              <a:rPr lang="en-US" altLang="ko-KR" sz="1400" dirty="0"/>
              <a:t>. new</a:t>
            </a:r>
            <a:r>
              <a:rPr lang="ko-KR" altLang="en-US" sz="1400" dirty="0"/>
              <a:t>와 </a:t>
            </a:r>
            <a:r>
              <a:rPr lang="en-US" altLang="ko-KR" sz="1400" dirty="0"/>
              <a:t>delete</a:t>
            </a:r>
            <a:r>
              <a:rPr lang="ko-KR" altLang="en-US" sz="1400" dirty="0"/>
              <a:t>는 확실히 </a:t>
            </a:r>
            <a:r>
              <a:rPr lang="en-US" altLang="ko-KR" sz="1400" dirty="0" err="1"/>
              <a:t>malloc</a:t>
            </a:r>
            <a:r>
              <a:rPr lang="ko-KR" altLang="en-US" sz="1400" dirty="0"/>
              <a:t>과 </a:t>
            </a:r>
            <a:r>
              <a:rPr lang="en-US" altLang="ko-KR" sz="1400" dirty="0"/>
              <a:t>free</a:t>
            </a:r>
            <a:r>
              <a:rPr lang="ko-KR" altLang="en-US" sz="1400" dirty="0"/>
              <a:t>에 비해 사용하기가 편하다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019908" y="1891685"/>
            <a:ext cx="997927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void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p1 = (</a:t>
            </a:r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*)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malloc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sizeof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));	    	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C </a:t>
            </a:r>
            <a:r>
              <a:rPr lang="ko-KR" altLang="en-US" sz="14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메모리할당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*p1 = 1;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pArr1 = (</a:t>
            </a:r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*)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malloc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sizeof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* 2);   	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C </a:t>
            </a:r>
            <a:r>
              <a:rPr lang="ko-KR" altLang="en-US" sz="14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메모리할당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배열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pArr1[0] = 1;</a:t>
            </a:r>
          </a:p>
          <a:p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free(p1);					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C 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메모리 해제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free(pArr1);					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C 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메모리 해제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배열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p2    =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new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	  	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C++ </a:t>
            </a:r>
            <a:r>
              <a:rPr lang="ko-KR" altLang="en-US" sz="14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메모리할당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*p2 = 2;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pArr2 =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new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[2];	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C++ </a:t>
            </a:r>
            <a:r>
              <a:rPr lang="ko-KR" altLang="en-US" sz="14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메모리할당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배열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pArr2[0] = 2;</a:t>
            </a:r>
          </a:p>
          <a:p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delete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p2;			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C++ 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메모리 해제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delete[]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pArr2; 		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C++ 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메모리 해제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배열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)  //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delete[]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주의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72216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new delete</a:t>
            </a:r>
            <a:endParaRPr lang="ko-KR" alt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400" dirty="0">
                <a:latin typeface="+mj-lt"/>
              </a:rPr>
              <a:t>동적 메모리를 할당 해제하는 </a:t>
            </a:r>
            <a:r>
              <a:rPr lang="ko-KR" altLang="en-US" sz="1400" b="1" dirty="0">
                <a:solidFill>
                  <a:srgbClr val="FF0000"/>
                </a:solidFill>
                <a:latin typeface="+mj-lt"/>
              </a:rPr>
              <a:t>함수</a:t>
            </a:r>
            <a:r>
              <a:rPr lang="ko-KR" altLang="en-US" sz="1400" dirty="0">
                <a:latin typeface="+mj-lt"/>
              </a:rPr>
              <a:t>는 오직 </a:t>
            </a:r>
            <a:r>
              <a:rPr lang="en-US" altLang="ko-KR" sz="1400" dirty="0" err="1">
                <a:solidFill>
                  <a:srgbClr val="0070C0"/>
                </a:solidFill>
                <a:latin typeface="+mj-lt"/>
              </a:rPr>
              <a:t>malloc</a:t>
            </a:r>
            <a:r>
              <a:rPr lang="ko-KR" altLang="en-US" sz="1400" dirty="0">
                <a:latin typeface="+mj-lt"/>
              </a:rPr>
              <a:t>과 </a:t>
            </a:r>
            <a:r>
              <a:rPr lang="en-US" altLang="ko-KR" sz="1400" dirty="0">
                <a:solidFill>
                  <a:srgbClr val="0070C0"/>
                </a:solidFill>
                <a:latin typeface="+mj-lt"/>
              </a:rPr>
              <a:t>free</a:t>
            </a:r>
            <a:r>
              <a:rPr lang="ko-KR" altLang="en-US" sz="1400" dirty="0">
                <a:latin typeface="+mj-lt"/>
              </a:rPr>
              <a:t>라고 할 수 있다</a:t>
            </a:r>
            <a:r>
              <a:rPr lang="en-US" altLang="ko-KR" sz="1400" dirty="0">
                <a:latin typeface="+mj-lt"/>
              </a:rPr>
              <a:t>.</a:t>
            </a:r>
          </a:p>
          <a:p>
            <a:r>
              <a:rPr lang="en-US" altLang="ko-KR" sz="1400" dirty="0">
                <a:latin typeface="+mj-lt"/>
              </a:rPr>
              <a:t>C++</a:t>
            </a:r>
            <a:r>
              <a:rPr lang="ko-KR" altLang="en-US" sz="1400" dirty="0">
                <a:latin typeface="+mj-lt"/>
              </a:rPr>
              <a:t>에서 </a:t>
            </a:r>
            <a:r>
              <a:rPr lang="ko-KR" altLang="en-US" sz="1400" dirty="0" smtClean="0">
                <a:latin typeface="+mj-lt"/>
              </a:rPr>
              <a:t>새로 도입된 </a:t>
            </a:r>
            <a:r>
              <a:rPr lang="en-US" altLang="ko-KR" sz="1400" dirty="0">
                <a:solidFill>
                  <a:srgbClr val="0000FF"/>
                </a:solidFill>
                <a:latin typeface="+mj-lt"/>
              </a:rPr>
              <a:t>new</a:t>
            </a:r>
            <a:r>
              <a:rPr lang="ko-KR" altLang="en-US" sz="1400" dirty="0">
                <a:latin typeface="+mj-lt"/>
              </a:rPr>
              <a:t>와 </a:t>
            </a:r>
            <a:r>
              <a:rPr lang="en-US" altLang="ko-KR" sz="1400" dirty="0">
                <a:solidFill>
                  <a:srgbClr val="0000FF"/>
                </a:solidFill>
                <a:latin typeface="+mj-lt"/>
              </a:rPr>
              <a:t>delete</a:t>
            </a:r>
            <a:r>
              <a:rPr lang="ko-KR" altLang="en-US" sz="1400" dirty="0">
                <a:latin typeface="+mj-lt"/>
              </a:rPr>
              <a:t>는 </a:t>
            </a:r>
            <a:r>
              <a:rPr lang="ko-KR" altLang="en-US" sz="1400" b="1" dirty="0">
                <a:latin typeface="+mj-lt"/>
              </a:rPr>
              <a:t>메모리 할당과 해제</a:t>
            </a:r>
            <a:r>
              <a:rPr lang="ko-KR" altLang="en-US" sz="1400" dirty="0">
                <a:latin typeface="+mj-lt"/>
              </a:rPr>
              <a:t>를 </a:t>
            </a:r>
            <a:r>
              <a:rPr lang="en-US" altLang="ko-KR" sz="1400" dirty="0" err="1">
                <a:latin typeface="+mj-lt"/>
              </a:rPr>
              <a:t>malloc</a:t>
            </a:r>
            <a:r>
              <a:rPr lang="ko-KR" altLang="en-US" sz="1400" dirty="0">
                <a:latin typeface="+mj-lt"/>
              </a:rPr>
              <a:t>과 </a:t>
            </a:r>
            <a:r>
              <a:rPr lang="en-US" altLang="ko-KR" sz="1400" dirty="0">
                <a:latin typeface="+mj-lt"/>
              </a:rPr>
              <a:t>free</a:t>
            </a:r>
            <a:r>
              <a:rPr lang="ko-KR" altLang="en-US" sz="1400" dirty="0">
                <a:latin typeface="+mj-lt"/>
              </a:rPr>
              <a:t>에게 맡기고 나머지 </a:t>
            </a:r>
            <a:r>
              <a:rPr lang="ko-KR" altLang="en-US" sz="1400" b="1" dirty="0">
                <a:latin typeface="+mj-lt"/>
              </a:rPr>
              <a:t>추가적인 처리</a:t>
            </a:r>
            <a:r>
              <a:rPr lang="ko-KR" altLang="en-US" sz="1400" dirty="0">
                <a:latin typeface="+mj-lt"/>
              </a:rPr>
              <a:t>를 하는 </a:t>
            </a:r>
            <a:r>
              <a:rPr lang="ko-KR" altLang="en-US" sz="1400" b="1" dirty="0">
                <a:solidFill>
                  <a:srgbClr val="FF0000"/>
                </a:solidFill>
                <a:latin typeface="+mj-lt"/>
              </a:rPr>
              <a:t>연산자</a:t>
            </a:r>
            <a:r>
              <a:rPr lang="ko-KR" altLang="en-US" sz="1400" dirty="0">
                <a:latin typeface="+mj-lt"/>
              </a:rPr>
              <a:t>다</a:t>
            </a:r>
            <a:r>
              <a:rPr lang="en-US" altLang="ko-KR" sz="1400" dirty="0">
                <a:latin typeface="+mj-lt"/>
              </a:rPr>
              <a:t>. </a:t>
            </a:r>
          </a:p>
          <a:p>
            <a:r>
              <a:rPr lang="ko-KR" altLang="en-US" sz="1400" dirty="0">
                <a:latin typeface="+mj-lt"/>
              </a:rPr>
              <a:t>결국 추가적인 처리를 위해서 </a:t>
            </a:r>
            <a:r>
              <a:rPr lang="ko-KR" altLang="en-US" sz="1400" b="1" dirty="0">
                <a:latin typeface="+mj-lt"/>
              </a:rPr>
              <a:t>반드시</a:t>
            </a:r>
            <a:r>
              <a:rPr lang="ko-KR" altLang="en-US" sz="1400" dirty="0">
                <a:latin typeface="+mj-lt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+mj-lt"/>
              </a:rPr>
              <a:t>new</a:t>
            </a:r>
            <a:r>
              <a:rPr lang="ko-KR" altLang="en-US" sz="1400" dirty="0">
                <a:latin typeface="+mj-lt"/>
              </a:rPr>
              <a:t>와 </a:t>
            </a:r>
            <a:r>
              <a:rPr lang="en-US" altLang="ko-KR" sz="1400" dirty="0">
                <a:solidFill>
                  <a:srgbClr val="0000FF"/>
                </a:solidFill>
                <a:latin typeface="+mj-lt"/>
              </a:rPr>
              <a:t>delete</a:t>
            </a:r>
            <a:r>
              <a:rPr lang="ko-KR" altLang="en-US" sz="1400" dirty="0">
                <a:latin typeface="+mj-lt"/>
              </a:rPr>
              <a:t>를 사용해야 한다</a:t>
            </a:r>
            <a:r>
              <a:rPr lang="en-US" altLang="ko-KR" sz="1400" dirty="0">
                <a:latin typeface="+mj-lt"/>
              </a:rPr>
              <a:t>. </a:t>
            </a:r>
          </a:p>
          <a:p>
            <a:endParaRPr lang="en-US" altLang="ko-KR" sz="1400" dirty="0">
              <a:latin typeface="+mj-lt"/>
            </a:endParaRPr>
          </a:p>
          <a:p>
            <a:r>
              <a:rPr lang="ko-KR" altLang="en-US" sz="1400" b="1" dirty="0">
                <a:latin typeface="+mj-lt"/>
              </a:rPr>
              <a:t>추가적인 </a:t>
            </a:r>
            <a:r>
              <a:rPr lang="ko-KR" altLang="en-US" sz="1400" b="1" dirty="0" err="1">
                <a:latin typeface="+mj-lt"/>
              </a:rPr>
              <a:t>처리</a:t>
            </a:r>
            <a:r>
              <a:rPr lang="ko-KR" altLang="en-US" sz="1400" dirty="0" err="1">
                <a:latin typeface="+mj-lt"/>
              </a:rPr>
              <a:t>란</a:t>
            </a:r>
            <a:r>
              <a:rPr lang="ko-KR" altLang="en-US" sz="1400" dirty="0">
                <a:latin typeface="+mj-lt"/>
              </a:rPr>
              <a:t> 바로 </a:t>
            </a:r>
            <a:r>
              <a:rPr lang="ko-KR" altLang="en-US" sz="1400" b="1" dirty="0" err="1">
                <a:solidFill>
                  <a:srgbClr val="FF0000"/>
                </a:solidFill>
                <a:latin typeface="+mj-lt"/>
              </a:rPr>
              <a:t>생성자</a:t>
            </a:r>
            <a:r>
              <a:rPr lang="ko-KR" altLang="en-US" sz="1400" dirty="0" err="1">
                <a:latin typeface="+mj-lt"/>
              </a:rPr>
              <a:t>와</a:t>
            </a:r>
            <a:r>
              <a:rPr lang="ko-KR" altLang="en-US" sz="1400" dirty="0">
                <a:latin typeface="+mj-lt"/>
              </a:rPr>
              <a:t> </a:t>
            </a:r>
            <a:r>
              <a:rPr lang="ko-KR" altLang="en-US" sz="1400" b="1" dirty="0"/>
              <a:t>호출</a:t>
            </a:r>
            <a:r>
              <a:rPr lang="ko-KR" altLang="en-US" sz="1400" dirty="0"/>
              <a:t>과</a:t>
            </a:r>
            <a:r>
              <a:rPr lang="ko-KR" altLang="en-US" sz="1400" b="1" dirty="0"/>
              <a:t> </a:t>
            </a:r>
            <a:r>
              <a:rPr lang="ko-KR" altLang="en-US" sz="1400" b="1" dirty="0" err="1">
                <a:solidFill>
                  <a:srgbClr val="FF0000"/>
                </a:solidFill>
                <a:latin typeface="+mj-lt"/>
              </a:rPr>
              <a:t>소멸자</a:t>
            </a:r>
            <a:r>
              <a:rPr lang="ko-KR" altLang="en-US" sz="1400" dirty="0" err="1">
                <a:latin typeface="+mj-lt"/>
              </a:rPr>
              <a:t>이다</a:t>
            </a:r>
            <a:r>
              <a:rPr lang="en-US" altLang="ko-KR" sz="1400" dirty="0">
                <a:latin typeface="+mj-lt"/>
              </a:rPr>
              <a:t>. </a:t>
            </a:r>
            <a:r>
              <a:rPr lang="ko-KR" altLang="en-US" sz="1400" dirty="0" err="1">
                <a:latin typeface="+mj-lt"/>
              </a:rPr>
              <a:t>생성자와</a:t>
            </a:r>
            <a:r>
              <a:rPr lang="ko-KR" altLang="en-US" sz="1400" dirty="0">
                <a:latin typeface="+mj-lt"/>
              </a:rPr>
              <a:t> </a:t>
            </a:r>
            <a:r>
              <a:rPr lang="ko-KR" altLang="en-US" sz="1400" dirty="0" err="1">
                <a:latin typeface="+mj-lt"/>
              </a:rPr>
              <a:t>소멸자는</a:t>
            </a:r>
            <a:r>
              <a:rPr lang="ko-KR" altLang="en-US" sz="1400" dirty="0">
                <a:latin typeface="+mj-lt"/>
              </a:rPr>
              <a:t> </a:t>
            </a:r>
            <a:r>
              <a:rPr lang="en-US" altLang="ko-KR" sz="1400" dirty="0">
                <a:latin typeface="+mj-lt"/>
              </a:rPr>
              <a:t>C++</a:t>
            </a:r>
            <a:r>
              <a:rPr lang="ko-KR" altLang="en-US" sz="1400" dirty="0">
                <a:latin typeface="+mj-lt"/>
              </a:rPr>
              <a:t>에 </a:t>
            </a:r>
            <a:r>
              <a:rPr lang="ko-KR" altLang="en-US" sz="1400" b="1" dirty="0">
                <a:solidFill>
                  <a:srgbClr val="0070C0"/>
                </a:solidFill>
                <a:latin typeface="+mj-lt"/>
              </a:rPr>
              <a:t>클래스</a:t>
            </a:r>
            <a:r>
              <a:rPr lang="ko-KR" altLang="en-US" sz="1400" dirty="0">
                <a:latin typeface="+mj-lt"/>
              </a:rPr>
              <a:t>가 도입되면서 나타났다</a:t>
            </a:r>
            <a:r>
              <a:rPr lang="en-US" altLang="ko-KR" sz="1400" dirty="0">
                <a:latin typeface="+mj-lt"/>
              </a:rPr>
              <a:t>. </a:t>
            </a:r>
          </a:p>
          <a:p>
            <a:r>
              <a:rPr lang="ko-KR" altLang="en-US" sz="1400" dirty="0">
                <a:latin typeface="+mj-lt"/>
              </a:rPr>
              <a:t>클래스 객체는 기본적으로 생성되면서 생성자가 호출되고</a:t>
            </a:r>
            <a:r>
              <a:rPr lang="en-US" altLang="ko-KR" sz="1400" dirty="0">
                <a:latin typeface="+mj-lt"/>
              </a:rPr>
              <a:t>, </a:t>
            </a:r>
            <a:r>
              <a:rPr lang="ko-KR" altLang="en-US" sz="1400" dirty="0">
                <a:latin typeface="+mj-lt"/>
              </a:rPr>
              <a:t>사라지면서 소멸자가 호출되도록 만들어졌다</a:t>
            </a:r>
            <a:r>
              <a:rPr lang="en-US" altLang="ko-KR" sz="1400" dirty="0">
                <a:latin typeface="+mj-lt"/>
              </a:rPr>
              <a:t>.</a:t>
            </a:r>
          </a:p>
          <a:p>
            <a:endParaRPr lang="en-US" altLang="ko-KR" sz="1400" dirty="0">
              <a:latin typeface="+mj-lt"/>
            </a:endParaRPr>
          </a:p>
          <a:p>
            <a:r>
              <a:rPr lang="en-US" altLang="ko-KR" sz="1400" dirty="0">
                <a:latin typeface="+mj-lt"/>
              </a:rPr>
              <a:t>new</a:t>
            </a:r>
            <a:r>
              <a:rPr lang="ko-KR" altLang="en-US" sz="1400" dirty="0">
                <a:latin typeface="+mj-lt"/>
              </a:rPr>
              <a:t>와 </a:t>
            </a:r>
            <a:r>
              <a:rPr lang="en-US" altLang="ko-KR" sz="1400" dirty="0">
                <a:latin typeface="+mj-lt"/>
              </a:rPr>
              <a:t>delete</a:t>
            </a:r>
            <a:r>
              <a:rPr lang="ko-KR" altLang="en-US" sz="1400" dirty="0">
                <a:latin typeface="+mj-lt"/>
              </a:rPr>
              <a:t>는 생성자와 소멸자가 존재하는 클래스 타입에만 사용해야 하는 것일까</a:t>
            </a:r>
            <a:r>
              <a:rPr lang="en-US" altLang="ko-KR" sz="1400" dirty="0">
                <a:latin typeface="+mj-lt"/>
              </a:rPr>
              <a:t>?</a:t>
            </a:r>
          </a:p>
          <a:p>
            <a:r>
              <a:rPr lang="ko-KR" altLang="en-US" sz="1400" dirty="0">
                <a:latin typeface="+mj-lt"/>
              </a:rPr>
              <a:t>실제로는 </a:t>
            </a:r>
            <a:r>
              <a:rPr lang="ko-KR" altLang="en-US" sz="1400" b="1" dirty="0">
                <a:solidFill>
                  <a:srgbClr val="0070C0"/>
                </a:solidFill>
                <a:latin typeface="+mj-lt"/>
              </a:rPr>
              <a:t>기본 타입</a:t>
            </a:r>
            <a:r>
              <a:rPr lang="ko-KR" altLang="en-US" sz="1400" dirty="0">
                <a:latin typeface="+mj-lt"/>
              </a:rPr>
              <a:t>인 </a:t>
            </a:r>
            <a:r>
              <a:rPr lang="en-US" altLang="ko-KR" sz="1400" dirty="0" err="1">
                <a:latin typeface="+mj-lt"/>
              </a:rPr>
              <a:t>int</a:t>
            </a:r>
            <a:r>
              <a:rPr lang="ko-KR" altLang="en-US" sz="1400" dirty="0">
                <a:latin typeface="+mj-lt"/>
              </a:rPr>
              <a:t>나 </a:t>
            </a:r>
            <a:r>
              <a:rPr lang="en-US" altLang="ko-KR" sz="1400" dirty="0">
                <a:latin typeface="+mj-lt"/>
              </a:rPr>
              <a:t>double</a:t>
            </a:r>
            <a:r>
              <a:rPr lang="ko-KR" altLang="en-US" sz="1400" dirty="0">
                <a:latin typeface="+mj-lt"/>
              </a:rPr>
              <a:t>에도 </a:t>
            </a:r>
            <a:r>
              <a:rPr lang="ko-KR" altLang="en-US" sz="1400" b="1" dirty="0">
                <a:latin typeface="+mj-lt"/>
              </a:rPr>
              <a:t>사용할 수 있다</a:t>
            </a:r>
            <a:r>
              <a:rPr lang="en-US" altLang="ko-KR" sz="1400" dirty="0">
                <a:latin typeface="+mj-lt"/>
              </a:rPr>
              <a:t>. </a:t>
            </a:r>
            <a:r>
              <a:rPr lang="ko-KR" altLang="en-US" sz="1400" dirty="0">
                <a:latin typeface="+mj-lt"/>
              </a:rPr>
              <a:t>바로 범용성을 위해서다</a:t>
            </a:r>
            <a:r>
              <a:rPr lang="en-US" altLang="ko-KR" sz="1400" dirty="0">
                <a:latin typeface="+mj-lt"/>
              </a:rPr>
              <a:t>.</a:t>
            </a:r>
          </a:p>
          <a:p>
            <a:endParaRPr lang="en-US" altLang="ko-KR" sz="1400" dirty="0">
              <a:latin typeface="+mj-lt"/>
            </a:endParaRPr>
          </a:p>
          <a:p>
            <a:r>
              <a:rPr lang="ko-KR" altLang="en-US" sz="1400" b="1" dirty="0">
                <a:latin typeface="+mj-lt"/>
              </a:rPr>
              <a:t>단일 객체</a:t>
            </a:r>
            <a:r>
              <a:rPr lang="ko-KR" altLang="en-US" sz="1400" dirty="0">
                <a:latin typeface="+mj-lt"/>
              </a:rPr>
              <a:t> 타입의 </a:t>
            </a:r>
            <a:r>
              <a:rPr lang="en-US" altLang="ko-KR" sz="1400" dirty="0">
                <a:latin typeface="+mj-lt"/>
              </a:rPr>
              <a:t>new</a:t>
            </a:r>
            <a:r>
              <a:rPr lang="ko-KR" altLang="en-US" sz="1400" dirty="0">
                <a:latin typeface="+mj-lt"/>
              </a:rPr>
              <a:t>와 </a:t>
            </a:r>
            <a:r>
              <a:rPr lang="en-US" altLang="ko-KR" sz="1400" dirty="0">
                <a:latin typeface="+mj-lt"/>
              </a:rPr>
              <a:t>delete</a:t>
            </a:r>
            <a:r>
              <a:rPr lang="ko-KR" altLang="en-US" sz="1400" dirty="0">
                <a:latin typeface="+mj-lt"/>
              </a:rPr>
              <a:t>는 </a:t>
            </a:r>
            <a:r>
              <a:rPr lang="en-US" altLang="ko-KR" sz="1400" dirty="0" err="1">
                <a:latin typeface="+mj-lt"/>
              </a:rPr>
              <a:t>malloc</a:t>
            </a:r>
            <a:r>
              <a:rPr lang="ko-KR" altLang="en-US" sz="1400" dirty="0">
                <a:latin typeface="+mj-lt"/>
              </a:rPr>
              <a:t>과 </a:t>
            </a:r>
            <a:r>
              <a:rPr lang="en-US" altLang="ko-KR" sz="1400" dirty="0">
                <a:latin typeface="+mj-lt"/>
              </a:rPr>
              <a:t>free</a:t>
            </a:r>
            <a:r>
              <a:rPr lang="ko-KR" altLang="en-US" sz="1400" dirty="0">
                <a:latin typeface="+mj-lt"/>
              </a:rPr>
              <a:t>를 그대로 호출하지만 </a:t>
            </a:r>
            <a:r>
              <a:rPr lang="ko-KR" altLang="en-US" sz="1400" b="1" dirty="0">
                <a:solidFill>
                  <a:srgbClr val="0070C0"/>
                </a:solidFill>
                <a:latin typeface="+mj-lt"/>
              </a:rPr>
              <a:t>배열 타입</a:t>
            </a:r>
            <a:r>
              <a:rPr lang="ko-KR" altLang="en-US" sz="1400" dirty="0">
                <a:latin typeface="+mj-lt"/>
              </a:rPr>
              <a:t>의 </a:t>
            </a:r>
            <a:r>
              <a:rPr lang="en-US" altLang="ko-KR" sz="1400" dirty="0">
                <a:latin typeface="+mj-lt"/>
              </a:rPr>
              <a:t>new [ ], delete [ ] </a:t>
            </a:r>
            <a:r>
              <a:rPr lang="ko-KR" altLang="en-US" sz="1400" dirty="0">
                <a:latin typeface="+mj-lt"/>
              </a:rPr>
              <a:t>는 </a:t>
            </a:r>
            <a:r>
              <a:rPr lang="en-US" altLang="ko-KR" sz="1400" dirty="0" err="1">
                <a:latin typeface="+mj-lt"/>
              </a:rPr>
              <a:t>malloc</a:t>
            </a:r>
            <a:r>
              <a:rPr lang="ko-KR" altLang="en-US" sz="1400" dirty="0">
                <a:latin typeface="+mj-lt"/>
              </a:rPr>
              <a:t>과 </a:t>
            </a:r>
            <a:r>
              <a:rPr lang="en-US" altLang="ko-KR" sz="1400" dirty="0">
                <a:latin typeface="+mj-lt"/>
              </a:rPr>
              <a:t>free</a:t>
            </a:r>
            <a:r>
              <a:rPr lang="ko-KR" altLang="en-US" sz="1400" dirty="0">
                <a:latin typeface="+mj-lt"/>
              </a:rPr>
              <a:t>를 그대로 호출하지 않는다</a:t>
            </a:r>
            <a:r>
              <a:rPr lang="en-US" altLang="ko-KR" sz="1400" dirty="0">
                <a:latin typeface="+mj-lt"/>
              </a:rPr>
              <a:t>. </a:t>
            </a:r>
            <a:r>
              <a:rPr lang="ko-KR" altLang="en-US" sz="1400" dirty="0">
                <a:latin typeface="+mj-lt"/>
              </a:rPr>
              <a:t>당연히 배열 타입이기 때문에 다른 면이 있겠지만</a:t>
            </a:r>
            <a:r>
              <a:rPr lang="en-US" altLang="ko-KR" sz="1400" dirty="0">
                <a:latin typeface="+mj-lt"/>
              </a:rPr>
              <a:t>, </a:t>
            </a:r>
            <a:r>
              <a:rPr lang="ko-KR" altLang="en-US" sz="1400" dirty="0">
                <a:latin typeface="+mj-lt"/>
              </a:rPr>
              <a:t>가장 큰 차이점이라고 한다면 할당 및 해제되는 메모리의 구조 자체가 다르다는 것이다</a:t>
            </a:r>
            <a:r>
              <a:rPr lang="en-US" altLang="ko-KR" sz="1400" dirty="0">
                <a:latin typeface="+mj-lt"/>
              </a:rPr>
              <a:t>.</a:t>
            </a:r>
          </a:p>
          <a:p>
            <a:r>
              <a:rPr lang="ko-KR" altLang="en-US" sz="1400" dirty="0">
                <a:latin typeface="+mj-lt"/>
              </a:rPr>
              <a:t>따라서 </a:t>
            </a:r>
            <a:r>
              <a:rPr lang="en-US" altLang="ko-KR" sz="1400" dirty="0">
                <a:solidFill>
                  <a:srgbClr val="0000FF"/>
                </a:solidFill>
                <a:latin typeface="+mj-lt"/>
              </a:rPr>
              <a:t>new [ ] </a:t>
            </a:r>
            <a:r>
              <a:rPr lang="ko-KR" altLang="en-US" sz="1400" dirty="0">
                <a:latin typeface="+mj-lt"/>
              </a:rPr>
              <a:t>으로 할당된 메모리는 </a:t>
            </a:r>
            <a:r>
              <a:rPr lang="en-US" altLang="ko-KR" sz="1400" dirty="0">
                <a:solidFill>
                  <a:srgbClr val="0000FF"/>
                </a:solidFill>
                <a:latin typeface="+mj-lt"/>
              </a:rPr>
              <a:t>delete [ ] </a:t>
            </a:r>
            <a:r>
              <a:rPr lang="ko-KR" altLang="en-US" sz="1400" dirty="0">
                <a:latin typeface="+mj-lt"/>
              </a:rPr>
              <a:t>로 해제해 주어야 한다</a:t>
            </a:r>
            <a:r>
              <a:rPr lang="en-US" altLang="ko-KR" sz="1400" dirty="0">
                <a:latin typeface="+mj-lt"/>
              </a:rPr>
              <a:t>.</a:t>
            </a:r>
          </a:p>
          <a:p>
            <a:endParaRPr lang="ko-KR" altLang="en-US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139583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0641F8-A701-4C9B-8D0D-A5D0638EB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DAA529-1B3F-4B65-9DC6-E4ECBBF947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E0676D-C090-420C-B44E-BE90CBDB2F9B}"/>
              </a:ext>
            </a:extLst>
          </p:cNvPr>
          <p:cNvSpPr txBox="1"/>
          <p:nvPr/>
        </p:nvSpPr>
        <p:spPr>
          <a:xfrm>
            <a:off x="838200" y="1235677"/>
            <a:ext cx="10236200" cy="56938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#include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&lt;iostream&gt;</a:t>
            </a:r>
            <a:endParaRPr lang="en-US" altLang="ko-KR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8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#define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6F008A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MAX_SIZE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3             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최대 크기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3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로 설정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using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namespace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std;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typedef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struct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_INFO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{         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INFO 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라는 구조체 선언 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char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name[20];             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이름을 받을 변수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char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age[10];              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나이를 받을 변수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INFO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main()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</a:t>
            </a:r>
          </a:p>
          <a:p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INFO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* in =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new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2B91A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INFO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[</a:t>
            </a:r>
            <a:r>
              <a:rPr lang="en-US" altLang="ko-KR" sz="1400" dirty="0">
                <a:solidFill>
                  <a:srgbClr val="6F008A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MAX_SIZE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];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구조체 변수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INFO 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선언하고  즉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, 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구조체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5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개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for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0;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&lt; MAX_SIZE;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++) {       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구조체 사이즈만큼 이름과 나이를 </a:t>
            </a:r>
            <a:r>
              <a:rPr lang="ko-KR" altLang="en-US" sz="1400" dirty="0" err="1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입력받습니다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+ 1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번째 이름 입력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 "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cin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&gt;&gt;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in[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].name;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+ 1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번째 나이 입력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 "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cin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&gt;&gt;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in[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].age;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"\n"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} 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for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(</a:t>
            </a:r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int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= 0;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&lt; MAX_SIZE;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++) </a:t>
            </a:r>
            <a:r>
              <a:rPr lang="en-US" altLang="ko-KR" sz="1400" dirty="0" smtClean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{ 	</a:t>
            </a:r>
            <a:r>
              <a:rPr lang="en-US" altLang="ko-KR" sz="1400" dirty="0" smtClean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구조체 사이즈만큼 이름과 나이를 출력합니다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+ 1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번째 이름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 "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in[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].name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+ 1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</a:t>
            </a:r>
            <a:r>
              <a:rPr lang="ko-KR" altLang="en-US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번째 나이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: "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in[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].age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endl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    </a:t>
            </a:r>
            <a:r>
              <a:rPr lang="en-US" altLang="ko-KR" sz="1400" dirty="0" err="1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cout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808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&lt;&lt;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A31515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"\n"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}</a:t>
            </a: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delete[]</a:t>
            </a:r>
            <a:r>
              <a:rPr lang="ko-KR" altLang="en-US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in; 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// </a:t>
            </a:r>
            <a:r>
              <a:rPr lang="ko-KR" altLang="en-US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할당된 메모리를 해제 해줍니다</a:t>
            </a:r>
            <a:r>
              <a:rPr lang="en-US" altLang="ko-KR" sz="1400" dirty="0">
                <a:solidFill>
                  <a:srgbClr val="008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.</a:t>
            </a:r>
            <a:endParaRPr lang="ko-KR" altLang="en-US" sz="1400" dirty="0">
              <a:solidFill>
                <a:srgbClr val="000000"/>
              </a:solidFill>
              <a:latin typeface="Consolas" panose="020B0609020204030204" pitchFamily="49" charset="0"/>
              <a:ea typeface="돋움체" panose="020B0609000101010101" pitchFamily="49" charset="-127"/>
            </a:endParaRPr>
          </a:p>
          <a:p>
            <a:r>
              <a:rPr lang="en-US" altLang="ko-KR" sz="1400" dirty="0">
                <a:solidFill>
                  <a:srgbClr val="0000FF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   return</a:t>
            </a:r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 0;</a:t>
            </a:r>
          </a:p>
          <a:p>
            <a:r>
              <a:rPr lang="en-US" altLang="ko-KR" sz="1400" dirty="0">
                <a:solidFill>
                  <a:srgbClr val="000000"/>
                </a:solidFill>
                <a:latin typeface="Consolas" panose="020B0609020204030204" pitchFamily="49" charset="0"/>
                <a:ea typeface="돋움체" panose="020B0609000101010101" pitchFamily="49" charset="-127"/>
              </a:rPr>
              <a:t>}</a:t>
            </a:r>
            <a:endParaRPr lang="ko-KR" altLang="en-US" sz="14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2691682"/>
      </p:ext>
    </p:extLst>
  </p:cSld>
  <p:clrMapOvr>
    <a:masterClrMapping/>
  </p:clrMapOvr>
</p:sld>
</file>

<file path=ppt/theme/theme1.xml><?xml version="1.0" encoding="utf-8"?>
<a:theme xmlns:a="http://schemas.openxmlformats.org/drawingml/2006/main" name="kdw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kdw" id="{194D78BC-44B7-4AC2-8C06-579B655FF330}" vid="{2AAC0CCA-5385-4D55-8E98-229E12908A3E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kdw</Template>
  <TotalTime>1081</TotalTime>
  <Words>1370</Words>
  <Application>Microsoft Office PowerPoint</Application>
  <PresentationFormat>와이드스크린</PresentationFormat>
  <Paragraphs>184</Paragraphs>
  <Slides>12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9" baseType="lpstr">
      <vt:lpstr>HY헤드라인M</vt:lpstr>
      <vt:lpstr>돋움체</vt:lpstr>
      <vt:lpstr>맑은 고딕</vt:lpstr>
      <vt:lpstr>Arial</vt:lpstr>
      <vt:lpstr>Consolas</vt:lpstr>
      <vt:lpstr>Wingdings</vt:lpstr>
      <vt:lpstr>kdw</vt:lpstr>
      <vt:lpstr>C++ 메모리 관리</vt:lpstr>
      <vt:lpstr>메모리 동적 할당</vt:lpstr>
      <vt:lpstr>메모리 동적 할당 함수</vt:lpstr>
      <vt:lpstr>반환형이 void형 포인터인 이유</vt:lpstr>
      <vt:lpstr>동적 할당</vt:lpstr>
      <vt:lpstr>메모리 해제</vt:lpstr>
      <vt:lpstr>calloc realloc </vt:lpstr>
      <vt:lpstr>realloc</vt:lpstr>
      <vt:lpstr>문제 해결</vt:lpstr>
      <vt:lpstr>C++ 의 메모리 동적할당</vt:lpstr>
      <vt:lpstr>new delete</vt:lpstr>
      <vt:lpstr>예제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C언어와 프로그래밍</dc:title>
  <dc:creator>kdw</dc:creator>
  <cp:lastModifiedBy>kdw</cp:lastModifiedBy>
  <cp:revision>190</cp:revision>
  <dcterms:created xsi:type="dcterms:W3CDTF">2020-02-16T05:20:05Z</dcterms:created>
  <dcterms:modified xsi:type="dcterms:W3CDTF">2021-10-15T15:08:43Z</dcterms:modified>
</cp:coreProperties>
</file>