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6" r:id="rId2"/>
    <p:sldId id="279" r:id="rId3"/>
    <p:sldId id="280" r:id="rId4"/>
    <p:sldId id="283" r:id="rId5"/>
    <p:sldId id="281" r:id="rId6"/>
    <p:sldId id="282" r:id="rId7"/>
    <p:sldId id="284" r:id="rId8"/>
    <p:sldId id="287" r:id="rId9"/>
    <p:sldId id="288" r:id="rId10"/>
    <p:sldId id="285" r:id="rId11"/>
    <p:sldId id="289" r:id="rId12"/>
    <p:sldId id="286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84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2305C-3B4A-4CEA-9B78-30452B89202A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E29B41-DE66-4CCD-8EF4-D4A2091FF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684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none"/>
        </p:style>
        <p:txBody>
          <a:bodyPr anchor="ctr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b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135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5793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235676"/>
            <a:ext cx="10515600" cy="5099221"/>
          </a:xfrm>
        </p:spPr>
        <p:txBody>
          <a:bodyPr/>
          <a:lstStyle>
            <a:lvl1pPr>
              <a:lnSpc>
                <a:spcPct val="120000"/>
              </a:lnSpc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411156"/>
            <a:ext cx="2743200" cy="26912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E82D2FF9-85B3-4DB3-BCC0-C2DF320F10A8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411156"/>
            <a:ext cx="4114800" cy="26912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411156"/>
            <a:ext cx="2743200" cy="269129"/>
          </a:xfrm>
        </p:spPr>
        <p:txBody>
          <a:bodyPr/>
          <a:lstStyle>
            <a:lvl1pPr>
              <a:defRPr sz="1200"/>
            </a:lvl1pPr>
          </a:lstStyle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8952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237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2892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2067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895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527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109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1309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4684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844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344168"/>
            <a:ext cx="10515600" cy="5012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259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ko-KR" altLang="en-US" sz="4400" kern="1200" dirty="0" smtClean="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C++</a:t>
            </a:r>
            <a:r>
              <a:rPr lang="ko-KR" altLang="en-US" dirty="0"/>
              <a:t> </a:t>
            </a:r>
            <a:r>
              <a:rPr lang="ko-KR" altLang="en-US" dirty="0" err="1"/>
              <a:t>참조자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0199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참조자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레퍼런스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b="1" dirty="0" err="1"/>
              <a:t>참조자</a:t>
            </a:r>
            <a:r>
              <a:rPr lang="en-US" altLang="ko-KR" sz="1600" b="1" dirty="0"/>
              <a:t>(reference)</a:t>
            </a:r>
            <a:r>
              <a:rPr lang="ko-KR" altLang="en-US" sz="1600" dirty="0"/>
              <a:t>는 기존에 선언된 변수에 붙이는 ‘</a:t>
            </a:r>
            <a:r>
              <a:rPr lang="ko-KR" altLang="en-US" sz="1600" dirty="0">
                <a:solidFill>
                  <a:srgbClr val="C00000"/>
                </a:solidFill>
              </a:rPr>
              <a:t>별칭</a:t>
            </a:r>
            <a:r>
              <a:rPr lang="ko-KR" altLang="en-US" sz="1600" dirty="0"/>
              <a:t>’</a:t>
            </a:r>
            <a:r>
              <a:rPr lang="en-US" altLang="ko-KR" sz="1600" dirty="0"/>
              <a:t>(alias)</a:t>
            </a:r>
            <a:r>
              <a:rPr lang="ko-KR" altLang="en-US" sz="1600" dirty="0"/>
              <a:t> 이다</a:t>
            </a:r>
            <a:r>
              <a:rPr lang="en-US" altLang="ko-KR" sz="1600" dirty="0"/>
              <a:t>. </a:t>
            </a:r>
            <a:r>
              <a:rPr lang="ko-KR" altLang="en-US" sz="1600" dirty="0"/>
              <a:t>다른 이름 하나가 더 생김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 err="1"/>
              <a:t>참조자가</a:t>
            </a:r>
            <a:r>
              <a:rPr lang="ko-KR" altLang="en-US" sz="1600" dirty="0"/>
              <a:t> 만들어지면 이는 변수의 이름과 사실상 차이가 없다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097279" y="2196426"/>
            <a:ext cx="9617335" cy="3631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num1 = 1024;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num2 = num1; 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별명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num2 = 2000;      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//num2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로 하는 모든 연산은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num1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로 하는것과 동일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num1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//num1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도 같이 변함</a:t>
            </a:r>
            <a:endParaRPr lang="en-US" altLang="ko-KR" dirty="0">
              <a:solidFill>
                <a:srgbClr val="008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num2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&amp;num1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&amp;num2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주소가 같다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</a:t>
            </a:r>
          </a:p>
          <a:p>
            <a:endParaRPr lang="en-US" altLang="ko-KR" sz="1400" dirty="0">
              <a:solidFill>
                <a:srgbClr val="008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참조자의 수에는 제한이 없다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 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참조자를 대상으로 참조자를 선언하는 것도 가능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num3 = num1;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num4 = num3;</a:t>
            </a:r>
            <a:endParaRPr lang="ko-KR" altLang="en-US" dirty="0">
              <a:latin typeface="Consolas" panose="020B0609020204030204" pitchFamily="49" charset="0"/>
            </a:endParaRPr>
          </a:p>
          <a:p>
            <a:endParaRPr lang="ko-KR" altLang="en-US" dirty="0">
              <a:solidFill>
                <a:srgbClr val="008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7660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참조자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sz="1800" dirty="0"/>
              <a:t>참조자는 생성과 동시에 누군가를 참조해야 한다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상수 대상으로의 </a:t>
            </a:r>
            <a:r>
              <a:rPr lang="ko-KR" altLang="en-US" sz="1800" dirty="0" err="1"/>
              <a:t>참조자</a:t>
            </a:r>
            <a:r>
              <a:rPr lang="ko-KR" altLang="en-US" sz="1800" dirty="0"/>
              <a:t> 선언은 불가능하다</a:t>
            </a:r>
            <a:r>
              <a:rPr lang="en-US" altLang="ko-KR" sz="1800" dirty="0"/>
              <a:t>. </a:t>
            </a:r>
          </a:p>
          <a:p>
            <a:r>
              <a:rPr lang="ko-KR" altLang="en-US" sz="1800" dirty="0"/>
              <a:t>포인터처럼 </a:t>
            </a:r>
            <a:r>
              <a:rPr lang="en-US" altLang="ko-KR" sz="1800" dirty="0"/>
              <a:t>NULL</a:t>
            </a:r>
            <a:r>
              <a:rPr lang="ko-KR" altLang="en-US" sz="1800" dirty="0"/>
              <a:t>로 초기화하는 것도 불가능하다</a:t>
            </a:r>
            <a:r>
              <a:rPr lang="en-US" altLang="ko-KR" sz="1800" dirty="0"/>
              <a:t>.</a:t>
            </a:r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dirty="0"/>
              <a:t>참조하고 나면 대상이 변경되지 않는다</a:t>
            </a:r>
            <a:r>
              <a:rPr lang="en-US" altLang="ko-KR" sz="1800" dirty="0"/>
              <a:t>.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982532" y="2700912"/>
            <a:ext cx="7779728" cy="923330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ref;        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//error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ref = 10;   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//error</a:t>
            </a:r>
            <a:endParaRPr lang="en-US" altLang="ko-KR" dirty="0">
              <a:solidFill>
                <a:srgbClr val="0000FF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ref = </a:t>
            </a:r>
            <a:r>
              <a:rPr lang="en-US" altLang="ko-KR" dirty="0">
                <a:solidFill>
                  <a:srgbClr val="6F008A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//error</a:t>
            </a:r>
            <a:endParaRPr lang="ko-KR" altLang="en-US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B6C515-3361-42BF-9D6F-61173F2ADAE9}"/>
              </a:ext>
            </a:extLst>
          </p:cNvPr>
          <p:cNvSpPr txBox="1"/>
          <p:nvPr/>
        </p:nvSpPr>
        <p:spPr>
          <a:xfrm>
            <a:off x="982532" y="4507001"/>
            <a:ext cx="9706183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num1 = 1;</a:t>
            </a:r>
          </a:p>
          <a:p>
            <a:r>
              <a:rPr lang="en-US" altLang="ko-KR" sz="18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num2 = num1;</a:t>
            </a:r>
            <a:endParaRPr lang="ko-KR" altLang="en-US" sz="18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8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num3 = 2;</a:t>
            </a:r>
          </a:p>
          <a:p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num2 = num3;    </a:t>
            </a:r>
            <a:r>
              <a:rPr lang="en-US" altLang="ko-KR" sz="18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num1 = 2; </a:t>
            </a:r>
            <a:r>
              <a:rPr lang="ko-KR" altLang="en-US" sz="18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와</a:t>
            </a:r>
            <a:r>
              <a:rPr lang="en-US" altLang="ko-KR" sz="18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8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동일</a:t>
            </a:r>
            <a:r>
              <a:rPr lang="en-US" altLang="ko-KR" sz="18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// </a:t>
            </a:r>
            <a:r>
              <a:rPr lang="ko-KR" altLang="en-US" sz="18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값 할당</a:t>
            </a:r>
            <a:r>
              <a:rPr lang="en-US" altLang="ko-KR" sz="18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ko-KR" altLang="en-US" sz="18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참조대상이 바뀌지 않는다</a:t>
            </a:r>
            <a:r>
              <a:rPr lang="en-US" altLang="ko-KR" sz="18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 </a:t>
            </a:r>
            <a:endParaRPr lang="ko-KR" altLang="en-US" sz="18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8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en-US" altLang="ko-KR" sz="18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8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&lt;&lt; num1;</a:t>
            </a:r>
            <a:endParaRPr lang="en-US" altLang="ko-KR" sz="18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8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en-US" altLang="ko-KR" sz="18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8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&lt;&lt; num2;</a:t>
            </a:r>
            <a:endParaRPr lang="ko-KR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488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참조자와</a:t>
            </a:r>
            <a:r>
              <a:rPr lang="ko-KR" altLang="en-US" dirty="0"/>
              <a:t> 배열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b="1" dirty="0"/>
              <a:t>변수</a:t>
            </a:r>
            <a:r>
              <a:rPr lang="ko-KR" altLang="en-US" sz="1800" dirty="0"/>
              <a:t>의 성향을 지니는 대상이라면 </a:t>
            </a:r>
            <a:r>
              <a:rPr lang="ko-KR" altLang="en-US" sz="1800" dirty="0" err="1"/>
              <a:t>참조자의</a:t>
            </a:r>
            <a:r>
              <a:rPr lang="ko-KR" altLang="en-US" sz="1800" dirty="0"/>
              <a:t> 선언이 가능하다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배열의 요소 역시 변수의 성향을 지니기 때문에 </a:t>
            </a:r>
            <a:r>
              <a:rPr lang="ko-KR" altLang="en-US" sz="1800" dirty="0" err="1"/>
              <a:t>참조자의</a:t>
            </a:r>
            <a:r>
              <a:rPr lang="ko-KR" altLang="en-US" sz="1800" dirty="0"/>
              <a:t> 선언이 가능하다</a:t>
            </a:r>
            <a:r>
              <a:rPr lang="en-US" altLang="ko-KR" sz="1800" dirty="0"/>
              <a:t>.</a:t>
            </a:r>
          </a:p>
          <a:p>
            <a:endParaRPr lang="ko-KR" altLang="en-US" sz="1800" dirty="0"/>
          </a:p>
        </p:txBody>
      </p:sp>
      <p:sp>
        <p:nvSpPr>
          <p:cNvPr id="4" name="직사각형 3"/>
          <p:cNvSpPr/>
          <p:nvPr/>
        </p:nvSpPr>
        <p:spPr>
          <a:xfrm>
            <a:off x="1042596" y="2408929"/>
            <a:ext cx="941284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배열인자도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변수 성향이므로 </a:t>
            </a:r>
            <a:r>
              <a:rPr lang="ko-KR" altLang="en-US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참조자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가능</a:t>
            </a:r>
            <a:endParaRPr lang="en-US" altLang="ko-KR" dirty="0">
              <a:solidFill>
                <a:srgbClr val="008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arr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[3] = { 1, 3, 5 };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ref1 =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arr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[0];       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&amp;</a:t>
            </a:r>
            <a:r>
              <a:rPr lang="en-US" altLang="ko-KR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arr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[0] 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과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구별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주소연산자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ref2 =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arr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[1];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ref3 =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arr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[2];</a:t>
            </a:r>
          </a:p>
          <a:p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ref1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ref2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ref3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  <a:endParaRPr lang="ko-KR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877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참조자와</a:t>
            </a:r>
            <a:r>
              <a:rPr lang="ko-KR" altLang="en-US" dirty="0"/>
              <a:t> 포인터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b="1" dirty="0"/>
              <a:t>포인터</a:t>
            </a:r>
            <a:r>
              <a:rPr lang="ko-KR" altLang="en-US" sz="1800" dirty="0"/>
              <a:t> 역시 변수이다</a:t>
            </a:r>
            <a:r>
              <a:rPr lang="en-US" altLang="ko-KR" sz="1800" dirty="0"/>
              <a:t>. </a:t>
            </a:r>
            <a:r>
              <a:rPr lang="ko-KR" altLang="en-US" sz="1800" dirty="0"/>
              <a:t>다만 주소 값을 저장하는 포인터 변수일 뿐이다</a:t>
            </a:r>
            <a:r>
              <a:rPr lang="en-US" altLang="ko-KR" sz="1800" dirty="0"/>
              <a:t>. </a:t>
            </a:r>
          </a:p>
          <a:p>
            <a:r>
              <a:rPr lang="ko-KR" altLang="en-US" sz="1800" dirty="0" err="1"/>
              <a:t>참조자에</a:t>
            </a:r>
            <a:r>
              <a:rPr lang="ko-KR" altLang="en-US" sz="1800" dirty="0"/>
              <a:t> 대한 포인터 선언이 가능하다</a:t>
            </a:r>
            <a:r>
              <a:rPr lang="en-US" altLang="ko-KR" sz="1800" dirty="0"/>
              <a:t>.</a:t>
            </a:r>
            <a:endParaRPr lang="ko-KR" altLang="en-US" sz="1800" dirty="0"/>
          </a:p>
          <a:p>
            <a:endParaRPr lang="ko-KR" altLang="en-US" sz="1800" dirty="0"/>
          </a:p>
        </p:txBody>
      </p:sp>
      <p:sp>
        <p:nvSpPr>
          <p:cNvPr id="4" name="직사각형 3"/>
          <p:cNvSpPr/>
          <p:nvPr/>
        </p:nvSpPr>
        <p:spPr>
          <a:xfrm>
            <a:off x="950259" y="2443513"/>
            <a:ext cx="926950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num = 12;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*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&amp;num;	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포인터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**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dptr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&amp;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 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&amp;ref = num;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 </a:t>
            </a:r>
            <a:r>
              <a:rPr lang="ko-KR" altLang="en-US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(&amp;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pref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=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en-US" altLang="ko-KR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ptr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포인터에 대한 </a:t>
            </a:r>
            <a:r>
              <a:rPr lang="ko-KR" altLang="en-US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참조자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pref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선언도 가능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 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**(&amp;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dpref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=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dptr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ref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*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pref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en-US" altLang="ko-KR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pref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는 포인터이다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 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**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dpref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  <a:endParaRPr lang="ko-KR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037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참조자와</a:t>
            </a:r>
            <a:r>
              <a:rPr lang="ko-KR" altLang="en-US" dirty="0"/>
              <a:t>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 err="1"/>
              <a:t>참조자를</a:t>
            </a:r>
            <a:r>
              <a:rPr lang="ko-KR" altLang="en-US" sz="1800" dirty="0"/>
              <a:t> 이용한 </a:t>
            </a:r>
            <a:r>
              <a:rPr lang="en-US" altLang="ko-KR" sz="1800" dirty="0"/>
              <a:t>Call-by-reference</a:t>
            </a:r>
            <a:endParaRPr lang="ko-KR" altLang="en-US" sz="1800" dirty="0"/>
          </a:p>
        </p:txBody>
      </p:sp>
      <p:sp>
        <p:nvSpPr>
          <p:cNvPr id="4" name="직사각형 3"/>
          <p:cNvSpPr/>
          <p:nvPr/>
        </p:nvSpPr>
        <p:spPr>
          <a:xfrm>
            <a:off x="993288" y="1844143"/>
            <a:ext cx="10245841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SwapByRef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&amp;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ref1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ref2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temp =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ref1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ref1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ref2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ref2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temp;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v1 = 10, v2 = 20;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SwapByRef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(v1, v2);  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매개변수에 넣는 형태로 구분하지 말고 함수 선언 확인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"v1: "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v1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"v2: "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v2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992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const</a:t>
            </a:r>
            <a:r>
              <a:rPr lang="en-US" altLang="ko-KR" dirty="0"/>
              <a:t> </a:t>
            </a:r>
            <a:r>
              <a:rPr lang="ko-KR" altLang="en-US" dirty="0" err="1"/>
              <a:t>참조자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함수의 정의 형태와 함수의 호출 형태로 </a:t>
            </a:r>
            <a:r>
              <a:rPr lang="ko-KR" altLang="en-US" sz="1800" b="1" dirty="0"/>
              <a:t>값의 변경 유무</a:t>
            </a:r>
            <a:r>
              <a:rPr lang="ko-KR" altLang="en-US" sz="1800" dirty="0"/>
              <a:t>를 알 수 없다</a:t>
            </a:r>
            <a:r>
              <a:rPr lang="en-US" altLang="ko-KR" sz="1800" dirty="0"/>
              <a:t>.</a:t>
            </a:r>
          </a:p>
          <a:p>
            <a:r>
              <a:rPr lang="ko-KR" altLang="en-US" sz="1600" dirty="0"/>
              <a:t>이를 알려면 함수의 몸체 부분을 확인해야하는 불편</a:t>
            </a:r>
            <a:r>
              <a:rPr lang="en-US" altLang="ko-KR" sz="1600" dirty="0"/>
              <a:t>. </a:t>
            </a:r>
            <a:r>
              <a:rPr lang="ko-KR" altLang="en-US" sz="1600" dirty="0"/>
              <a:t>안전하게 사용하는 방법은</a:t>
            </a:r>
            <a:r>
              <a:rPr lang="en-US" altLang="ko-KR" sz="1600" dirty="0"/>
              <a:t>?</a:t>
            </a:r>
          </a:p>
          <a:p>
            <a:endParaRPr lang="en-US" altLang="ko-KR" sz="1600" dirty="0"/>
          </a:p>
          <a:p>
            <a:r>
              <a:rPr lang="ko-KR" altLang="en-US" sz="1800" dirty="0"/>
              <a:t>함수 내에서 </a:t>
            </a:r>
            <a:r>
              <a:rPr lang="ko-KR" altLang="en-US" sz="1800" b="1" dirty="0" err="1"/>
              <a:t>참조자를</a:t>
            </a:r>
            <a:r>
              <a:rPr lang="ko-KR" altLang="en-US" sz="1800" b="1" dirty="0"/>
              <a:t> 통한 값의 변경을 진행하지 않을 경우</a:t>
            </a:r>
            <a:r>
              <a:rPr lang="ko-KR" altLang="en-US" sz="1800" dirty="0"/>
              <a:t>는 </a:t>
            </a:r>
            <a:r>
              <a:rPr lang="ko-KR" altLang="en-US" sz="1800" dirty="0" err="1"/>
              <a:t>참조자를</a:t>
            </a:r>
            <a:r>
              <a:rPr lang="ko-KR" altLang="en-US" sz="1800" dirty="0"/>
              <a:t> </a:t>
            </a:r>
            <a:r>
              <a:rPr lang="en-US" altLang="ko-KR" sz="1800" dirty="0" err="1">
                <a:solidFill>
                  <a:srgbClr val="0000FF"/>
                </a:solidFill>
              </a:rPr>
              <a:t>const</a:t>
            </a:r>
            <a:r>
              <a:rPr lang="ko-KR" altLang="en-US" sz="1800" dirty="0"/>
              <a:t>로 선언하자</a:t>
            </a:r>
            <a:endParaRPr lang="en-US" altLang="ko-KR" sz="1800" dirty="0"/>
          </a:p>
          <a:p>
            <a:pPr marL="457200" lvl="1" indent="0">
              <a:buNone/>
            </a:pPr>
            <a:r>
              <a:rPr lang="en-US" altLang="ko-KR" sz="1600" dirty="0"/>
              <a:t>1. </a:t>
            </a:r>
            <a:r>
              <a:rPr lang="ko-KR" altLang="en-US" sz="1600" dirty="0"/>
              <a:t>함수의 원형 선언만 봐도 값의 변경이 일어나지 않음을 판단할 수 있다</a:t>
            </a:r>
            <a:r>
              <a:rPr lang="en-US" altLang="ko-KR" sz="1600" dirty="0"/>
              <a:t>.</a:t>
            </a:r>
          </a:p>
          <a:p>
            <a:pPr marL="457200" lvl="1" indent="0">
              <a:buNone/>
            </a:pPr>
            <a:r>
              <a:rPr lang="en-US" altLang="ko-KR" sz="1600" dirty="0"/>
              <a:t>2. </a:t>
            </a:r>
            <a:r>
              <a:rPr lang="ko-KR" altLang="en-US" sz="1600" dirty="0"/>
              <a:t>실수로 인한 값의 변경이 일어나지 않는다</a:t>
            </a:r>
            <a:r>
              <a:rPr lang="en-US" altLang="ko-KR" sz="1600" dirty="0"/>
              <a:t>. </a:t>
            </a:r>
            <a:endParaRPr lang="ko-KR" altLang="en-US" sz="1600" dirty="0"/>
          </a:p>
        </p:txBody>
      </p:sp>
      <p:sp>
        <p:nvSpPr>
          <p:cNvPr id="4" name="직사각형 3"/>
          <p:cNvSpPr/>
          <p:nvPr/>
        </p:nvSpPr>
        <p:spPr>
          <a:xfrm>
            <a:off x="968188" y="3867998"/>
            <a:ext cx="1038561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참조인지 알려면 함수를 확인해야한다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 </a:t>
            </a:r>
            <a:r>
              <a:rPr lang="en-US" altLang="ko-KR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활용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</a:t>
            </a:r>
          </a:p>
          <a:p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ko-KR" altLang="en-US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ko-KR" altLang="en-US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val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함수의 원형 선언만 봐도 값의 변경이 일어나지 않음을 판단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val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966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const</a:t>
            </a:r>
            <a:r>
              <a:rPr lang="en-US" altLang="ko-KR" dirty="0"/>
              <a:t> </a:t>
            </a:r>
            <a:r>
              <a:rPr lang="ko-KR" altLang="en-US" dirty="0" err="1"/>
              <a:t>참조자의</a:t>
            </a:r>
            <a:r>
              <a:rPr lang="ko-KR" altLang="en-US" dirty="0"/>
              <a:t> 특징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아래 코드에서 에러의 원인은</a:t>
            </a:r>
            <a:r>
              <a:rPr lang="en-US" altLang="ko-KR" sz="1600" dirty="0"/>
              <a:t>?  </a:t>
            </a:r>
          </a:p>
          <a:p>
            <a:r>
              <a:rPr lang="ko-KR" altLang="en-US" sz="1600" dirty="0"/>
              <a:t>이를 허용한다는 것은 </a:t>
            </a:r>
            <a:r>
              <a:rPr lang="en-US" altLang="ko-KR" sz="1600" dirty="0"/>
              <a:t>ref</a:t>
            </a:r>
            <a:r>
              <a:rPr lang="ko-KR" altLang="en-US" sz="1600" dirty="0"/>
              <a:t>를 통한 값의 변경을 허용한다는 뜻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num</a:t>
            </a:r>
            <a:r>
              <a:rPr lang="ko-KR" altLang="en-US" sz="1600" dirty="0"/>
              <a:t>을 </a:t>
            </a:r>
            <a:r>
              <a:rPr lang="en-US" altLang="ko-KR" sz="1600" dirty="0" err="1"/>
              <a:t>const</a:t>
            </a:r>
            <a:r>
              <a:rPr lang="ko-KR" altLang="en-US" sz="1600" dirty="0"/>
              <a:t>로 선언하는 것과 충돌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dirty="0"/>
              <a:t>따라서 </a:t>
            </a:r>
            <a:r>
              <a:rPr lang="ko-KR" altLang="en-US" sz="1600" b="1" dirty="0"/>
              <a:t>한번 </a:t>
            </a:r>
            <a:r>
              <a:rPr lang="en-US" altLang="ko-KR" sz="1600" b="1" dirty="0" err="1"/>
              <a:t>const</a:t>
            </a:r>
            <a:r>
              <a:rPr lang="en-US" altLang="ko-KR" sz="1600" b="1" dirty="0"/>
              <a:t> </a:t>
            </a:r>
            <a:r>
              <a:rPr lang="ko-KR" altLang="en-US" sz="1600" b="1" dirty="0"/>
              <a:t>선언</a:t>
            </a:r>
            <a:r>
              <a:rPr lang="ko-KR" altLang="en-US" sz="1600" dirty="0"/>
              <a:t>이 들어가기 시작하면 </a:t>
            </a:r>
            <a:r>
              <a:rPr lang="ko-KR" altLang="en-US" sz="1600" b="1" dirty="0">
                <a:solidFill>
                  <a:srgbClr val="C00000"/>
                </a:solidFill>
              </a:rPr>
              <a:t>관련해서</a:t>
            </a:r>
            <a:r>
              <a:rPr lang="ko-KR" altLang="en-US" sz="1600" dirty="0"/>
              <a:t> 몇몇 변수들이 </a:t>
            </a:r>
            <a:r>
              <a:rPr lang="en-US" altLang="ko-KR" sz="1600" dirty="0" err="1"/>
              <a:t>const</a:t>
            </a:r>
            <a:r>
              <a:rPr lang="ko-KR" altLang="en-US" sz="1600" dirty="0"/>
              <a:t>로 선언되어야 한다</a:t>
            </a:r>
            <a:r>
              <a:rPr lang="en-US" altLang="ko-KR" sz="1600" dirty="0"/>
              <a:t>, </a:t>
            </a:r>
          </a:p>
          <a:p>
            <a:r>
              <a:rPr lang="ko-KR" altLang="en-US" sz="1600" dirty="0"/>
              <a:t>이는 프로그램의 </a:t>
            </a:r>
            <a:r>
              <a:rPr lang="ko-KR" altLang="en-US" sz="1600" b="1" dirty="0"/>
              <a:t>안전성</a:t>
            </a:r>
            <a:r>
              <a:rPr lang="ko-KR" altLang="en-US" sz="1600" dirty="0"/>
              <a:t>을 높이는 것이므로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const</a:t>
            </a:r>
            <a:r>
              <a:rPr lang="en-US" altLang="ko-KR" sz="1600" dirty="0"/>
              <a:t> </a:t>
            </a:r>
            <a:r>
              <a:rPr lang="ko-KR" altLang="en-US" sz="1600" dirty="0"/>
              <a:t>선언을 빈번히 하는 것은 좋은 습관이라 할 수 있다</a:t>
            </a:r>
            <a:r>
              <a:rPr lang="en-US" altLang="ko-KR" sz="1600" dirty="0"/>
              <a:t>. </a:t>
            </a:r>
            <a:endParaRPr lang="ko-KR" altLang="en-US" sz="1600" dirty="0"/>
          </a:p>
        </p:txBody>
      </p:sp>
      <p:sp>
        <p:nvSpPr>
          <p:cNvPr id="4" name="직사각형 3"/>
          <p:cNvSpPr/>
          <p:nvPr/>
        </p:nvSpPr>
        <p:spPr>
          <a:xfrm>
            <a:off x="1100866" y="2219569"/>
            <a:ext cx="65155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0;</a:t>
            </a:r>
          </a:p>
          <a:p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ref =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  <a:endParaRPr lang="ko-KR" altLang="en-US" dirty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100866" y="4359354"/>
            <a:ext cx="65155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num = 0;</a:t>
            </a:r>
          </a:p>
          <a:p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b="1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ref =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b="1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ref = 1;</a:t>
            </a:r>
            <a:endParaRPr lang="ko-KR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575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const</a:t>
            </a:r>
            <a:r>
              <a:rPr lang="en-US" altLang="ko-KR" dirty="0"/>
              <a:t> </a:t>
            </a:r>
            <a:r>
              <a:rPr lang="ko-KR" altLang="en-US" dirty="0" err="1"/>
              <a:t>참조자의</a:t>
            </a:r>
            <a:r>
              <a:rPr lang="ko-KR" altLang="en-US" dirty="0"/>
              <a:t> 특징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800" b="1" dirty="0" err="1"/>
              <a:t>const</a:t>
            </a:r>
            <a:r>
              <a:rPr lang="en-US" altLang="ko-KR" sz="1800" b="1" dirty="0"/>
              <a:t> </a:t>
            </a:r>
            <a:r>
              <a:rPr lang="ko-KR" altLang="en-US" sz="1800" b="1" dirty="0" err="1"/>
              <a:t>참조자</a:t>
            </a:r>
            <a:r>
              <a:rPr lang="ko-KR" altLang="en-US" sz="1800" dirty="0" err="1"/>
              <a:t>는</a:t>
            </a:r>
            <a:r>
              <a:rPr lang="ko-KR" altLang="en-US" sz="1800" dirty="0"/>
              <a:t> </a:t>
            </a:r>
            <a:r>
              <a:rPr lang="ko-KR" altLang="en-US" sz="1800" b="1" dirty="0"/>
              <a:t>상수</a:t>
            </a:r>
            <a:r>
              <a:rPr lang="ko-KR" altLang="en-US" sz="1800" dirty="0"/>
              <a:t>를 참조할 수 있다</a:t>
            </a:r>
            <a:r>
              <a:rPr lang="en-US" altLang="ko-KR" sz="1800" dirty="0"/>
              <a:t>.</a:t>
            </a:r>
          </a:p>
          <a:p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dirty="0"/>
              <a:t>이유는</a:t>
            </a:r>
            <a:r>
              <a:rPr lang="en-US" altLang="ko-KR" sz="1600" dirty="0"/>
              <a:t>? </a:t>
            </a:r>
            <a:r>
              <a:rPr lang="ko-KR" altLang="en-US" sz="1600" dirty="0"/>
              <a:t>상수를 </a:t>
            </a:r>
            <a:r>
              <a:rPr lang="en-US" altLang="ko-KR" sz="1600" dirty="0" err="1"/>
              <a:t>const</a:t>
            </a:r>
            <a:r>
              <a:rPr lang="en-US" altLang="ko-KR" sz="1600" dirty="0"/>
              <a:t> </a:t>
            </a:r>
            <a:r>
              <a:rPr lang="ko-KR" altLang="en-US" sz="1600" dirty="0" err="1"/>
              <a:t>참조자로</a:t>
            </a:r>
            <a:r>
              <a:rPr lang="ko-KR" altLang="en-US" sz="1600" dirty="0"/>
              <a:t> 참조할 경우</a:t>
            </a:r>
            <a:r>
              <a:rPr lang="en-US" altLang="ko-KR" sz="1600" dirty="0"/>
              <a:t>, </a:t>
            </a:r>
            <a:r>
              <a:rPr lang="ko-KR" altLang="en-US" sz="1600" dirty="0"/>
              <a:t>상수를 메모리 공간에 임시적으로 저장하기 때문이다</a:t>
            </a:r>
            <a:r>
              <a:rPr lang="en-US" altLang="ko-KR" sz="1600" dirty="0"/>
              <a:t>! </a:t>
            </a:r>
            <a:r>
              <a:rPr lang="ko-KR" altLang="en-US" sz="1600" dirty="0"/>
              <a:t>즉</a:t>
            </a:r>
            <a:r>
              <a:rPr lang="en-US" altLang="ko-KR" sz="1600" dirty="0"/>
              <a:t>, </a:t>
            </a:r>
            <a:r>
              <a:rPr lang="ko-KR" altLang="en-US" sz="1600" dirty="0"/>
              <a:t>행을 바꿔도 소멸시키지 않는다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106244" y="1800117"/>
            <a:ext cx="99795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ko-KR" altLang="en-US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refnum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7; 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상수의 </a:t>
            </a:r>
            <a:r>
              <a:rPr lang="ko-KR" altLang="en-US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참조자도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가능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매개변수로 사용하여 상수 전달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</a:t>
            </a:r>
            <a:endParaRPr lang="ko-KR" altLang="en-US" dirty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106244" y="3343061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ref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0;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(num);	  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변수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ok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(1);     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상수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ok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521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참조자와</a:t>
            </a:r>
            <a:r>
              <a:rPr lang="ko-KR" altLang="en-US" dirty="0"/>
              <a:t> 함수의 반환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반환형이 참조이고 반환도 참조로 받는 경우</a:t>
            </a:r>
          </a:p>
          <a:p>
            <a:r>
              <a:rPr lang="ko-KR" altLang="en-US" sz="1600" dirty="0"/>
              <a:t>반환형은 참조이되 반환은 변수로 받는 경우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980075" y="2412688"/>
            <a:ext cx="1037372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RefRetFuncOne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ko-KR" altLang="en-US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ref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참조자로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리턴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자신을 지정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ref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++;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ref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RefRetFuncTwo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&amp;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ref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변수값으로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리턴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ref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++;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ref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37836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참조자와</a:t>
            </a:r>
            <a:r>
              <a:rPr lang="ko-KR" altLang="en-US" dirty="0"/>
              <a:t> 함수의 반환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참조를 대상으로 값을 반환하는 경우</a:t>
            </a:r>
          </a:p>
          <a:p>
            <a:pPr lvl="1"/>
            <a:r>
              <a:rPr lang="ko-KR" altLang="en-US" sz="1600" dirty="0"/>
              <a:t>반환형이 </a:t>
            </a:r>
            <a:r>
              <a:rPr lang="ko-KR" altLang="en-US" sz="1600" b="1" dirty="0" err="1">
                <a:solidFill>
                  <a:srgbClr val="0070C0"/>
                </a:solidFill>
              </a:rPr>
              <a:t>참조</a:t>
            </a:r>
            <a:r>
              <a:rPr lang="ko-KR" altLang="en-US" sz="1600" b="1" dirty="0" err="1"/>
              <a:t>형인</a:t>
            </a:r>
            <a:r>
              <a:rPr lang="ko-KR" altLang="en-US" sz="1600" b="1" dirty="0"/>
              <a:t> 경우</a:t>
            </a:r>
            <a:r>
              <a:rPr lang="ko-KR" altLang="en-US" sz="1600" dirty="0"/>
              <a:t>에는 반환되는 대상을 </a:t>
            </a:r>
            <a:r>
              <a:rPr lang="ko-KR" altLang="en-US" sz="1600" dirty="0" err="1">
                <a:solidFill>
                  <a:srgbClr val="C00000"/>
                </a:solidFill>
              </a:rPr>
              <a:t>참조자</a:t>
            </a:r>
            <a:r>
              <a:rPr lang="ko-KR" altLang="en-US" sz="1600" dirty="0" err="1"/>
              <a:t>로</a:t>
            </a:r>
            <a:r>
              <a:rPr lang="ko-KR" altLang="en-US" sz="1600" dirty="0"/>
              <a:t> 그리고 </a:t>
            </a:r>
            <a:r>
              <a:rPr lang="ko-KR" altLang="en-US" sz="1600" dirty="0">
                <a:solidFill>
                  <a:srgbClr val="C00000"/>
                </a:solidFill>
              </a:rPr>
              <a:t>변수</a:t>
            </a:r>
            <a:r>
              <a:rPr lang="ko-KR" altLang="en-US" sz="1600" dirty="0"/>
              <a:t>로 받을 수 있다</a:t>
            </a:r>
          </a:p>
          <a:p>
            <a:pPr lvl="1"/>
            <a:r>
              <a:rPr lang="ko-KR" altLang="en-US" sz="1600" dirty="0"/>
              <a:t>반환형이 </a:t>
            </a:r>
            <a:r>
              <a:rPr lang="ko-KR" altLang="en-US" sz="1600" b="1" dirty="0">
                <a:solidFill>
                  <a:srgbClr val="0070C0"/>
                </a:solidFill>
              </a:rPr>
              <a:t>값</a:t>
            </a:r>
            <a:r>
              <a:rPr lang="ko-KR" altLang="en-US" sz="1600" b="1" dirty="0"/>
              <a:t>형태인 경우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참조자로</a:t>
            </a:r>
            <a:r>
              <a:rPr lang="ko-KR" altLang="en-US" sz="1600" dirty="0"/>
              <a:t> 그 값을 받을 수 </a:t>
            </a:r>
            <a:r>
              <a:rPr lang="ko-KR" altLang="en-US" sz="1600" dirty="0">
                <a:solidFill>
                  <a:srgbClr val="C00000"/>
                </a:solidFill>
              </a:rPr>
              <a:t>없다</a:t>
            </a:r>
            <a:r>
              <a:rPr lang="en-US" altLang="ko-KR" sz="1600" dirty="0"/>
              <a:t>! </a:t>
            </a:r>
            <a:endParaRPr lang="ko-KR" altLang="en-US" sz="1600" dirty="0"/>
          </a:p>
          <a:p>
            <a:endParaRPr lang="ko-KR" altLang="en-US" sz="1800" dirty="0"/>
          </a:p>
        </p:txBody>
      </p:sp>
      <p:sp>
        <p:nvSpPr>
          <p:cNvPr id="4" name="직사각형 3"/>
          <p:cNvSpPr/>
          <p:nvPr/>
        </p:nvSpPr>
        <p:spPr>
          <a:xfrm>
            <a:off x="1058770" y="2520945"/>
            <a:ext cx="10295030" cy="3731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pPr>
              <a:lnSpc>
                <a:spcPct val="110000"/>
              </a:lnSpc>
            </a:pP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num1 = 1;</a:t>
            </a:r>
          </a:p>
          <a:p>
            <a:pPr>
              <a:lnSpc>
                <a:spcPct val="110000"/>
              </a:lnSpc>
            </a:pP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&amp;num2 =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RefRetFuncOne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(num1); 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&amp;num2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는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num1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과 같은 </a:t>
            </a:r>
            <a:r>
              <a:rPr lang="ko-KR" altLang="en-US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주소값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pPr>
              <a:lnSpc>
                <a:spcPct val="110000"/>
              </a:lnSpc>
            </a:pP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//</a:t>
            </a:r>
            <a:r>
              <a:rPr lang="en-US" altLang="ko-KR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num2 = </a:t>
            </a:r>
            <a:r>
              <a:rPr lang="en-US" altLang="ko-KR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RefRetFuncOne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(num1);  //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새로운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변수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num2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pPr>
              <a:lnSpc>
                <a:spcPct val="110000"/>
              </a:lnSpc>
            </a:pP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//</a:t>
            </a:r>
            <a:r>
              <a:rPr lang="en-US" altLang="ko-KR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num2 = </a:t>
            </a:r>
            <a:r>
              <a:rPr lang="en-US" altLang="ko-KR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RefRetFuncTwo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(num1);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pPr>
              <a:lnSpc>
                <a:spcPct val="110000"/>
              </a:lnSpc>
            </a:pP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//</a:t>
            </a:r>
            <a:r>
              <a:rPr lang="en-US" altLang="ko-KR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&amp;num2 = </a:t>
            </a:r>
            <a:r>
              <a:rPr lang="en-US" altLang="ko-KR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RefRetFuncTwo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(num1); //error //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함수 호출 후 사라짐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pPr>
              <a:lnSpc>
                <a:spcPct val="110000"/>
              </a:lnSpc>
            </a:pP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pPr>
              <a:lnSpc>
                <a:spcPct val="110000"/>
              </a:lnSpc>
            </a:pP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num1++;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"num1: "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num1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num2++;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"num2: "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num2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0;</a:t>
            </a:r>
          </a:p>
          <a:p>
            <a:pPr>
              <a:lnSpc>
                <a:spcPct val="110000"/>
              </a:lnSpc>
            </a:pP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535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잘못된 참조의 반환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이와 같이 </a:t>
            </a:r>
            <a:r>
              <a:rPr lang="ko-KR" altLang="en-US" sz="1600" b="1" dirty="0"/>
              <a:t>지역변수</a:t>
            </a:r>
            <a:r>
              <a:rPr lang="ko-KR" altLang="en-US" sz="1600" dirty="0"/>
              <a:t>를 참조의 형태로 반환하는 것은 문제의 소지가 된다</a:t>
            </a:r>
            <a:r>
              <a:rPr lang="en-US" altLang="ko-KR" sz="1600" dirty="0"/>
              <a:t>. </a:t>
            </a:r>
          </a:p>
          <a:p>
            <a:r>
              <a:rPr lang="en-US" altLang="ko-KR" sz="1600" dirty="0"/>
              <a:t>ref</a:t>
            </a:r>
            <a:r>
              <a:rPr lang="ko-KR" altLang="en-US" sz="1600" dirty="0"/>
              <a:t>가 참조하는 대상이 소멸된다</a:t>
            </a:r>
            <a:r>
              <a:rPr lang="en-US" altLang="ko-KR" sz="1600" dirty="0"/>
              <a:t>! </a:t>
            </a:r>
            <a:r>
              <a:rPr lang="ko-KR" altLang="en-US" sz="1600" dirty="0"/>
              <a:t>이러한 형태로는 함수를 정의하면 안 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4" name="직사각형 3"/>
          <p:cNvSpPr/>
          <p:nvPr/>
        </p:nvSpPr>
        <p:spPr>
          <a:xfrm>
            <a:off x="1100864" y="2306313"/>
            <a:ext cx="947310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function(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val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10;           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//local</a:t>
            </a:r>
            <a:endParaRPr lang="en-US" altLang="ko-KR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val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ref = function();  </a:t>
            </a:r>
            <a:r>
              <a:rPr lang="en-US" altLang="ko-KR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에러가 안 난다</a:t>
            </a:r>
            <a:r>
              <a:rPr lang="en-US" altLang="ko-KR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 </a:t>
            </a:r>
            <a:r>
              <a:rPr lang="ko-KR" altLang="en-US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더욱 </a:t>
            </a:r>
            <a:r>
              <a:rPr lang="ko-KR" altLang="en-US" b="1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주의</a:t>
            </a:r>
            <a:endParaRPr lang="en-US" altLang="ko-KR" b="1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ref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266400"/>
      </p:ext>
    </p:extLst>
  </p:cSld>
  <p:clrMapOvr>
    <a:masterClrMapping/>
  </p:clrMapOvr>
</p:sld>
</file>

<file path=ppt/theme/theme1.xml><?xml version="1.0" encoding="utf-8"?>
<a:theme xmlns:a="http://schemas.openxmlformats.org/drawingml/2006/main" name="kdw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dw" id="{F28DBF1B-01D0-4FBC-BB1B-5659CB34DC19}" vid="{4A242179-4008-4EAD-92AB-026544F4F03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kdw</Template>
  <TotalTime>1235</TotalTime>
  <Words>1045</Words>
  <Application>Microsoft Office PowerPoint</Application>
  <PresentationFormat>와이드스크린</PresentationFormat>
  <Paragraphs>165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HY헤드라인M</vt:lpstr>
      <vt:lpstr>맑은 고딕</vt:lpstr>
      <vt:lpstr>Arial</vt:lpstr>
      <vt:lpstr>Consolas</vt:lpstr>
      <vt:lpstr>Wingdings</vt:lpstr>
      <vt:lpstr>kdw</vt:lpstr>
      <vt:lpstr>C++ 참조자</vt:lpstr>
      <vt:lpstr>참조자 (레퍼런스)</vt:lpstr>
      <vt:lpstr>참조자</vt:lpstr>
      <vt:lpstr>참조자와 배열</vt:lpstr>
      <vt:lpstr>참조자와 포인터</vt:lpstr>
      <vt:lpstr>참조자와 함수</vt:lpstr>
      <vt:lpstr>const 참조자</vt:lpstr>
      <vt:lpstr>const 참조자의 특징</vt:lpstr>
      <vt:lpstr>const 참조자의 특징</vt:lpstr>
      <vt:lpstr>참조자와 함수의 반환</vt:lpstr>
      <vt:lpstr>참조자와 함수의 반환</vt:lpstr>
      <vt:lpstr>잘못된 참조의 반환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C언어와 프로그래밍</dc:title>
  <dc:creator>kdw</dc:creator>
  <cp:lastModifiedBy>kdw</cp:lastModifiedBy>
  <cp:revision>235</cp:revision>
  <dcterms:created xsi:type="dcterms:W3CDTF">2020-02-16T05:20:05Z</dcterms:created>
  <dcterms:modified xsi:type="dcterms:W3CDTF">2024-05-14T02:09:11Z</dcterms:modified>
</cp:coreProperties>
</file>