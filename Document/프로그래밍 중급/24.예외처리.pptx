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sldIdLst>
    <p:sldId id="256" r:id="rId2"/>
    <p:sldId id="261" r:id="rId3"/>
    <p:sldId id="262" r:id="rId4"/>
    <p:sldId id="263" r:id="rId5"/>
    <p:sldId id="273" r:id="rId6"/>
    <p:sldId id="269" r:id="rId7"/>
    <p:sldId id="272" r:id="rId8"/>
    <p:sldId id="265" r:id="rId9"/>
    <p:sldId id="266" r:id="rId10"/>
    <p:sldId id="264" r:id="rId11"/>
    <p:sldId id="267" r:id="rId12"/>
    <p:sldId id="268" r:id="rId13"/>
    <p:sldId id="270" r:id="rId14"/>
    <p:sldId id="271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11" autoAdjust="0"/>
    <p:restoredTop sz="94660"/>
  </p:normalViewPr>
  <p:slideViewPr>
    <p:cSldViewPr snapToGrid="0">
      <p:cViewPr varScale="1">
        <p:scale>
          <a:sx n="90" d="100"/>
          <a:sy n="90" d="100"/>
        </p:scale>
        <p:origin x="120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2305C-3B4A-4CEA-9B78-30452B89202A}" type="datetimeFigureOut">
              <a:rPr lang="ko-KR" altLang="en-US" smtClean="0"/>
              <a:t>2023-01-12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E29B41-DE66-4CCD-8EF4-D4A2091FF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684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none"/>
        </p:style>
        <p:txBody>
          <a:bodyPr anchor="ctr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b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2023-01-12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88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5793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235676"/>
            <a:ext cx="10515600" cy="5099221"/>
          </a:xfrm>
        </p:spPr>
        <p:txBody>
          <a:bodyPr/>
          <a:lstStyle>
            <a:lvl1pPr>
              <a:lnSpc>
                <a:spcPct val="120000"/>
              </a:lnSpc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411156"/>
            <a:ext cx="2743200" cy="26912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E82D2FF9-85B3-4DB3-BCC0-C2DF320F10A8}" type="datetimeFigureOut">
              <a:rPr lang="ko-KR" altLang="en-US" smtClean="0"/>
              <a:t>2023-01-12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411156"/>
            <a:ext cx="4114800" cy="26912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411156"/>
            <a:ext cx="2743200" cy="269129"/>
          </a:xfrm>
        </p:spPr>
        <p:txBody>
          <a:bodyPr/>
          <a:lstStyle>
            <a:lvl1pPr>
              <a:defRPr sz="1200"/>
            </a:lvl1pPr>
          </a:lstStyle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666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2023-01-12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253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2023-01-12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5982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2023-01-12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790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2023-01-12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115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2023-01-12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7520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2023-01-12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3406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2023-01-12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41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2023-01-12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206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2023-01-12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9215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9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344168"/>
            <a:ext cx="10515600" cy="5012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287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ko-KR" altLang="en-US" sz="4400" kern="1200" dirty="0" smtClean="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C++</a:t>
            </a:r>
            <a:r>
              <a:rPr lang="ko-KR" altLang="en-US" dirty="0"/>
              <a:t> 예외처리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0199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예외에 대한 개념을 알아보고 이에 대한 처리 방법을 학습한다</a:t>
            </a:r>
            <a:endParaRPr lang="en-US" altLang="ko-KR" sz="2000" dirty="0"/>
          </a:p>
          <a:p>
            <a:r>
              <a:rPr lang="ko-KR" altLang="en-US" dirty="0"/>
              <a:t>예외처리를 위한 클래스 작성하기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564293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예외처리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sz="1800" dirty="0" err="1"/>
              <a:t>예외처리의</a:t>
            </a:r>
            <a:r>
              <a:rPr lang="ko-KR" altLang="en-US" sz="1800" dirty="0"/>
              <a:t> 이해</a:t>
            </a:r>
            <a:endParaRPr lang="en-US" altLang="ko-KR" sz="1800" dirty="0"/>
          </a:p>
          <a:p>
            <a:pPr lvl="1"/>
            <a:r>
              <a:rPr lang="ko-KR" altLang="en-US" sz="1600" dirty="0"/>
              <a:t>예외란 예상하지 못한 일 즉</a:t>
            </a:r>
            <a:r>
              <a:rPr lang="en-US" altLang="ko-KR" sz="1600" dirty="0"/>
              <a:t>, </a:t>
            </a:r>
            <a:r>
              <a:rPr lang="ko-KR" altLang="en-US" sz="1600" dirty="0"/>
              <a:t>프로그램이 실행되는 동안에 발생하는 </a:t>
            </a:r>
            <a:r>
              <a:rPr lang="ko-KR" altLang="en-US" sz="1600" b="1" dirty="0"/>
              <a:t>예기치 않은 에러</a:t>
            </a:r>
            <a:r>
              <a:rPr lang="ko-KR" altLang="en-US" sz="1600" dirty="0"/>
              <a:t>를 의미한다</a:t>
            </a:r>
            <a:r>
              <a:rPr lang="en-US" altLang="ko-KR" sz="1600" dirty="0"/>
              <a:t>. </a:t>
            </a:r>
          </a:p>
          <a:p>
            <a:pPr lvl="1"/>
            <a:r>
              <a:rPr lang="ko-KR" altLang="en-US" sz="1600" dirty="0">
                <a:solidFill>
                  <a:srgbClr val="C00000"/>
                </a:solidFill>
              </a:rPr>
              <a:t>컴파일 에러</a:t>
            </a:r>
            <a:r>
              <a:rPr lang="ko-KR" altLang="en-US" sz="1600" dirty="0"/>
              <a:t>와 달리 프로그램 </a:t>
            </a:r>
            <a:r>
              <a:rPr lang="ko-KR" altLang="en-US" sz="1600" dirty="0">
                <a:solidFill>
                  <a:srgbClr val="C00000"/>
                </a:solidFill>
              </a:rPr>
              <a:t>실행 중에 예외</a:t>
            </a:r>
            <a:r>
              <a:rPr lang="ko-KR" altLang="en-US" sz="1600" dirty="0"/>
              <a:t>가 발생하면 그 시점에 </a:t>
            </a:r>
            <a:r>
              <a:rPr lang="ko-KR" altLang="en-US" sz="1600" b="1" dirty="0"/>
              <a:t>프로그램이 바로 종료</a:t>
            </a:r>
            <a:r>
              <a:rPr lang="ko-KR" altLang="en-US" sz="1600" dirty="0"/>
              <a:t>된다</a:t>
            </a:r>
            <a:r>
              <a:rPr lang="en-US" altLang="ko-KR" sz="1600" dirty="0"/>
              <a:t>. </a:t>
            </a:r>
            <a:r>
              <a:rPr lang="ko-KR" altLang="en-US" sz="1600" dirty="0"/>
              <a:t>프로그램을 사용하는 사용자 입장을 고려해서 </a:t>
            </a:r>
            <a:r>
              <a:rPr lang="en-US" altLang="ko-KR" sz="1600" dirty="0"/>
              <a:t>C++ </a:t>
            </a:r>
            <a:r>
              <a:rPr lang="ko-KR" altLang="en-US" sz="1600" dirty="0"/>
              <a:t>프로그래머들은 예상치 못한 예외가 발생할 경우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어떻게 대처할지에 대한 프로그램을 미리 작성</a:t>
            </a:r>
            <a:r>
              <a:rPr lang="ko-KR" altLang="en-US" sz="1600" dirty="0"/>
              <a:t>해 둬야 하는데</a:t>
            </a:r>
            <a:r>
              <a:rPr lang="en-US" altLang="ko-KR" sz="1600" dirty="0"/>
              <a:t>, </a:t>
            </a:r>
            <a:r>
              <a:rPr lang="ko-KR" altLang="en-US" sz="1600" dirty="0"/>
              <a:t>이를 </a:t>
            </a:r>
            <a:r>
              <a:rPr lang="ko-KR" altLang="en-US" sz="1600" dirty="0" err="1"/>
              <a:t>예외처리라</a:t>
            </a:r>
            <a:r>
              <a:rPr lang="ko-KR" altLang="en-US" sz="1600" dirty="0"/>
              <a:t> 한다</a:t>
            </a:r>
            <a:r>
              <a:rPr lang="en-US" altLang="ko-KR" sz="1600" dirty="0"/>
              <a:t>.</a:t>
            </a:r>
          </a:p>
          <a:p>
            <a:pPr lvl="1"/>
            <a:r>
              <a:rPr lang="en-US" altLang="ko-KR" sz="1600" dirty="0"/>
              <a:t>C++</a:t>
            </a:r>
            <a:r>
              <a:rPr lang="ko-KR" altLang="en-US" sz="1600" dirty="0"/>
              <a:t>에서도 </a:t>
            </a:r>
            <a:r>
              <a:rPr lang="en-US" altLang="ko-KR" sz="1600" dirty="0"/>
              <a:t>0</a:t>
            </a:r>
            <a:r>
              <a:rPr lang="ko-KR" altLang="en-US" sz="1600" dirty="0"/>
              <a:t>으로 나누게 되면 예외 상황이 발생한다</a:t>
            </a:r>
            <a:r>
              <a:rPr lang="en-US" altLang="ko-KR" sz="1600" dirty="0"/>
              <a:t>. </a:t>
            </a:r>
          </a:p>
          <a:p>
            <a:pPr lvl="1"/>
            <a:endParaRPr lang="en-US" altLang="ko-KR" sz="1600" dirty="0"/>
          </a:p>
          <a:p>
            <a:pPr lvl="1"/>
            <a:r>
              <a:rPr lang="ko-KR" altLang="en-US" sz="1600" dirty="0"/>
              <a:t>프로그램이 갑자기 다운되지 않게 하는 법</a:t>
            </a:r>
            <a:endParaRPr lang="en-US" altLang="ko-KR" sz="1600" dirty="0"/>
          </a:p>
          <a:p>
            <a:endParaRPr lang="en-US" altLang="ko-KR" sz="500" dirty="0"/>
          </a:p>
          <a:p>
            <a:r>
              <a:rPr lang="ko-KR" altLang="en-US" sz="1800" dirty="0"/>
              <a:t>예외처리 구문</a:t>
            </a:r>
            <a:endParaRPr lang="en-US" altLang="ko-KR" sz="1800" dirty="0"/>
          </a:p>
          <a:p>
            <a:pPr lvl="1"/>
            <a:r>
              <a:rPr lang="en-US" altLang="ko-KR" sz="1600" dirty="0"/>
              <a:t>C </a:t>
            </a:r>
            <a:r>
              <a:rPr lang="ko-KR" altLang="en-US" sz="1600" dirty="0"/>
              <a:t>프로그램에서는 예외가 발생될 것이 예상되는 부분에 </a:t>
            </a:r>
            <a:r>
              <a:rPr lang="en-US" altLang="ko-KR" sz="1600" dirty="0">
                <a:solidFill>
                  <a:schemeClr val="accent2">
                    <a:lumMod val="50000"/>
                  </a:schemeClr>
                </a:solidFill>
              </a:rPr>
              <a:t>if</a:t>
            </a:r>
            <a:r>
              <a:rPr lang="ko-KR" altLang="en-US" sz="1600" dirty="0">
                <a:solidFill>
                  <a:schemeClr val="accent2">
                    <a:lumMod val="50000"/>
                  </a:schemeClr>
                </a:solidFill>
              </a:rPr>
              <a:t>문을 이용해서 처리</a:t>
            </a:r>
            <a:r>
              <a:rPr lang="ko-KR" altLang="en-US" sz="1600" dirty="0"/>
              <a:t>했다</a:t>
            </a:r>
            <a:r>
              <a:rPr lang="en-US" altLang="ko-KR" sz="1600" dirty="0"/>
              <a:t>.</a:t>
            </a:r>
            <a:endParaRPr lang="en-US" altLang="ko-KR" sz="2000" dirty="0"/>
          </a:p>
          <a:p>
            <a:pPr lvl="1"/>
            <a:r>
              <a:rPr lang="en-US" altLang="ko-KR" sz="1600" dirty="0"/>
              <a:t>C++</a:t>
            </a:r>
            <a:r>
              <a:rPr lang="ko-KR" altLang="en-US" sz="1600" dirty="0"/>
              <a:t>에서는 </a:t>
            </a:r>
            <a:r>
              <a:rPr lang="ko-KR" altLang="en-US" sz="1600" dirty="0" err="1"/>
              <a:t>예외처리가</a:t>
            </a:r>
            <a:r>
              <a:rPr lang="ko-KR" altLang="en-US" sz="1600" dirty="0"/>
              <a:t> 이루어지는 부분만을 특별히 구분해서 프로그래머가 프로그램을 유지 보수하기 편리 할 수 있도록 </a:t>
            </a:r>
            <a:r>
              <a:rPr lang="ko-KR" altLang="en-US" sz="1600" dirty="0">
                <a:solidFill>
                  <a:schemeClr val="accent2">
                    <a:lumMod val="50000"/>
                  </a:schemeClr>
                </a:solidFill>
              </a:rPr>
              <a:t>예외처리 구문이 따로 제</a:t>
            </a:r>
            <a:r>
              <a:rPr lang="ko-KR" altLang="en-US" sz="1600" dirty="0"/>
              <a:t>공된다</a:t>
            </a:r>
            <a:r>
              <a:rPr lang="en-US" altLang="ko-KR" sz="1600" dirty="0"/>
              <a:t>.</a:t>
            </a:r>
          </a:p>
          <a:p>
            <a:pPr lvl="1"/>
            <a:endParaRPr lang="en-US" altLang="ko-KR" sz="1600" dirty="0"/>
          </a:p>
          <a:p>
            <a:pPr lvl="1"/>
            <a:endParaRPr lang="ko-KR" altLang="en-US" sz="1600" dirty="0"/>
          </a:p>
          <a:p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23621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예외처리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ko-KR" sz="1600" dirty="0"/>
              <a:t>try, catch, throw</a:t>
            </a:r>
          </a:p>
          <a:p>
            <a:pPr lvl="1"/>
            <a:r>
              <a:rPr lang="ko-KR" altLang="en-US" sz="1400" dirty="0" err="1"/>
              <a:t>예외처리가</a:t>
            </a:r>
            <a:r>
              <a:rPr lang="ko-KR" altLang="en-US" sz="1400" dirty="0"/>
              <a:t> 이루어지는 부분을 특별히 구분해서 </a:t>
            </a:r>
            <a:r>
              <a:rPr lang="en-US" altLang="ko-KR" sz="1400" b="1" dirty="0"/>
              <a:t>try</a:t>
            </a:r>
            <a:r>
              <a:rPr lang="en-US" altLang="ko-KR" sz="1400" dirty="0"/>
              <a:t> </a:t>
            </a:r>
            <a:r>
              <a:rPr lang="ko-KR" altLang="en-US" sz="1400" dirty="0"/>
              <a:t>구문에 기술</a:t>
            </a:r>
            <a:endParaRPr lang="en-US" altLang="ko-KR" sz="1400" dirty="0"/>
          </a:p>
          <a:p>
            <a:pPr lvl="1"/>
            <a:r>
              <a:rPr lang="ko-KR" altLang="en-US" sz="1400" dirty="0" err="1"/>
              <a:t>예외발생을</a:t>
            </a:r>
            <a:r>
              <a:rPr lang="ko-KR" altLang="en-US" sz="1400" dirty="0"/>
              <a:t> 처리하는 부분은 </a:t>
            </a:r>
            <a:r>
              <a:rPr lang="en-US" altLang="ko-KR" sz="1400" b="1" dirty="0"/>
              <a:t>catch</a:t>
            </a:r>
            <a:r>
              <a:rPr lang="en-US" altLang="ko-KR" sz="1400" dirty="0"/>
              <a:t> </a:t>
            </a:r>
            <a:r>
              <a:rPr lang="ko-KR" altLang="en-US" sz="1400" dirty="0"/>
              <a:t>구문에 기술</a:t>
            </a:r>
            <a:endParaRPr lang="en-US" altLang="ko-KR" sz="1400" dirty="0"/>
          </a:p>
          <a:p>
            <a:pPr lvl="1"/>
            <a:r>
              <a:rPr lang="ko-KR" altLang="en-US" sz="1400" dirty="0"/>
              <a:t>프로그램의 </a:t>
            </a:r>
            <a:r>
              <a:rPr lang="ko-KR" altLang="en-US" sz="1400" b="1" dirty="0" err="1"/>
              <a:t>가독성</a:t>
            </a:r>
            <a:r>
              <a:rPr lang="ko-KR" altLang="en-US" sz="1400" dirty="0" err="1"/>
              <a:t>을</a:t>
            </a:r>
            <a:r>
              <a:rPr lang="ko-KR" altLang="en-US" sz="1400" dirty="0"/>
              <a:t> 높여 주어 프로그램을 </a:t>
            </a:r>
            <a:r>
              <a:rPr lang="ko-KR" altLang="en-US" sz="1400" b="1" dirty="0"/>
              <a:t>유지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보수</a:t>
            </a:r>
            <a:r>
              <a:rPr lang="ko-KR" altLang="en-US" sz="1400" dirty="0"/>
              <a:t>하기에도 편리하도록 했다</a:t>
            </a:r>
            <a:r>
              <a:rPr lang="en-US" altLang="ko-KR" sz="1400" dirty="0"/>
              <a:t>.</a:t>
            </a:r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>
              <a:buNone/>
            </a:pPr>
            <a:endParaRPr lang="en-US" altLang="ko-KR" sz="200" dirty="0"/>
          </a:p>
          <a:p>
            <a:pPr lvl="1">
              <a:buNone/>
            </a:pPr>
            <a:endParaRPr lang="en-US" altLang="ko-KR" sz="200" dirty="0"/>
          </a:p>
          <a:p>
            <a:pPr lvl="1">
              <a:buNone/>
            </a:pPr>
            <a:endParaRPr lang="en-US" altLang="ko-KR" sz="200" dirty="0"/>
          </a:p>
          <a:p>
            <a:pPr lvl="1">
              <a:buNone/>
            </a:pPr>
            <a:endParaRPr lang="en-US" altLang="ko-KR" sz="200" dirty="0"/>
          </a:p>
          <a:p>
            <a:pPr lvl="1"/>
            <a:r>
              <a:rPr lang="en-US" altLang="ko-KR" sz="1400" b="1" dirty="0"/>
              <a:t>throw </a:t>
            </a:r>
            <a:r>
              <a:rPr lang="ko-KR" altLang="en-US" sz="1400" dirty="0"/>
              <a:t>문은 프로그래머가 </a:t>
            </a:r>
            <a:r>
              <a:rPr lang="ko-KR" altLang="en-US" sz="1400" b="1" dirty="0"/>
              <a:t>의도적으로</a:t>
            </a:r>
            <a:r>
              <a:rPr lang="ko-KR" altLang="en-US" sz="1400" dirty="0"/>
              <a:t> 예외를 발생시키고자 할 때 사용한다</a:t>
            </a:r>
            <a:r>
              <a:rPr lang="en-US" altLang="ko-KR" sz="1400" dirty="0"/>
              <a:t>.</a:t>
            </a:r>
            <a:endParaRPr lang="en-US" altLang="ko-KR" sz="1200" dirty="0"/>
          </a:p>
          <a:p>
            <a:pPr lvl="1"/>
            <a:endParaRPr lang="en-US" altLang="ko-KR" sz="1200" dirty="0"/>
          </a:p>
          <a:p>
            <a:pPr lvl="1"/>
            <a:endParaRPr lang="en-US" altLang="ko-KR" sz="1200" dirty="0"/>
          </a:p>
          <a:p>
            <a:r>
              <a:rPr lang="ko-KR" altLang="en-US" sz="1600" dirty="0"/>
              <a:t>호출한 함수의 예외 전달 </a:t>
            </a:r>
            <a:r>
              <a:rPr lang="en-US" altLang="ko-KR" sz="1600" dirty="0"/>
              <a:t>- </a:t>
            </a:r>
            <a:r>
              <a:rPr lang="en-US" altLang="ko-KR" sz="1500" dirty="0"/>
              <a:t>C++</a:t>
            </a:r>
            <a:r>
              <a:rPr lang="ko-KR" altLang="en-US" sz="1500" dirty="0"/>
              <a:t>에서 예외를 처리하는 방법은 크게 </a:t>
            </a:r>
            <a:r>
              <a:rPr lang="en-US" altLang="ko-KR" sz="1500" dirty="0"/>
              <a:t>2</a:t>
            </a:r>
            <a:r>
              <a:rPr lang="ko-KR" altLang="en-US" sz="1500" dirty="0"/>
              <a:t>가지다</a:t>
            </a:r>
            <a:r>
              <a:rPr lang="en-US" altLang="ko-KR" sz="1500" dirty="0"/>
              <a:t>.</a:t>
            </a:r>
          </a:p>
          <a:p>
            <a:pPr lvl="1">
              <a:buFont typeface="Wingdings" pitchFamily="2" charset="2"/>
              <a:buChar char=""/>
            </a:pPr>
            <a:r>
              <a:rPr lang="ko-KR" altLang="en-US" sz="1400" dirty="0"/>
              <a:t>예외가 발생한 함수를 호출한 </a:t>
            </a:r>
            <a:r>
              <a:rPr lang="ko-KR" altLang="en-US" sz="1400" dirty="0">
                <a:solidFill>
                  <a:srgbClr val="0070C0"/>
                </a:solidFill>
              </a:rPr>
              <a:t>함수로 전달</a:t>
            </a:r>
            <a:r>
              <a:rPr lang="ko-KR" altLang="en-US" sz="1400" dirty="0"/>
              <a:t>하는 방법</a:t>
            </a:r>
          </a:p>
          <a:p>
            <a:pPr lvl="1">
              <a:buFont typeface="Wingdings" pitchFamily="2" charset="2"/>
              <a:buChar char=""/>
            </a:pPr>
            <a:r>
              <a:rPr lang="ko-KR" altLang="en-US" sz="1400" dirty="0"/>
              <a:t>예외가 발생한 함수 내에서 </a:t>
            </a:r>
            <a:r>
              <a:rPr lang="en-US" altLang="ko-KR" sz="1400" dirty="0">
                <a:solidFill>
                  <a:srgbClr val="0070C0"/>
                </a:solidFill>
              </a:rPr>
              <a:t>try</a:t>
            </a:r>
            <a:r>
              <a:rPr lang="ko-KR" altLang="en-US" sz="1400" dirty="0">
                <a:solidFill>
                  <a:srgbClr val="0070C0"/>
                </a:solidFill>
              </a:rPr>
              <a:t>문으로 직접 처리</a:t>
            </a:r>
            <a:r>
              <a:rPr lang="ko-KR" altLang="en-US" sz="1400" dirty="0"/>
              <a:t>하는 방법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571885" y="2584473"/>
            <a:ext cx="4159612" cy="156966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try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{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예외가 발생할 만한 코드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catch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해당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_Exception e) {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예외처리를 위한 루틴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571885" y="4610667"/>
            <a:ext cx="4159612" cy="33855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throw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예외객체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712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552B7E-A9DD-4F72-A995-EA9C05842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59539F-589E-41D4-92A2-A2D33540E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dirty="0"/>
              <a:t> </a:t>
            </a:r>
            <a:r>
              <a:rPr lang="ko-KR" altLang="en-US" sz="1800" dirty="0">
                <a:solidFill>
                  <a:srgbClr val="00A4E6"/>
                </a:solidFill>
                <a:latin typeface="+mj-ea"/>
              </a:rPr>
              <a:t>예외가 발생할 여지가 있는 프로그램</a:t>
            </a:r>
            <a:r>
              <a:rPr lang="en-US" altLang="ko-KR" sz="1800" dirty="0">
                <a:solidFill>
                  <a:srgbClr val="00A4E6"/>
                </a:solidFill>
                <a:latin typeface="+mj-ea"/>
              </a:rPr>
              <a:t>,  </a:t>
            </a:r>
            <a:r>
              <a:rPr lang="ko-KR" altLang="en-US" sz="1800" dirty="0">
                <a:solidFill>
                  <a:srgbClr val="00A4E6"/>
                </a:solidFill>
                <a:latin typeface="+mj-ea"/>
              </a:rPr>
              <a:t>조건문을 이용한 예외처리</a:t>
            </a:r>
            <a:endParaRPr lang="ko-KR" alt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E6056E-39E3-4089-ACCC-55CFF0A3E824}"/>
              </a:ext>
            </a:extLst>
          </p:cNvPr>
          <p:cNvSpPr txBox="1"/>
          <p:nvPr/>
        </p:nvSpPr>
        <p:spPr>
          <a:xfrm>
            <a:off x="923043" y="1725869"/>
            <a:ext cx="8303443" cy="427809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&lt;iostream&gt;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                        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using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std;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                      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                                       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                                                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a, b, c, d;                                         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                                           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나눗셈을 하기 위해서 데이터를 </a:t>
            </a:r>
            <a:r>
              <a:rPr lang="ko-KR" altLang="en-US" sz="16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입력하시오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."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나누는 수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피제수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를 </a:t>
            </a:r>
            <a:r>
              <a:rPr lang="ko-KR" altLang="en-US" sz="16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입력하시오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=&gt; 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     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cin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&gt;&gt;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a;                                                 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나누는 수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제수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를 </a:t>
            </a:r>
            <a:r>
              <a:rPr lang="ko-KR" altLang="en-US" sz="16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입력하시오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=&gt; 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       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cin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&gt;&gt;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b;                                           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c = a / b;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(1)                                       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몫은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-&gt; "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                   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d = a % b;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(2)                                       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나머지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-&gt; "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                 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823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dirty="0"/>
              <a:t> </a:t>
            </a:r>
            <a:r>
              <a:rPr lang="ko-KR" altLang="en-US" sz="1800" dirty="0">
                <a:solidFill>
                  <a:srgbClr val="00A4E6"/>
                </a:solidFill>
                <a:latin typeface="+mj-ea"/>
              </a:rPr>
              <a:t>예외처리</a:t>
            </a:r>
            <a:endParaRPr lang="ko-KR" altLang="en-US" sz="1800" dirty="0"/>
          </a:p>
        </p:txBody>
      </p:sp>
      <p:sp>
        <p:nvSpPr>
          <p:cNvPr id="4" name="직사각형 3"/>
          <p:cNvSpPr/>
          <p:nvPr/>
        </p:nvSpPr>
        <p:spPr>
          <a:xfrm>
            <a:off x="923042" y="1721301"/>
            <a:ext cx="8258665" cy="427809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                                       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                                                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a, b, c, d;                                         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                                     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나누는 수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피제수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를 </a:t>
            </a:r>
            <a:r>
              <a:rPr lang="ko-KR" altLang="en-US" sz="16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입력하시오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cin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&gt;&gt;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a;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나누는 수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제수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를 </a:t>
            </a:r>
            <a:r>
              <a:rPr lang="ko-KR" altLang="en-US" sz="16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입력하시오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cin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&gt;&gt;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b;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try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{                        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if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(b == 0) {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throw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b;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c = a / b;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몫   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:"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                   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d = a % b;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나머지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:"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catch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ex) {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ex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로 나누려는 시도가 있었으므로 </a:t>
            </a:r>
            <a:r>
              <a:rPr lang="ko-KR" altLang="en-US" sz="16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예외발생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예외가 발생하더라도 정상 종료된다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."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  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685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호출 함수에 예외 전달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A4E6"/>
                </a:solidFill>
                <a:latin typeface="+mj-ea"/>
              </a:rPr>
              <a:t>호출한 함수에 예외 전달하기 </a:t>
            </a:r>
            <a:r>
              <a:rPr lang="en-US" altLang="ko-KR" sz="1800" dirty="0">
                <a:solidFill>
                  <a:srgbClr val="00A4E6"/>
                </a:solidFill>
                <a:latin typeface="+mj-ea"/>
              </a:rPr>
              <a:t>(14_05.cpp) (14_06.cpp)</a:t>
            </a:r>
          </a:p>
          <a:p>
            <a:endParaRPr lang="ko-KR" altLang="en-US" sz="1800" dirty="0"/>
          </a:p>
        </p:txBody>
      </p:sp>
      <p:sp>
        <p:nvSpPr>
          <p:cNvPr id="4" name="직사각형 3"/>
          <p:cNvSpPr/>
          <p:nvPr/>
        </p:nvSpPr>
        <p:spPr>
          <a:xfrm>
            <a:off x="1004227" y="1714837"/>
            <a:ext cx="7036838" cy="461664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divide(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c, d;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== 0)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throw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c =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/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몫은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-&gt; "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d =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%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나머지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-&gt; "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try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divide(10, 2);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divide(10, 0);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divide(10, 4);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catch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ex)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ex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4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예외발생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"\n</a:t>
            </a:r>
            <a:r>
              <a:rPr lang="ko-KR" altLang="en-US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예외가 발생하더라도 정상 종료된다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."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967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예제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A4E6"/>
                </a:solidFill>
                <a:latin typeface="+mj-ea"/>
              </a:rPr>
              <a:t>예외 자료형과 </a:t>
            </a:r>
            <a:r>
              <a:rPr lang="en-US" altLang="ko-KR" sz="1800" dirty="0">
                <a:solidFill>
                  <a:srgbClr val="00A4E6"/>
                </a:solidFill>
                <a:latin typeface="+mj-ea"/>
              </a:rPr>
              <a:t>catch</a:t>
            </a:r>
            <a:r>
              <a:rPr lang="ko-KR" altLang="en-US" sz="1800" dirty="0">
                <a:solidFill>
                  <a:srgbClr val="00A4E6"/>
                </a:solidFill>
                <a:latin typeface="+mj-ea"/>
              </a:rPr>
              <a:t>문의 자료형이 일치하지 않는 경우의 비정상 종료</a:t>
            </a:r>
            <a:endParaRPr lang="ko-KR" alt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B444E1-B951-4253-A053-28997A558943}"/>
              </a:ext>
            </a:extLst>
          </p:cNvPr>
          <p:cNvSpPr txBox="1"/>
          <p:nvPr/>
        </p:nvSpPr>
        <p:spPr>
          <a:xfrm>
            <a:off x="1045589" y="1706767"/>
            <a:ext cx="6750378" cy="483209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divide(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if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== 0)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throw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/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a, b;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두개의 숫자 입력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 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cin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&gt;&gt;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&gt;&gt;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try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"a/b</a:t>
            </a:r>
            <a:r>
              <a:rPr lang="ko-KR" altLang="en-US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의 몫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 "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divide(a, b)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}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catch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exception){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exception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</a:t>
            </a:r>
            <a:r>
              <a:rPr lang="ko-KR" altLang="en-US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입력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."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입력오류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! </a:t>
            </a:r>
            <a:r>
              <a:rPr lang="ko-KR" altLang="en-US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다시 실행 하세요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."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}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506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catch </a:t>
            </a:r>
            <a:r>
              <a:rPr lang="ko-KR" altLang="en-US" dirty="0"/>
              <a:t>블록 여러 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800" dirty="0">
                <a:solidFill>
                  <a:srgbClr val="00A4E6"/>
                </a:solidFill>
                <a:latin typeface="+mj-ea"/>
              </a:rPr>
              <a:t>try</a:t>
            </a:r>
            <a:r>
              <a:rPr lang="ko-KR" altLang="en-US" sz="1800" dirty="0">
                <a:solidFill>
                  <a:srgbClr val="00A4E6"/>
                </a:solidFill>
                <a:latin typeface="+mj-ea"/>
              </a:rPr>
              <a:t>문 하나와 </a:t>
            </a:r>
            <a:r>
              <a:rPr lang="en-US" altLang="ko-KR" sz="1800" dirty="0">
                <a:solidFill>
                  <a:srgbClr val="00A4E6"/>
                </a:solidFill>
                <a:latin typeface="+mj-ea"/>
              </a:rPr>
              <a:t>catch </a:t>
            </a:r>
            <a:r>
              <a:rPr lang="ko-KR" altLang="en-US" sz="1800" dirty="0">
                <a:solidFill>
                  <a:srgbClr val="00A4E6"/>
                </a:solidFill>
                <a:latin typeface="+mj-ea"/>
              </a:rPr>
              <a:t>블록 여러 개 살펴보기 </a:t>
            </a:r>
            <a:r>
              <a:rPr lang="en-US" altLang="ko-KR" sz="1800" dirty="0">
                <a:solidFill>
                  <a:srgbClr val="00A4E6"/>
                </a:solidFill>
                <a:latin typeface="+mj-ea"/>
              </a:rPr>
              <a:t>(14_07.cpp)</a:t>
            </a:r>
            <a:endParaRPr lang="ko-KR" altLang="en-US" sz="1800" dirty="0"/>
          </a:p>
        </p:txBody>
      </p:sp>
      <p:sp>
        <p:nvSpPr>
          <p:cNvPr id="4" name="직사각형 3"/>
          <p:cNvSpPr/>
          <p:nvPr/>
        </p:nvSpPr>
        <p:spPr>
          <a:xfrm>
            <a:off x="1071901" y="1846618"/>
            <a:ext cx="782366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  <a:endParaRPr lang="en-US" altLang="ko-KR" sz="1400" b="1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try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== 0)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throw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변수의 값이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0</a:t>
            </a:r>
            <a:r>
              <a:rPr lang="ko-KR" altLang="en-US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이다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 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else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throw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catch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en-US" altLang="ko-KR" sz="1400" b="1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4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str)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catch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en-US" altLang="ko-KR" sz="1400" b="1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ex)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{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숫자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ex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로 인한 </a:t>
            </a:r>
            <a:r>
              <a:rPr lang="ko-KR" altLang="en-US" sz="14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예외발생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504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예외처리 명시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/>
              <a:t>함수에 예외 발생 명시하기</a:t>
            </a:r>
            <a:endParaRPr lang="en-US" altLang="ko-KR" sz="1600" dirty="0"/>
          </a:p>
          <a:p>
            <a:pPr lvl="1"/>
            <a:r>
              <a:rPr lang="ko-KR" altLang="en-US" sz="1600" dirty="0"/>
              <a:t>예외가 발생할 가능성이 있는 함수에서 예외를 직접 처리하지 않고 </a:t>
            </a:r>
            <a:endParaRPr lang="en-US" altLang="ko-KR" sz="1600" dirty="0"/>
          </a:p>
          <a:p>
            <a:pPr lvl="1"/>
            <a:r>
              <a:rPr lang="ko-KR" altLang="en-US" sz="1600" dirty="0"/>
              <a:t>호출한 함수로 옮길 수 있는 </a:t>
            </a:r>
            <a:r>
              <a:rPr lang="ko-KR" altLang="en-US" sz="1600" b="1" dirty="0"/>
              <a:t>예외 자료형을 함수로 정의하면서 명시적</a:t>
            </a:r>
            <a:r>
              <a:rPr lang="ko-KR" altLang="en-US" sz="1600" dirty="0"/>
              <a:t>으로 나타낼 수 있다</a:t>
            </a:r>
            <a:r>
              <a:rPr lang="en-US" altLang="ko-KR" sz="1600" dirty="0"/>
              <a:t>.</a:t>
            </a:r>
          </a:p>
          <a:p>
            <a:pPr lvl="1"/>
            <a:endParaRPr lang="en-US" altLang="ko-KR" sz="1600" dirty="0"/>
          </a:p>
          <a:p>
            <a:pPr lvl="1"/>
            <a:r>
              <a:rPr lang="en-US" altLang="ko-KR" sz="1600" dirty="0"/>
              <a:t>0</a:t>
            </a:r>
            <a:r>
              <a:rPr lang="ko-KR" altLang="en-US" sz="1600" dirty="0"/>
              <a:t>으로 나눌 경우 불능으로 인해 문제가 발생하므로 </a:t>
            </a:r>
            <a:r>
              <a:rPr lang="en-US" altLang="ko-KR" sz="1600" dirty="0"/>
              <a:t>throw</a:t>
            </a:r>
            <a:r>
              <a:rPr lang="ko-KR" altLang="en-US" sz="1600" dirty="0"/>
              <a:t>문을 사용해서 프로그래머가 예외를 던져 준다</a:t>
            </a:r>
            <a:r>
              <a:rPr lang="en-US" altLang="ko-KR" sz="1600" dirty="0"/>
              <a:t>. </a:t>
            </a:r>
            <a:r>
              <a:rPr lang="ko-KR" altLang="en-US" sz="1600" dirty="0"/>
              <a:t>그리고 함수 머리 부분에 </a:t>
            </a:r>
            <a:r>
              <a:rPr lang="en-US" altLang="ko-KR" sz="1600" dirty="0"/>
              <a:t>throw</a:t>
            </a:r>
            <a:r>
              <a:rPr lang="ko-KR" altLang="en-US" sz="1600" dirty="0"/>
              <a:t>문으로 던지고자 하는 예외를 명시한다</a:t>
            </a:r>
            <a:r>
              <a:rPr lang="en-US" altLang="ko-KR" sz="1600" dirty="0"/>
              <a:t>.</a:t>
            </a:r>
          </a:p>
          <a:p>
            <a:pPr lvl="1"/>
            <a:endParaRPr lang="en-US" altLang="ko-KR" sz="1600" dirty="0"/>
          </a:p>
          <a:p>
            <a:pPr lvl="1"/>
            <a:endParaRPr lang="ko-KR" altLang="en-US" sz="1600" dirty="0"/>
          </a:p>
          <a:p>
            <a:endParaRPr lang="ko-KR" altLang="en-US" sz="16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0B17755-109B-42DC-BE38-8204C19FCBF8}"/>
              </a:ext>
            </a:extLst>
          </p:cNvPr>
          <p:cNvSpPr/>
          <p:nvPr/>
        </p:nvSpPr>
        <p:spPr>
          <a:xfrm>
            <a:off x="1520456" y="3631020"/>
            <a:ext cx="772987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  <a:r>
              <a:rPr lang="en-US" altLang="ko-KR" sz="1400" b="1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throw</a:t>
            </a:r>
            <a:r>
              <a:rPr lang="en-US" altLang="ko-KR" sz="14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b="1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                                    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throw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276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A4E6"/>
                </a:solidFill>
                <a:latin typeface="+mj-ea"/>
              </a:rPr>
              <a:t>함수에서</a:t>
            </a:r>
            <a:r>
              <a:rPr lang="en-US" altLang="ko-KR" sz="1800" dirty="0">
                <a:solidFill>
                  <a:srgbClr val="00A4E6"/>
                </a:solidFill>
                <a:latin typeface="+mj-ea"/>
              </a:rPr>
              <a:t> </a:t>
            </a:r>
            <a:r>
              <a:rPr lang="ko-KR" altLang="en-US" sz="1800" dirty="0">
                <a:solidFill>
                  <a:srgbClr val="00A4E6"/>
                </a:solidFill>
                <a:latin typeface="+mj-ea"/>
              </a:rPr>
              <a:t>발생하는 예외 자료형 명시하기</a:t>
            </a:r>
            <a:endParaRPr lang="ko-KR" altLang="en-US" sz="1800" dirty="0"/>
          </a:p>
        </p:txBody>
      </p:sp>
      <p:sp>
        <p:nvSpPr>
          <p:cNvPr id="4" name="직사각형 3"/>
          <p:cNvSpPr/>
          <p:nvPr/>
        </p:nvSpPr>
        <p:spPr>
          <a:xfrm>
            <a:off x="1029507" y="1762090"/>
            <a:ext cx="984338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  <a:r>
              <a:rPr lang="en-US" altLang="ko-KR" sz="1400" b="1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throw</a:t>
            </a:r>
            <a:r>
              <a:rPr lang="en-US" altLang="ko-KR" sz="14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b="1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4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*, </a:t>
            </a:r>
            <a:r>
              <a:rPr lang="en-US" altLang="ko-KR" sz="1400" b="1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                                    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==0)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throw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변수의 값이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0 </a:t>
            </a:r>
            <a:r>
              <a:rPr lang="ko-KR" altLang="en-US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이다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 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else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throw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                            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                                            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                                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                           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                                    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try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                                 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(10);                                     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                                    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catch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*str)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{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                                    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catch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ex)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{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숫자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ex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로 인한 예외발생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“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                                    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114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ko-KR" altLang="en-US" dirty="0"/>
              <a:t>사용자 정의 예외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사용자 정의 예외</a:t>
            </a:r>
            <a:endParaRPr lang="en-US" altLang="ko-KR" sz="1800" dirty="0"/>
          </a:p>
          <a:p>
            <a:pPr lvl="1"/>
            <a:r>
              <a:rPr lang="en-US" altLang="ko-KR" sz="1600" dirty="0"/>
              <a:t>C++</a:t>
            </a:r>
            <a:r>
              <a:rPr lang="ko-KR" altLang="en-US" sz="1600" dirty="0"/>
              <a:t>에서는 예외처리를 하려고 </a:t>
            </a:r>
            <a:endParaRPr lang="en-US" altLang="ko-KR" sz="1600" dirty="0"/>
          </a:p>
          <a:p>
            <a:pPr lvl="1"/>
            <a:r>
              <a:rPr lang="ko-KR" altLang="en-US" sz="1600" dirty="0">
                <a:sym typeface="Wingdings"/>
              </a:rPr>
              <a:t></a:t>
            </a:r>
            <a:r>
              <a:rPr lang="ko-KR" altLang="en-US" sz="1600" dirty="0"/>
              <a:t>처럼 사용자 정의 예외 클래스를 정의할 수 있다</a:t>
            </a:r>
            <a:r>
              <a:rPr lang="en-US" altLang="ko-KR" sz="1600" dirty="0"/>
              <a:t>.  </a:t>
            </a:r>
          </a:p>
          <a:p>
            <a:pPr lvl="1"/>
            <a:r>
              <a:rPr lang="ko-KR" altLang="en-US" sz="1600" dirty="0">
                <a:sym typeface="Wingdings"/>
              </a:rPr>
              <a:t></a:t>
            </a:r>
            <a:r>
              <a:rPr lang="ko-KR" altLang="en-US" sz="1600" dirty="0"/>
              <a:t>처럼 </a:t>
            </a:r>
            <a:r>
              <a:rPr lang="en-US" altLang="ko-KR" sz="1600" dirty="0"/>
              <a:t>throw</a:t>
            </a:r>
            <a:r>
              <a:rPr lang="ko-KR" altLang="en-US" sz="1600" dirty="0"/>
              <a:t>문을 이용해서 필요에 따라 예외를 발생시킬 수 있다</a:t>
            </a:r>
            <a:r>
              <a:rPr lang="en-US" altLang="ko-KR" sz="1600" dirty="0"/>
              <a:t>.</a:t>
            </a:r>
            <a:endParaRPr lang="ko-KR" altLang="en-US" sz="16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ko-KR" altLang="en-US" sz="1800" dirty="0"/>
          </a:p>
        </p:txBody>
      </p:sp>
      <p:sp>
        <p:nvSpPr>
          <p:cNvPr id="4" name="직사각형 3"/>
          <p:cNvSpPr/>
          <p:nvPr/>
        </p:nvSpPr>
        <p:spPr>
          <a:xfrm>
            <a:off x="1382139" y="3240032"/>
            <a:ext cx="3550777" cy="12531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 dirty="0">
                <a:latin typeface="Consolas" panose="020B0609020204030204" pitchFamily="49" charset="0"/>
                <a:sym typeface="Wingdings"/>
              </a:rPr>
              <a:t></a:t>
            </a:r>
            <a:r>
              <a:rPr lang="en-US" altLang="ko-KR" sz="1600" dirty="0"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altLang="ko-KR" sz="1600" dirty="0">
                <a:latin typeface="Consolas" panose="020B0609020204030204" pitchFamily="49" charset="0"/>
              </a:rPr>
              <a:t> </a:t>
            </a:r>
            <a:r>
              <a:rPr lang="en-US" altLang="ko-KR" sz="1600" dirty="0" err="1">
                <a:solidFill>
                  <a:srgbClr val="0070C0"/>
                </a:solidFill>
                <a:latin typeface="Consolas" panose="020B0609020204030204" pitchFamily="49" charset="0"/>
              </a:rPr>
              <a:t>UserError</a:t>
            </a:r>
            <a:r>
              <a:rPr lang="en-US" altLang="ko-KR" sz="1600" dirty="0"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altLang="ko-KR" sz="1600" dirty="0">
                <a:latin typeface="Consolas" panose="020B0609020204030204" pitchFamily="49" charset="0"/>
              </a:rPr>
              <a:t>   {</a:t>
            </a:r>
          </a:p>
          <a:p>
            <a:pPr>
              <a:lnSpc>
                <a:spcPct val="120000"/>
              </a:lnSpc>
            </a:pPr>
            <a:r>
              <a:rPr lang="en-US" altLang="ko-KR" sz="1600" dirty="0">
                <a:latin typeface="Consolas" panose="020B0609020204030204" pitchFamily="49" charset="0"/>
              </a:rPr>
              <a:t>        void </a:t>
            </a:r>
            <a:r>
              <a:rPr lang="en-US" altLang="ko-KR" sz="1600" dirty="0" err="1">
                <a:latin typeface="Consolas" panose="020B0609020204030204" pitchFamily="49" charset="0"/>
              </a:rPr>
              <a:t>func</a:t>
            </a:r>
            <a:r>
              <a:rPr lang="en-US" altLang="ko-KR" sz="1600" dirty="0"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20000"/>
              </a:lnSpc>
            </a:pPr>
            <a:r>
              <a:rPr lang="en-US" altLang="ko-KR" sz="1600" dirty="0">
                <a:latin typeface="Consolas" panose="020B0609020204030204" pitchFamily="49" charset="0"/>
              </a:rPr>
              <a:t>   }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404684" y="3240032"/>
            <a:ext cx="3550777" cy="66216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 dirty="0">
                <a:sym typeface="Wingdings"/>
              </a:rPr>
              <a:t>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throw</a:t>
            </a:r>
            <a:r>
              <a:rPr lang="en-US" altLang="ko-KR" sz="1600" dirty="0">
                <a:latin typeface="Consolas" panose="020B0609020204030204" pitchFamily="49" charset="0"/>
              </a:rPr>
              <a:t> </a:t>
            </a:r>
            <a:r>
              <a:rPr lang="en-US" altLang="ko-KR" sz="1600" dirty="0" err="1">
                <a:solidFill>
                  <a:srgbClr val="0070C0"/>
                </a:solidFill>
                <a:latin typeface="Consolas" panose="020B0609020204030204" pitchFamily="49" charset="0"/>
              </a:rPr>
              <a:t>UserError</a:t>
            </a:r>
            <a:r>
              <a:rPr lang="en-US" altLang="ko-KR" sz="1600" dirty="0">
                <a:latin typeface="Consolas" panose="020B0609020204030204" pitchFamily="49" charset="0"/>
              </a:rPr>
              <a:t>();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"/>
            </a:pP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1759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A4E6"/>
                </a:solidFill>
                <a:latin typeface="+mj-ea"/>
              </a:rPr>
              <a:t>사용자 정의 예외 클래스</a:t>
            </a:r>
            <a:r>
              <a:rPr lang="en-US" altLang="ko-KR" sz="1800" dirty="0">
                <a:solidFill>
                  <a:srgbClr val="00A4E6"/>
                </a:solidFill>
                <a:latin typeface="+mj-ea"/>
              </a:rPr>
              <a:t>(</a:t>
            </a:r>
            <a:r>
              <a:rPr lang="en-US" altLang="ko-KR" sz="1800" dirty="0" err="1">
                <a:solidFill>
                  <a:srgbClr val="00A4E6"/>
                </a:solidFill>
                <a:latin typeface="+mj-ea"/>
              </a:rPr>
              <a:t>UserError</a:t>
            </a:r>
            <a:r>
              <a:rPr lang="en-US" altLang="ko-KR" sz="1800" dirty="0">
                <a:solidFill>
                  <a:srgbClr val="00A4E6"/>
                </a:solidFill>
                <a:latin typeface="+mj-ea"/>
              </a:rPr>
              <a:t>) </a:t>
            </a:r>
            <a:r>
              <a:rPr lang="ko-KR" altLang="en-US" sz="1800" dirty="0">
                <a:solidFill>
                  <a:srgbClr val="00A4E6"/>
                </a:solidFill>
                <a:latin typeface="+mj-ea"/>
              </a:rPr>
              <a:t>정의하기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962099" y="1716750"/>
            <a:ext cx="8107680" cy="452431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70C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UserError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en-US" altLang="ko-KR" sz="1600" dirty="0">
              <a:solidFill>
                <a:srgbClr val="0000FF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70C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UserError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사용자 </a:t>
            </a:r>
            <a:r>
              <a:rPr lang="ko-KR" altLang="en-US" sz="160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정의 예외</a:t>
            </a:r>
            <a:r>
              <a:rPr lang="en-US" altLang="ko-KR" sz="160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} </a:t>
            </a:r>
          </a:p>
          <a:p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 )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try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throw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b="1" dirty="0" err="1">
                <a:solidFill>
                  <a:srgbClr val="0070C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UserError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catch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 err="1">
                <a:solidFill>
                  <a:srgbClr val="0070C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UserError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&amp;ex){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사용자 정의 예외 발생에 대한 처리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ex.func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042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A4E6"/>
                </a:solidFill>
                <a:latin typeface="+mj-ea"/>
              </a:rPr>
              <a:t>사용자 정의 예외 클래스</a:t>
            </a:r>
            <a:r>
              <a:rPr lang="en-US" altLang="ko-KR" sz="1800" dirty="0">
                <a:solidFill>
                  <a:srgbClr val="00A4E6"/>
                </a:solidFill>
                <a:latin typeface="+mj-ea"/>
              </a:rPr>
              <a:t>(</a:t>
            </a:r>
            <a:r>
              <a:rPr lang="en-US" altLang="ko-KR" sz="1800" dirty="0" err="1">
                <a:solidFill>
                  <a:srgbClr val="00A4E6"/>
                </a:solidFill>
                <a:latin typeface="+mj-ea"/>
              </a:rPr>
              <a:t>UserError</a:t>
            </a:r>
            <a:r>
              <a:rPr lang="en-US" altLang="ko-KR" sz="1800" dirty="0">
                <a:solidFill>
                  <a:srgbClr val="00A4E6"/>
                </a:solidFill>
                <a:latin typeface="+mj-ea"/>
              </a:rPr>
              <a:t>) </a:t>
            </a:r>
            <a:r>
              <a:rPr lang="ko-KR" altLang="en-US" sz="1800" dirty="0">
                <a:solidFill>
                  <a:srgbClr val="00A4E6"/>
                </a:solidFill>
                <a:latin typeface="+mj-ea"/>
              </a:rPr>
              <a:t>정의하기</a:t>
            </a:r>
            <a:r>
              <a:rPr lang="en-US" altLang="ko-KR" sz="1800" dirty="0">
                <a:solidFill>
                  <a:srgbClr val="00A4E6"/>
                </a:solidFill>
                <a:latin typeface="+mj-ea"/>
              </a:rPr>
              <a:t>, </a:t>
            </a:r>
            <a:r>
              <a:rPr lang="ko-KR" altLang="en-US" sz="1800" dirty="0">
                <a:solidFill>
                  <a:srgbClr val="00A4E6"/>
                </a:solidFill>
                <a:latin typeface="+mj-ea"/>
              </a:rPr>
              <a:t>메시지 </a:t>
            </a:r>
            <a:r>
              <a:rPr lang="ko-KR" altLang="en-US" sz="1800" dirty="0" err="1">
                <a:solidFill>
                  <a:srgbClr val="00A4E6"/>
                </a:solidFill>
                <a:latin typeface="+mj-ea"/>
              </a:rPr>
              <a:t>담아보내기</a:t>
            </a:r>
            <a:endParaRPr lang="ko-KR" altLang="en-US" sz="1800" dirty="0"/>
          </a:p>
          <a:p>
            <a:pPr marL="0" indent="0">
              <a:buNone/>
            </a:pPr>
            <a:r>
              <a:rPr lang="en-US" altLang="ko-KR" sz="1800" dirty="0"/>
              <a:t> </a:t>
            </a:r>
            <a:endParaRPr lang="ko-KR" altLang="en-US" sz="1800" dirty="0"/>
          </a:p>
        </p:txBody>
      </p:sp>
      <p:sp>
        <p:nvSpPr>
          <p:cNvPr id="4" name="직사각형 3"/>
          <p:cNvSpPr/>
          <p:nvPr/>
        </p:nvSpPr>
        <p:spPr>
          <a:xfrm>
            <a:off x="960749" y="1715679"/>
            <a:ext cx="819189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70C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UserError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string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msg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UserError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msg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70C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UserError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msg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}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try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throw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70C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UserError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예외 발생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catch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en-US" altLang="ko-KR" sz="1600" dirty="0" err="1">
                <a:solidFill>
                  <a:srgbClr val="0070C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UserError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ex) {  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ex.func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06539"/>
      </p:ext>
    </p:extLst>
  </p:cSld>
  <p:clrMapOvr>
    <a:masterClrMapping/>
  </p:clrMapOvr>
</p:sld>
</file>

<file path=ppt/theme/theme1.xml><?xml version="1.0" encoding="utf-8"?>
<a:theme xmlns:a="http://schemas.openxmlformats.org/drawingml/2006/main" name="kdw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dw" id="{F28DBF1B-01D0-4FBC-BB1B-5659CB34DC19}" vid="{4A242179-4008-4EAD-92AB-026544F4F03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kdw</Template>
  <TotalTime>2344</TotalTime>
  <Words>1230</Words>
  <Application>Microsoft Office PowerPoint</Application>
  <PresentationFormat>와이드스크린</PresentationFormat>
  <Paragraphs>231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HY헤드라인M</vt:lpstr>
      <vt:lpstr>맑은 고딕</vt:lpstr>
      <vt:lpstr>Arial</vt:lpstr>
      <vt:lpstr>Consolas</vt:lpstr>
      <vt:lpstr>Wingdings</vt:lpstr>
      <vt:lpstr>kdw</vt:lpstr>
      <vt:lpstr>C++ 예외처리</vt:lpstr>
      <vt:lpstr>학습목표</vt:lpstr>
      <vt:lpstr>예외처리</vt:lpstr>
      <vt:lpstr>예외처리</vt:lpstr>
      <vt:lpstr>예제</vt:lpstr>
      <vt:lpstr>예제 </vt:lpstr>
      <vt:lpstr>호출 함수에 예외 전달</vt:lpstr>
      <vt:lpstr>예제</vt:lpstr>
      <vt:lpstr>catch 블록 여러 개</vt:lpstr>
      <vt:lpstr>예외처리 명시</vt:lpstr>
      <vt:lpstr>실습</vt:lpstr>
      <vt:lpstr>사용자 정의 예외</vt:lpstr>
      <vt:lpstr>예제</vt:lpstr>
      <vt:lpstr>예제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C언어와 프로그래밍</dc:title>
  <dc:creator>kdw</dc:creator>
  <cp:lastModifiedBy>kdw</cp:lastModifiedBy>
  <cp:revision>485</cp:revision>
  <dcterms:created xsi:type="dcterms:W3CDTF">2020-02-16T05:20:05Z</dcterms:created>
  <dcterms:modified xsi:type="dcterms:W3CDTF">2023-01-12T08:01:44Z</dcterms:modified>
</cp:coreProperties>
</file>