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7"/>
  </p:notesMasterIdLst>
  <p:sldIdLst>
    <p:sldId id="256" r:id="rId2"/>
    <p:sldId id="261" r:id="rId3"/>
    <p:sldId id="264" r:id="rId4"/>
    <p:sldId id="279" r:id="rId5"/>
    <p:sldId id="277" r:id="rId6"/>
    <p:sldId id="283" r:id="rId7"/>
    <p:sldId id="287" r:id="rId8"/>
    <p:sldId id="278" r:id="rId9"/>
    <p:sldId id="289" r:id="rId10"/>
    <p:sldId id="290" r:id="rId11"/>
    <p:sldId id="266" r:id="rId12"/>
    <p:sldId id="281" r:id="rId13"/>
    <p:sldId id="284" r:id="rId14"/>
    <p:sldId id="285" r:id="rId15"/>
    <p:sldId id="280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11" autoAdjust="0"/>
    <p:restoredTop sz="94660"/>
  </p:normalViewPr>
  <p:slideViewPr>
    <p:cSldViewPr snapToGrid="0">
      <p:cViewPr varScale="1">
        <p:scale>
          <a:sx n="87" d="100"/>
          <a:sy n="87" d="100"/>
        </p:scale>
        <p:origin x="120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82305C-3B4A-4CEA-9B78-30452B89202A}" type="datetimeFigureOut">
              <a:rPr lang="ko-KR" altLang="en-US" smtClean="0"/>
              <a:t>2024-05-14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E29B41-DE66-4CCD-8EF4-D4A2091FF0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684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none"/>
        </p:style>
        <p:txBody>
          <a:bodyPr anchor="ctr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b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1377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5793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235676"/>
            <a:ext cx="10515600" cy="5099221"/>
          </a:xfrm>
        </p:spPr>
        <p:txBody>
          <a:bodyPr/>
          <a:lstStyle>
            <a:lvl1pPr>
              <a:lnSpc>
                <a:spcPct val="120000"/>
              </a:lnSpc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411156"/>
            <a:ext cx="2743200" cy="269129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E82D2FF9-85B3-4DB3-BCC0-C2DF320F10A8}" type="datetimeFigureOut">
              <a:rPr lang="ko-KR" altLang="en-US" smtClean="0"/>
              <a:t>2024-05-14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411156"/>
            <a:ext cx="4114800" cy="269129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411156"/>
            <a:ext cx="2743200" cy="269129"/>
          </a:xfrm>
        </p:spPr>
        <p:txBody>
          <a:bodyPr/>
          <a:lstStyle>
            <a:lvl1pPr>
              <a:defRPr sz="1200"/>
            </a:lvl1pPr>
          </a:lstStyle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9061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6592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2024-05-14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494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2024-05-14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3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2024-05-14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20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2024-05-14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2689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2024-05-14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824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2024-05-14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3848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0496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9211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9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344168"/>
            <a:ext cx="10515600" cy="50121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453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lang="ko-KR" altLang="en-US" sz="4400" kern="1200" dirty="0" smtClean="0">
          <a:solidFill>
            <a:schemeClr val="bg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ü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C++</a:t>
            </a:r>
            <a:r>
              <a:rPr lang="ko-KR" altLang="en-US" dirty="0"/>
              <a:t> 객체의 활용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0199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ko-KR" altLang="en-US" dirty="0"/>
              <a:t>학습목표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dirty="0"/>
          </a:p>
          <a:p>
            <a:r>
              <a:rPr lang="ko-KR" altLang="en-US" dirty="0"/>
              <a:t>정적 멤버변수와 정적 멤버함수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프렌드</a:t>
            </a:r>
            <a:r>
              <a:rPr lang="ko-KR" altLang="en-US" dirty="0"/>
              <a:t> 함수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객체를 다루기 위한 함수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64293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ko-KR" altLang="en-US" dirty="0"/>
              <a:t>정적 </a:t>
            </a:r>
            <a:r>
              <a:rPr lang="ko-KR" altLang="en-US" dirty="0" err="1"/>
              <a:t>맴버변수와</a:t>
            </a:r>
            <a:r>
              <a:rPr lang="ko-KR" altLang="en-US" dirty="0"/>
              <a:t> 정적 </a:t>
            </a:r>
            <a:r>
              <a:rPr lang="ko-KR" altLang="en-US" dirty="0" err="1"/>
              <a:t>맴버함수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ko-KR" altLang="en-US" sz="1800" dirty="0"/>
              <a:t>정적 변수</a:t>
            </a:r>
            <a:endParaRPr lang="en-US" altLang="ko-KR" sz="1800" dirty="0"/>
          </a:p>
          <a:p>
            <a:pPr lvl="1"/>
            <a:r>
              <a:rPr lang="en-US" altLang="ko-KR" sz="1600" dirty="0">
                <a:solidFill>
                  <a:srgbClr val="0000FF"/>
                </a:solidFill>
              </a:rPr>
              <a:t>static</a:t>
            </a:r>
            <a:r>
              <a:rPr lang="en-US" altLang="ko-KR" sz="1600" dirty="0"/>
              <a:t> </a:t>
            </a:r>
            <a:r>
              <a:rPr lang="ko-KR" altLang="en-US" sz="1600" dirty="0"/>
              <a:t>의 뜻은 정적이라는 의미 즉 </a:t>
            </a:r>
            <a:r>
              <a:rPr lang="ko-KR" altLang="en-US" sz="1600" b="1" dirty="0"/>
              <a:t>메모리에 공간을 할당</a:t>
            </a:r>
            <a:r>
              <a:rPr lang="ko-KR" altLang="en-US" sz="1600" dirty="0"/>
              <a:t>한다</a:t>
            </a:r>
            <a:r>
              <a:rPr lang="en-US" altLang="ko-KR" sz="1600" dirty="0"/>
              <a:t>. </a:t>
            </a:r>
          </a:p>
          <a:p>
            <a:pPr lvl="1"/>
            <a:r>
              <a:rPr lang="ko-KR" altLang="en-US" sz="1600" dirty="0"/>
              <a:t>한번 할당된 후 </a:t>
            </a:r>
            <a:r>
              <a:rPr lang="ko-KR" altLang="en-US" sz="1600" b="1" dirty="0"/>
              <a:t>프로그램 종료까지</a:t>
            </a:r>
            <a:r>
              <a:rPr lang="ko-KR" altLang="en-US" sz="1600" dirty="0"/>
              <a:t> 메모리에 적재되어 있다</a:t>
            </a:r>
            <a:r>
              <a:rPr lang="en-US" altLang="ko-KR" sz="1600" dirty="0"/>
              <a:t>.</a:t>
            </a:r>
          </a:p>
          <a:p>
            <a:pPr lvl="1"/>
            <a:endParaRPr lang="en-US" altLang="ko-KR" sz="1600" dirty="0"/>
          </a:p>
          <a:p>
            <a:r>
              <a:rPr lang="ko-KR" altLang="en-US" sz="1800" dirty="0"/>
              <a:t>정적 </a:t>
            </a:r>
            <a:r>
              <a:rPr lang="ko-KR" altLang="en-US" sz="1800" b="1" dirty="0" err="1">
                <a:solidFill>
                  <a:srgbClr val="0070C0"/>
                </a:solidFill>
              </a:rPr>
              <a:t>맴버변수</a:t>
            </a:r>
            <a:endParaRPr lang="en-US" altLang="ko-KR" sz="1800" b="1" dirty="0">
              <a:solidFill>
                <a:srgbClr val="0070C0"/>
              </a:solidFill>
            </a:endParaRPr>
          </a:p>
          <a:p>
            <a:pPr lvl="1"/>
            <a:r>
              <a:rPr lang="ko-KR" altLang="en-US" sz="1600" b="1" dirty="0"/>
              <a:t>클래스에 내부 </a:t>
            </a:r>
            <a:r>
              <a:rPr lang="ko-KR" altLang="en-US" sz="1600" b="1" dirty="0" err="1"/>
              <a:t>맴버변수</a:t>
            </a:r>
            <a:r>
              <a:rPr lang="ko-KR" altLang="en-US" sz="1600" dirty="0" err="1"/>
              <a:t>도</a:t>
            </a:r>
            <a:r>
              <a:rPr lang="ko-KR" altLang="en-US" sz="1600" dirty="0"/>
              <a:t> </a:t>
            </a:r>
            <a:r>
              <a:rPr lang="en-US" altLang="ko-KR" sz="1600" dirty="0"/>
              <a:t>static </a:t>
            </a:r>
            <a:r>
              <a:rPr lang="ko-KR" altLang="en-US" sz="1600" dirty="0"/>
              <a:t>으로 할당할 수 있으며</a:t>
            </a:r>
            <a:r>
              <a:rPr lang="en-US" altLang="ko-KR" sz="1600" dirty="0"/>
              <a:t>,</a:t>
            </a:r>
            <a:r>
              <a:rPr lang="ko-KR" altLang="en-US" sz="1600" dirty="0"/>
              <a:t> 이때도 </a:t>
            </a:r>
            <a:r>
              <a:rPr lang="ko-KR" altLang="en-US" sz="1600" dirty="0" err="1"/>
              <a:t>정적변수와</a:t>
            </a:r>
            <a:r>
              <a:rPr lang="ko-KR" altLang="en-US" sz="1600" dirty="0"/>
              <a:t> 같은 특성을 지닌다</a:t>
            </a:r>
            <a:r>
              <a:rPr lang="en-US" altLang="ko-KR" sz="1600" dirty="0"/>
              <a:t>.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pPr lvl="1"/>
            <a:r>
              <a:rPr lang="en-US" altLang="ko-KR" sz="1600" dirty="0"/>
              <a:t>static </a:t>
            </a:r>
            <a:r>
              <a:rPr lang="ko-KR" altLang="en-US" sz="1600" dirty="0"/>
              <a:t>변수는 객체 기반이 아니라 </a:t>
            </a:r>
            <a:r>
              <a:rPr lang="en-US" altLang="ko-KR" sz="1600" b="1" dirty="0">
                <a:solidFill>
                  <a:srgbClr val="C00000"/>
                </a:solidFill>
              </a:rPr>
              <a:t>class </a:t>
            </a:r>
            <a:r>
              <a:rPr lang="ko-KR" altLang="en-US" sz="1600" b="1" dirty="0">
                <a:solidFill>
                  <a:srgbClr val="C00000"/>
                </a:solidFill>
              </a:rPr>
              <a:t>기반</a:t>
            </a:r>
            <a:r>
              <a:rPr lang="ko-KR" altLang="en-US" sz="1600" dirty="0"/>
              <a:t>으로 만들어지는 것이다</a:t>
            </a:r>
            <a:r>
              <a:rPr lang="en-US" altLang="ko-KR" sz="1600" dirty="0"/>
              <a:t>.</a:t>
            </a:r>
          </a:p>
          <a:p>
            <a:pPr lvl="1"/>
            <a:r>
              <a:rPr lang="ko-KR" altLang="en-US" sz="1600" dirty="0"/>
              <a:t>클래스에서 공유</a:t>
            </a:r>
            <a:r>
              <a:rPr lang="en-US" altLang="ko-KR" sz="1600" dirty="0"/>
              <a:t>. </a:t>
            </a:r>
            <a:r>
              <a:rPr lang="ko-KR" altLang="en-US" sz="1600" dirty="0"/>
              <a:t>초기화는 한번만 클래스외부에서</a:t>
            </a:r>
            <a:r>
              <a:rPr lang="en-US" altLang="ko-KR" sz="1600" dirty="0"/>
              <a:t>. </a:t>
            </a:r>
            <a:r>
              <a:rPr lang="ko-KR" altLang="en-US" sz="1600" dirty="0"/>
              <a:t>클래스이름으로 혹은 객체로 접근가능</a:t>
            </a:r>
            <a:r>
              <a:rPr lang="en-US" altLang="ko-KR" sz="1600" dirty="0"/>
              <a:t>. </a:t>
            </a:r>
          </a:p>
          <a:p>
            <a:pPr lvl="1"/>
            <a:endParaRPr lang="en-US" altLang="ko-KR" sz="1600" dirty="0"/>
          </a:p>
          <a:p>
            <a:r>
              <a:rPr lang="ko-KR" altLang="en-US" sz="1800" dirty="0"/>
              <a:t>정적 </a:t>
            </a:r>
            <a:r>
              <a:rPr lang="ko-KR" altLang="en-US" sz="1800" b="1" dirty="0" err="1">
                <a:solidFill>
                  <a:srgbClr val="0070C0"/>
                </a:solidFill>
              </a:rPr>
              <a:t>맴버함수</a:t>
            </a:r>
            <a:endParaRPr lang="en-US" altLang="ko-KR" sz="1800" b="1" dirty="0">
              <a:solidFill>
                <a:srgbClr val="0070C0"/>
              </a:solidFill>
            </a:endParaRPr>
          </a:p>
          <a:p>
            <a:pPr lvl="1"/>
            <a:r>
              <a:rPr lang="ko-KR" altLang="en-US" sz="1600" dirty="0"/>
              <a:t>정적 </a:t>
            </a:r>
            <a:r>
              <a:rPr lang="ko-KR" altLang="en-US" sz="1600" dirty="0" err="1"/>
              <a:t>맴버</a:t>
            </a:r>
            <a:r>
              <a:rPr lang="ko-KR" altLang="en-US" sz="1600" dirty="0"/>
              <a:t> 변수는 클래스에서 접근하지만 별도의 메모리 공간을 할당한다</a:t>
            </a:r>
            <a:r>
              <a:rPr lang="en-US" altLang="ko-KR" sz="1600" dirty="0"/>
              <a:t>. </a:t>
            </a:r>
          </a:p>
          <a:p>
            <a:pPr lvl="1"/>
            <a:r>
              <a:rPr lang="ko-KR" altLang="en-US" sz="1600" dirty="0"/>
              <a:t>따라서 </a:t>
            </a:r>
            <a:r>
              <a:rPr lang="en-US" altLang="ko-KR" sz="1600" dirty="0"/>
              <a:t>private </a:t>
            </a:r>
            <a:r>
              <a:rPr lang="ko-KR" altLang="en-US" sz="1600" b="1" dirty="0"/>
              <a:t>정적 </a:t>
            </a:r>
            <a:r>
              <a:rPr lang="ko-KR" altLang="en-US" sz="1600" b="1" dirty="0" err="1"/>
              <a:t>멤버변수를</a:t>
            </a:r>
            <a:r>
              <a:rPr lang="ko-KR" altLang="en-US" sz="1600" b="1" dirty="0"/>
              <a:t> 사용하기 위해서는</a:t>
            </a:r>
            <a:r>
              <a:rPr lang="en-US" altLang="ko-KR" sz="1600" b="1" dirty="0"/>
              <a:t> </a:t>
            </a:r>
            <a:r>
              <a:rPr lang="ko-KR" altLang="en-US" sz="1600" dirty="0"/>
              <a:t>멤버함수가 별도로 필요하다</a:t>
            </a:r>
            <a:endParaRPr lang="en-US" altLang="ko-KR" sz="1600" dirty="0"/>
          </a:p>
          <a:p>
            <a:pPr lvl="1"/>
            <a:r>
              <a:rPr lang="ko-KR" altLang="en-US" sz="1600" dirty="0"/>
              <a:t>정적 </a:t>
            </a:r>
            <a:r>
              <a:rPr lang="ko-KR" altLang="en-US" sz="1600" dirty="0" err="1"/>
              <a:t>맴버함수에서는</a:t>
            </a:r>
            <a:r>
              <a:rPr lang="ko-KR" altLang="en-US" sz="1600" dirty="0"/>
              <a:t> </a:t>
            </a:r>
            <a:r>
              <a:rPr lang="ko-KR" altLang="en-US" sz="1600" b="1" dirty="0"/>
              <a:t>정적 </a:t>
            </a:r>
            <a:r>
              <a:rPr lang="ko-KR" altLang="en-US" sz="1600" b="1" dirty="0" err="1"/>
              <a:t>맴버만</a:t>
            </a:r>
            <a:r>
              <a:rPr lang="ko-KR" altLang="en-US" sz="1600" b="1" dirty="0"/>
              <a:t> 접근</a:t>
            </a:r>
            <a:r>
              <a:rPr lang="ko-KR" altLang="en-US" sz="1600" dirty="0"/>
              <a:t>이 가능하다</a:t>
            </a:r>
            <a:r>
              <a:rPr lang="en-US" altLang="ko-KR" sz="1600" dirty="0"/>
              <a:t>. </a:t>
            </a:r>
            <a:r>
              <a:rPr lang="ko-KR" altLang="en-US" sz="1600" dirty="0"/>
              <a:t>일반 </a:t>
            </a:r>
            <a:r>
              <a:rPr lang="ko-KR" altLang="en-US" sz="1600" dirty="0" err="1"/>
              <a:t>맴버함수는</a:t>
            </a:r>
            <a:r>
              <a:rPr lang="ko-KR" altLang="en-US" sz="1600" dirty="0"/>
              <a:t> 모두 접근 가능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8892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정적 </a:t>
            </a:r>
            <a:r>
              <a:rPr lang="ko-KR" altLang="en-US" dirty="0" err="1"/>
              <a:t>맴버변수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정적 멤버변수의 특징</a:t>
            </a:r>
            <a:endParaRPr lang="en-US" altLang="ko-KR" sz="1800" dirty="0"/>
          </a:p>
          <a:p>
            <a:pPr lvl="1">
              <a:buFont typeface="Wingdings" pitchFamily="2" charset="2"/>
              <a:buChar char=""/>
            </a:pPr>
            <a:r>
              <a:rPr lang="ko-KR" altLang="en-US" sz="1600" dirty="0"/>
              <a:t>정적 </a:t>
            </a:r>
            <a:r>
              <a:rPr lang="ko-KR" altLang="en-US" sz="1600" dirty="0" err="1"/>
              <a:t>멤버변수는</a:t>
            </a:r>
            <a:r>
              <a:rPr lang="ko-KR" altLang="en-US" sz="1600" dirty="0"/>
              <a:t> 클래스의 모든 인스턴스</a:t>
            </a:r>
            <a:r>
              <a:rPr lang="en-US" altLang="ko-KR" sz="1600" dirty="0"/>
              <a:t>(</a:t>
            </a:r>
            <a:r>
              <a:rPr lang="ko-KR" altLang="en-US" sz="1600" dirty="0"/>
              <a:t>객체</a:t>
            </a:r>
            <a:r>
              <a:rPr lang="en-US" altLang="ko-KR" sz="1600" dirty="0"/>
              <a:t>)</a:t>
            </a:r>
            <a:r>
              <a:rPr lang="ko-KR" altLang="en-US" sz="1600" dirty="0"/>
              <a:t>에 의해 </a:t>
            </a:r>
            <a:r>
              <a:rPr lang="ko-KR" altLang="en-US" sz="1600" b="1" dirty="0">
                <a:solidFill>
                  <a:srgbClr val="0070C0"/>
                </a:solidFill>
              </a:rPr>
              <a:t>공유</a:t>
            </a:r>
            <a:r>
              <a:rPr lang="ko-KR" altLang="en-US" sz="1600" dirty="0"/>
              <a:t>된다</a:t>
            </a:r>
            <a:r>
              <a:rPr lang="en-US" altLang="ko-KR" sz="1600" dirty="0"/>
              <a:t>.</a:t>
            </a:r>
          </a:p>
          <a:p>
            <a:pPr lvl="1">
              <a:buFont typeface="Wingdings" pitchFamily="2" charset="2"/>
              <a:buChar char=""/>
            </a:pPr>
            <a:r>
              <a:rPr lang="ko-KR" altLang="en-US" sz="1600" dirty="0"/>
              <a:t>정적 </a:t>
            </a:r>
            <a:r>
              <a:rPr lang="ko-KR" altLang="en-US" sz="1600" dirty="0" err="1"/>
              <a:t>멤버변수에</a:t>
            </a:r>
            <a:r>
              <a:rPr lang="ko-KR" altLang="en-US" sz="1600" dirty="0"/>
              <a:t> 자료가 저장되어 값이 유지되는 원리는 </a:t>
            </a:r>
            <a:r>
              <a:rPr lang="ko-KR" altLang="en-US" sz="1600" b="1" dirty="0" err="1"/>
              <a:t>전역변수와</a:t>
            </a:r>
            <a:r>
              <a:rPr lang="ko-KR" altLang="en-US" sz="1600" b="1" dirty="0"/>
              <a:t> 동일</a:t>
            </a:r>
            <a:r>
              <a:rPr lang="ko-KR" altLang="en-US" sz="1600" dirty="0"/>
              <a:t>하다</a:t>
            </a:r>
            <a:r>
              <a:rPr lang="en-US" altLang="ko-KR" sz="1600" dirty="0"/>
              <a:t>. </a:t>
            </a:r>
            <a:r>
              <a:rPr lang="ko-KR" altLang="en-US" sz="1600" dirty="0"/>
              <a:t>하지만 정적 </a:t>
            </a:r>
            <a:r>
              <a:rPr lang="ko-KR" altLang="en-US" sz="1600" dirty="0" err="1"/>
              <a:t>멤버변수는</a:t>
            </a:r>
            <a:r>
              <a:rPr lang="ko-KR" altLang="en-US" sz="1600" dirty="0"/>
              <a:t> 해당 </a:t>
            </a:r>
            <a:r>
              <a:rPr lang="ko-KR" altLang="en-US" sz="1600" b="1" dirty="0"/>
              <a:t>클래스명으로 접근</a:t>
            </a:r>
            <a:r>
              <a:rPr lang="ko-KR" altLang="en-US" sz="1600" dirty="0"/>
              <a:t>해야 한다는 점에서 </a:t>
            </a:r>
            <a:r>
              <a:rPr lang="ko-KR" altLang="en-US" sz="1600" b="1" dirty="0" err="1"/>
              <a:t>전역변수와</a:t>
            </a:r>
            <a:r>
              <a:rPr lang="ko-KR" altLang="en-US" sz="1600" b="1" dirty="0"/>
              <a:t> 차이</a:t>
            </a:r>
            <a:r>
              <a:rPr lang="ko-KR" altLang="en-US" sz="1600" dirty="0"/>
              <a:t>가 난다</a:t>
            </a:r>
            <a:r>
              <a:rPr lang="en-US" altLang="ko-KR" sz="1600" dirty="0"/>
              <a:t>.</a:t>
            </a:r>
          </a:p>
          <a:p>
            <a:pPr lvl="1">
              <a:buFont typeface="Wingdings" pitchFamily="2" charset="2"/>
              <a:buChar char=""/>
            </a:pPr>
            <a:endParaRPr lang="en-US" altLang="ko-KR" sz="1600" dirty="0"/>
          </a:p>
          <a:p>
            <a:r>
              <a:rPr lang="ko-KR" altLang="en-US" sz="1800" dirty="0"/>
              <a:t>정적 </a:t>
            </a:r>
            <a:r>
              <a:rPr lang="ko-KR" altLang="en-US" sz="1800" dirty="0" err="1"/>
              <a:t>멤버변수를</a:t>
            </a:r>
            <a:r>
              <a:rPr lang="ko-KR" altLang="en-US" sz="1800" dirty="0"/>
              <a:t> 사용하기 위한 </a:t>
            </a:r>
            <a:r>
              <a:rPr lang="en-US" altLang="ko-KR" sz="1800" dirty="0"/>
              <a:t>2</a:t>
            </a:r>
            <a:r>
              <a:rPr lang="ko-KR" altLang="en-US" sz="1800" dirty="0"/>
              <a:t>가지 조건</a:t>
            </a:r>
            <a:endParaRPr lang="en-US" altLang="ko-KR" sz="1800" dirty="0"/>
          </a:p>
          <a:p>
            <a:pPr lvl="1">
              <a:buFont typeface="Wingdings" pitchFamily="2" charset="2"/>
              <a:buChar char=""/>
            </a:pPr>
            <a:r>
              <a:rPr lang="ko-KR" altLang="en-US" sz="1600" dirty="0"/>
              <a:t>정적 </a:t>
            </a:r>
            <a:r>
              <a:rPr lang="ko-KR" altLang="en-US" sz="1600" dirty="0" err="1"/>
              <a:t>멤버변수는</a:t>
            </a:r>
            <a:r>
              <a:rPr lang="ko-KR" altLang="en-US" sz="1600" dirty="0"/>
              <a:t> </a:t>
            </a:r>
            <a:r>
              <a:rPr lang="ko-KR" altLang="en-US" sz="1600" b="1" dirty="0"/>
              <a:t>특정 클래스 내부에 선언해야 한다</a:t>
            </a:r>
            <a:r>
              <a:rPr lang="en-US" altLang="ko-KR" sz="1600" dirty="0"/>
              <a:t>. </a:t>
            </a:r>
            <a:r>
              <a:rPr lang="ko-KR" altLang="en-US" sz="1600" dirty="0"/>
              <a:t>클래스로 객체를 선언하면 객체 단위로 </a:t>
            </a:r>
            <a:r>
              <a:rPr lang="ko-KR" altLang="en-US" sz="1600" dirty="0" err="1"/>
              <a:t>멤버변수가</a:t>
            </a:r>
            <a:r>
              <a:rPr lang="ko-KR" altLang="en-US" sz="1600" dirty="0"/>
              <a:t> 생성된다</a:t>
            </a:r>
            <a:r>
              <a:rPr lang="en-US" altLang="ko-KR" sz="1600" dirty="0"/>
              <a:t>. </a:t>
            </a:r>
            <a:r>
              <a:rPr lang="ko-KR" altLang="en-US" sz="1600" dirty="0"/>
              <a:t>만약 모든 객체 인스턴스들이 </a:t>
            </a:r>
            <a:r>
              <a:rPr lang="ko-KR" altLang="en-US" sz="1600" dirty="0" err="1"/>
              <a:t>멤버변수</a:t>
            </a:r>
            <a:r>
              <a:rPr lang="ko-KR" altLang="en-US" sz="1600" dirty="0"/>
              <a:t> 하나를 공유해야 한다면 </a:t>
            </a:r>
            <a:r>
              <a:rPr lang="en-US" altLang="ko-KR" sz="1600" dirty="0">
                <a:solidFill>
                  <a:srgbClr val="0000FF"/>
                </a:solidFill>
              </a:rPr>
              <a:t>static</a:t>
            </a:r>
            <a:r>
              <a:rPr lang="en-US" altLang="ko-KR" sz="1600" dirty="0"/>
              <a:t> </a:t>
            </a:r>
            <a:r>
              <a:rPr lang="ko-KR" altLang="en-US" sz="1600" dirty="0" err="1"/>
              <a:t>예약어를</a:t>
            </a:r>
            <a:r>
              <a:rPr lang="ko-KR" altLang="en-US" sz="1600" dirty="0"/>
              <a:t> 사용해서 </a:t>
            </a:r>
            <a:r>
              <a:rPr lang="ko-KR" altLang="en-US" sz="1600" dirty="0" err="1"/>
              <a:t>멤버변수를</a:t>
            </a:r>
            <a:r>
              <a:rPr lang="ko-KR" altLang="en-US" sz="1600" dirty="0"/>
              <a:t> 생성한다</a:t>
            </a:r>
            <a:r>
              <a:rPr lang="en-US" altLang="ko-KR" sz="1600" dirty="0"/>
              <a:t>.</a:t>
            </a:r>
          </a:p>
          <a:p>
            <a:pPr lvl="1">
              <a:buFont typeface="Wingdings" pitchFamily="2" charset="2"/>
              <a:buChar char=""/>
            </a:pPr>
            <a:r>
              <a:rPr lang="ko-KR" altLang="en-US" sz="1600" dirty="0"/>
              <a:t>정적 </a:t>
            </a:r>
            <a:r>
              <a:rPr lang="ko-KR" altLang="en-US" sz="1600" dirty="0" err="1"/>
              <a:t>멤버변수는</a:t>
            </a:r>
            <a:r>
              <a:rPr lang="ko-KR" altLang="en-US" sz="1600" dirty="0"/>
              <a:t> </a:t>
            </a:r>
            <a:r>
              <a:rPr lang="ko-KR" altLang="en-US" sz="1600" b="1" dirty="0"/>
              <a:t>클래스 밖에서 별도로 초기화되어야 한다</a:t>
            </a:r>
            <a:r>
              <a:rPr lang="en-US" altLang="ko-KR" sz="1600" b="1" dirty="0"/>
              <a:t>.</a:t>
            </a:r>
          </a:p>
          <a:p>
            <a:pPr lvl="1">
              <a:buNone/>
            </a:pPr>
            <a:r>
              <a:rPr lang="en-US" altLang="ko-KR" sz="1600" dirty="0"/>
              <a:t>	</a:t>
            </a:r>
            <a:r>
              <a:rPr lang="ko-KR" altLang="en-US" sz="1600" dirty="0"/>
              <a:t>정적 </a:t>
            </a:r>
            <a:r>
              <a:rPr lang="ko-KR" altLang="en-US" sz="1600" dirty="0" err="1"/>
              <a:t>멤버변수는</a:t>
            </a:r>
            <a:r>
              <a:rPr lang="ko-KR" altLang="en-US" sz="1600" dirty="0"/>
              <a:t> 클래스의 인스턴스와 상관없이 프로그램의 시작과 동시에 생성되는 변수로 </a:t>
            </a:r>
            <a:r>
              <a:rPr lang="ko-KR" altLang="en-US" sz="1600" b="1" dirty="0"/>
              <a:t>클래스 밖에서 별도로 초기화</a:t>
            </a:r>
            <a:r>
              <a:rPr lang="ko-KR" altLang="en-US" sz="1600" dirty="0"/>
              <a:t>해야 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7444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정적 </a:t>
            </a:r>
            <a:r>
              <a:rPr lang="ko-KR" altLang="en-US" dirty="0" err="1"/>
              <a:t>맴버함수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정적 </a:t>
            </a:r>
            <a:r>
              <a:rPr lang="ko-KR" altLang="en-US" sz="1800" dirty="0" err="1"/>
              <a:t>멤버함수</a:t>
            </a:r>
            <a:endParaRPr lang="en-US" altLang="ko-KR" sz="1600" dirty="0"/>
          </a:p>
          <a:p>
            <a:pPr lvl="1"/>
            <a:r>
              <a:rPr lang="ko-KR" altLang="en-US" sz="1600" dirty="0"/>
              <a:t>정적 </a:t>
            </a:r>
            <a:r>
              <a:rPr lang="ko-KR" altLang="en-US" sz="1600" dirty="0" err="1"/>
              <a:t>멤버변수를</a:t>
            </a:r>
            <a:r>
              <a:rPr lang="ko-KR" altLang="en-US" sz="1600" dirty="0"/>
              <a:t> </a:t>
            </a:r>
            <a:r>
              <a:rPr lang="en-US" altLang="ko-KR" sz="1600" dirty="0"/>
              <a:t>private</a:t>
            </a:r>
            <a:r>
              <a:rPr lang="ko-KR" altLang="en-US" sz="1600" dirty="0"/>
              <a:t>로 선언하면 이 </a:t>
            </a:r>
            <a:r>
              <a:rPr lang="ko-KR" altLang="en-US" sz="1600" b="1" dirty="0"/>
              <a:t>정적 </a:t>
            </a:r>
            <a:r>
              <a:rPr lang="ko-KR" altLang="en-US" sz="1600" b="1" dirty="0" err="1"/>
              <a:t>멤버변수를</a:t>
            </a:r>
            <a:r>
              <a:rPr lang="ko-KR" altLang="en-US" sz="1600" b="1" dirty="0"/>
              <a:t> 사용하기 위한</a:t>
            </a:r>
            <a:r>
              <a:rPr lang="ko-KR" altLang="en-US" sz="1600" dirty="0"/>
              <a:t> </a:t>
            </a:r>
            <a:r>
              <a:rPr lang="ko-KR" altLang="en-US" sz="1600" dirty="0" err="1"/>
              <a:t>멤버함수가</a:t>
            </a:r>
            <a:r>
              <a:rPr lang="ko-KR" altLang="en-US" sz="1600" dirty="0"/>
              <a:t> 별도로 필요하다</a:t>
            </a:r>
            <a:r>
              <a:rPr lang="en-US" altLang="ko-KR" sz="1600" dirty="0"/>
              <a:t>. </a:t>
            </a:r>
          </a:p>
          <a:p>
            <a:pPr lvl="1"/>
            <a:r>
              <a:rPr lang="ko-KR" altLang="en-US" sz="1600" dirty="0"/>
              <a:t>정적 </a:t>
            </a:r>
            <a:r>
              <a:rPr lang="ko-KR" altLang="en-US" sz="1600" dirty="0" err="1"/>
              <a:t>멤버변수를</a:t>
            </a:r>
            <a:r>
              <a:rPr lang="ko-KR" altLang="en-US" sz="1600" dirty="0"/>
              <a:t> 다루기 위한 </a:t>
            </a:r>
            <a:r>
              <a:rPr lang="ko-KR" altLang="en-US" sz="1600" dirty="0" err="1"/>
              <a:t>멤버함수는</a:t>
            </a:r>
            <a:r>
              <a:rPr lang="ko-KR" altLang="en-US" sz="1600" dirty="0"/>
              <a:t> 인스턴스 차원이 아닌 클래스 차원에서 사용 가능하도록 설계해야 하는데</a:t>
            </a:r>
            <a:r>
              <a:rPr lang="en-US" altLang="ko-KR" sz="1600" dirty="0"/>
              <a:t>, </a:t>
            </a:r>
            <a:r>
              <a:rPr lang="ko-KR" altLang="en-US" sz="1600" dirty="0"/>
              <a:t>이를 위해 제공하는 것이 정적 </a:t>
            </a:r>
            <a:r>
              <a:rPr lang="ko-KR" altLang="en-US" sz="1600" dirty="0" err="1"/>
              <a:t>멤버함수다</a:t>
            </a:r>
            <a:r>
              <a:rPr lang="en-US" altLang="ko-KR" sz="1600" dirty="0"/>
              <a:t>.</a:t>
            </a:r>
          </a:p>
          <a:p>
            <a:pPr lvl="1">
              <a:buNone/>
            </a:pPr>
            <a:endParaRPr lang="en-US" altLang="ko-KR" sz="1600" dirty="0"/>
          </a:p>
          <a:p>
            <a:r>
              <a:rPr lang="ko-KR" altLang="en-US" sz="1800" dirty="0"/>
              <a:t>정적 </a:t>
            </a:r>
            <a:r>
              <a:rPr lang="ko-KR" altLang="en-US" sz="1800" dirty="0" err="1"/>
              <a:t>멤버함수를</a:t>
            </a:r>
            <a:r>
              <a:rPr lang="ko-KR" altLang="en-US" sz="1800" dirty="0"/>
              <a:t> 사용할 때의 주의사항 </a:t>
            </a:r>
            <a:r>
              <a:rPr lang="en-US" altLang="ko-KR" sz="1800" dirty="0"/>
              <a:t>( </a:t>
            </a:r>
            <a:r>
              <a:rPr lang="ko-KR" altLang="en-US" sz="1800" dirty="0"/>
              <a:t>정적 </a:t>
            </a:r>
            <a:r>
              <a:rPr lang="ko-KR" altLang="en-US" sz="1800" dirty="0" err="1"/>
              <a:t>멤버함수의</a:t>
            </a:r>
            <a:r>
              <a:rPr lang="ko-KR" altLang="en-US" sz="1800" dirty="0"/>
              <a:t> 특징  </a:t>
            </a:r>
            <a:r>
              <a:rPr lang="en-US" altLang="ko-KR" sz="1800" dirty="0"/>
              <a:t>)</a:t>
            </a:r>
          </a:p>
          <a:p>
            <a:pPr lvl="1">
              <a:buFont typeface="Wingdings" pitchFamily="2" charset="2"/>
              <a:buChar char=""/>
            </a:pPr>
            <a:r>
              <a:rPr lang="ko-KR" altLang="en-US" sz="1600" dirty="0"/>
              <a:t>정적 멤버함수에서는 </a:t>
            </a:r>
            <a:r>
              <a:rPr lang="en-US" altLang="ko-KR" sz="1600" b="1" dirty="0"/>
              <a:t>this </a:t>
            </a:r>
            <a:r>
              <a:rPr lang="ko-KR" altLang="en-US" sz="1600" b="1" dirty="0"/>
              <a:t>포인터</a:t>
            </a:r>
            <a:r>
              <a:rPr lang="ko-KR" altLang="en-US" sz="1600" dirty="0"/>
              <a:t>를 참조할 수 없다</a:t>
            </a:r>
            <a:r>
              <a:rPr lang="en-US" altLang="ko-KR" sz="1600" dirty="0"/>
              <a:t>.</a:t>
            </a:r>
          </a:p>
          <a:p>
            <a:pPr lvl="1">
              <a:buFont typeface="Wingdings" pitchFamily="2" charset="2"/>
              <a:buChar char=""/>
            </a:pPr>
            <a:r>
              <a:rPr lang="ko-KR" altLang="en-US" sz="1600" dirty="0"/>
              <a:t>정적 멤버함수에서는 </a:t>
            </a:r>
            <a:r>
              <a:rPr lang="ko-KR" altLang="en-US" sz="1600" b="1" dirty="0"/>
              <a:t>인스턴스 변수</a:t>
            </a:r>
            <a:r>
              <a:rPr lang="ko-KR" altLang="en-US" sz="1600" dirty="0"/>
              <a:t>를 사용할 수 없다</a:t>
            </a:r>
            <a:r>
              <a:rPr lang="en-US" altLang="ko-KR" sz="1600" dirty="0"/>
              <a:t>.</a:t>
            </a:r>
          </a:p>
          <a:p>
            <a:pPr lvl="1">
              <a:buFont typeface="Wingdings" pitchFamily="2" charset="2"/>
              <a:buChar char=""/>
            </a:pPr>
            <a:r>
              <a:rPr lang="ko-KR" altLang="en-US" sz="1600" dirty="0"/>
              <a:t>정적 </a:t>
            </a:r>
            <a:r>
              <a:rPr lang="ko-KR" altLang="en-US" sz="1600" dirty="0" err="1"/>
              <a:t>멤버함수는</a:t>
            </a:r>
            <a:r>
              <a:rPr lang="ko-KR" altLang="en-US" sz="1600" dirty="0"/>
              <a:t> </a:t>
            </a:r>
            <a:r>
              <a:rPr lang="ko-KR" altLang="en-US" sz="1600" b="1" dirty="0"/>
              <a:t>오버라이딩</a:t>
            </a:r>
            <a:r>
              <a:rPr lang="ko-KR" altLang="en-US" sz="1600" dirty="0"/>
              <a:t>되지 않는다</a:t>
            </a:r>
            <a:endParaRPr lang="en-US" altLang="ko-KR" sz="1600" dirty="0"/>
          </a:p>
          <a:p>
            <a:pPr lvl="1"/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950940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정적</a:t>
            </a:r>
            <a:r>
              <a:rPr lang="en-US" altLang="ko-KR" dirty="0"/>
              <a:t> </a:t>
            </a:r>
            <a:r>
              <a:rPr lang="ko-KR" altLang="en-US" dirty="0" err="1"/>
              <a:t>맴버의</a:t>
            </a:r>
            <a:r>
              <a:rPr lang="ko-KR" altLang="en-US" dirty="0"/>
              <a:t> 사용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/>
              <a:t>정적 </a:t>
            </a:r>
            <a:r>
              <a:rPr lang="ko-KR" altLang="en-US" sz="1600" dirty="0" err="1"/>
              <a:t>멤버변수</a:t>
            </a:r>
            <a:r>
              <a:rPr lang="ko-KR" altLang="en-US" sz="1600" dirty="0"/>
              <a:t> 사용</a:t>
            </a:r>
            <a:endParaRPr lang="en-US" altLang="ko-KR" sz="1600" dirty="0"/>
          </a:p>
          <a:p>
            <a:pPr lvl="1"/>
            <a:r>
              <a:rPr lang="ko-KR" altLang="en-US" sz="1400" dirty="0"/>
              <a:t>하나의 클래스로 객체를 </a:t>
            </a:r>
            <a:r>
              <a:rPr lang="ko-KR" altLang="en-US" sz="1400" dirty="0" err="1"/>
              <a:t>여러개</a:t>
            </a:r>
            <a:r>
              <a:rPr lang="ko-KR" altLang="en-US" sz="1400" dirty="0"/>
              <a:t> 생성하더라도 </a:t>
            </a:r>
            <a:r>
              <a:rPr lang="en-US" altLang="ko-KR" sz="1400" dirty="0"/>
              <a:t>static</a:t>
            </a:r>
            <a:r>
              <a:rPr lang="ko-KR" altLang="en-US" sz="1400" dirty="0"/>
              <a:t>으로 선언된 멤버들은 </a:t>
            </a:r>
            <a:r>
              <a:rPr lang="ko-KR" altLang="en-US" sz="1400" b="1" dirty="0"/>
              <a:t>해당 </a:t>
            </a:r>
            <a:r>
              <a:rPr lang="ko-KR" altLang="en-US" sz="1400" b="1" dirty="0">
                <a:solidFill>
                  <a:srgbClr val="C00000"/>
                </a:solidFill>
              </a:rPr>
              <a:t>클래스 당 한 개</a:t>
            </a:r>
            <a:r>
              <a:rPr lang="ko-KR" altLang="en-US" sz="1400" b="1" dirty="0"/>
              <a:t>만 생성</a:t>
            </a:r>
            <a:r>
              <a:rPr lang="ko-KR" altLang="en-US" sz="1400" dirty="0"/>
              <a:t>된다</a:t>
            </a:r>
            <a:r>
              <a:rPr lang="en-US" altLang="ko-KR" sz="1400" dirty="0"/>
              <a:t>.</a:t>
            </a:r>
          </a:p>
          <a:p>
            <a:pPr lvl="1"/>
            <a:r>
              <a:rPr lang="en-US" altLang="ko-KR" sz="1400" dirty="0"/>
              <a:t>static </a:t>
            </a:r>
            <a:r>
              <a:rPr lang="ko-KR" altLang="en-US" sz="1400" dirty="0" err="1"/>
              <a:t>멤버변수는</a:t>
            </a:r>
            <a:r>
              <a:rPr lang="ko-KR" altLang="en-US" sz="1400" dirty="0"/>
              <a:t> 여러 객체들에 의해서 공유되며 </a:t>
            </a:r>
            <a:r>
              <a:rPr lang="ko-KR" altLang="en-US" sz="1400" b="1" dirty="0"/>
              <a:t>객체 생성 없이도</a:t>
            </a:r>
            <a:r>
              <a:rPr lang="ko-KR" altLang="en-US" sz="1400" dirty="0"/>
              <a:t> </a:t>
            </a:r>
            <a:r>
              <a:rPr lang="ko-KR" altLang="en-US" sz="1400" b="1" dirty="0"/>
              <a:t>클래스명으로 멤버에 접근</a:t>
            </a:r>
            <a:r>
              <a:rPr lang="ko-KR" altLang="en-US" sz="1400" dirty="0"/>
              <a:t>할 수 있다</a:t>
            </a:r>
            <a:r>
              <a:rPr lang="en-US" altLang="ko-KR" sz="1400" dirty="0"/>
              <a:t>. </a:t>
            </a:r>
          </a:p>
          <a:p>
            <a:pPr lvl="1"/>
            <a:r>
              <a:rPr lang="ko-KR" altLang="en-US" sz="1400" b="1" dirty="0"/>
              <a:t>프로그램을 실행</a:t>
            </a:r>
            <a:r>
              <a:rPr lang="ko-KR" altLang="en-US" sz="1400" dirty="0"/>
              <a:t>하면 객체가 생성되기 전에 클래스가 메모리에 먼저 올라간다</a:t>
            </a:r>
            <a:r>
              <a:rPr lang="en-US" altLang="ko-KR" sz="1400" dirty="0"/>
              <a:t>. </a:t>
            </a:r>
            <a:r>
              <a:rPr lang="ko-KR" altLang="en-US" sz="1400" dirty="0"/>
              <a:t>그런데 이때 </a:t>
            </a:r>
            <a:r>
              <a:rPr lang="en-US" altLang="ko-KR" sz="1400" dirty="0"/>
              <a:t>static</a:t>
            </a:r>
            <a:r>
              <a:rPr lang="ko-KR" altLang="en-US" sz="1400" dirty="0"/>
              <a:t>으로 선언된 멤버들도 메모리에 함께 올라가므로 클래스명으로 직접 접근할 수 있는 것이다</a:t>
            </a:r>
            <a:r>
              <a:rPr lang="en-US" altLang="ko-KR" sz="1400" dirty="0"/>
              <a:t>.</a:t>
            </a:r>
            <a:endParaRPr lang="ko-KR" altLang="en-US" sz="1800" dirty="0"/>
          </a:p>
          <a:p>
            <a:endParaRPr lang="ko-KR" altLang="en-US" sz="2000" dirty="0"/>
          </a:p>
        </p:txBody>
      </p:sp>
      <p:sp>
        <p:nvSpPr>
          <p:cNvPr id="4" name="직사각형 3"/>
          <p:cNvSpPr/>
          <p:nvPr/>
        </p:nvSpPr>
        <p:spPr>
          <a:xfrm>
            <a:off x="1495424" y="3000374"/>
            <a:ext cx="5588281" cy="2875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StaticTest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private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static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a; 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정적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ko-KR" altLang="en-US" sz="1600" dirty="0" err="1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맴버변수</a:t>
            </a:r>
            <a:endParaRPr lang="en-US" altLang="ko-KR" sz="1600" dirty="0">
              <a:solidFill>
                <a:srgbClr val="0066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b; 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StaticTest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static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Print (); 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정적 </a:t>
            </a:r>
            <a:r>
              <a:rPr lang="ko-KR" altLang="en-US" sz="1600" dirty="0" err="1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맴버함수</a:t>
            </a:r>
            <a:endParaRPr lang="en-US" altLang="ko-KR" sz="1600" dirty="0">
              <a:solidFill>
                <a:srgbClr val="0066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 </a:t>
            </a:r>
          </a:p>
          <a:p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latin typeface="Consolas" panose="020B0609020204030204" pitchFamily="49" charset="0"/>
              </a:rPr>
              <a:t>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StaticTest</a:t>
            </a:r>
            <a:r>
              <a:rPr lang="en-US" altLang="ko-KR" sz="1600" dirty="0">
                <a:latin typeface="Consolas" panose="020B0609020204030204" pitchFamily="49" charset="0"/>
              </a:rPr>
              <a:t>::a = 10;  //</a:t>
            </a:r>
            <a:r>
              <a:rPr lang="ko-KR" altLang="en-US" sz="1600" dirty="0">
                <a:latin typeface="Consolas" panose="020B0609020204030204" pitchFamily="49" charset="0"/>
              </a:rPr>
              <a:t>별도</a:t>
            </a:r>
            <a:r>
              <a:rPr lang="en-US" altLang="ko-KR" sz="1600" dirty="0">
                <a:latin typeface="Consolas" panose="020B0609020204030204" pitchFamily="49" charset="0"/>
              </a:rPr>
              <a:t> </a:t>
            </a:r>
            <a:r>
              <a:rPr lang="ko-KR" altLang="en-US" sz="1600" dirty="0">
                <a:latin typeface="Consolas" panose="020B0609020204030204" pitchFamily="49" charset="0"/>
              </a:rPr>
              <a:t>초기화</a:t>
            </a:r>
            <a:r>
              <a:rPr lang="en-US" altLang="ko-KR" sz="1600" dirty="0">
                <a:latin typeface="Consolas" panose="020B0609020204030204" pitchFamily="49" charset="0"/>
              </a:rPr>
              <a:t>.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4015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838199" y="1235676"/>
            <a:ext cx="4921469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#include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</a:t>
            </a:r>
            <a:r>
              <a:rPr lang="en-US" altLang="ko-KR" sz="16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iostream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using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namespace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  <a:endParaRPr lang="ko-KR" altLang="en-US" sz="1600" dirty="0">
              <a:latin typeface="Consolas" panose="020B0609020204030204" pitchFamily="49" charset="0"/>
            </a:endParaRPr>
          </a:p>
          <a:p>
            <a:endParaRPr lang="en-US" altLang="ko-KR" sz="1600" dirty="0">
              <a:solidFill>
                <a:srgbClr val="0000FF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endParaRPr lang="en-US" altLang="ko-KR" sz="1600" dirty="0">
              <a:solidFill>
                <a:srgbClr val="0000FF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StaticTest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private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static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a;       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정적 </a:t>
            </a:r>
            <a:r>
              <a:rPr lang="ko-KR" altLang="en-US" sz="16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맴버변수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b;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StaticTest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static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Print();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정적 </a:t>
            </a:r>
            <a:r>
              <a:rPr lang="ko-KR" altLang="en-US" sz="16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맴버함수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StaticTest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::a = 0;  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별도 초기화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369269" y="1235676"/>
            <a:ext cx="4984531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StaticTest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StaticTest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++a;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StaticTest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::Print() 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정적 </a:t>
            </a:r>
            <a:r>
              <a:rPr lang="ko-KR" altLang="en-US" sz="16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맴버함수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StaticTest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StaticTest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b;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StaticTest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c;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a.Print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993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>
                <a:latin typeface="+mj-ea"/>
              </a:rPr>
              <a:t>클래스 단위 멤버변수와 인스턴스 단위 멤버변수의 차이점 알아보기</a:t>
            </a:r>
            <a:endParaRPr lang="en-US" altLang="ko-KR" sz="1800" dirty="0">
              <a:latin typeface="+mj-ea"/>
            </a:endParaRPr>
          </a:p>
          <a:p>
            <a:endParaRPr lang="en-US" altLang="ko-KR" sz="1800" dirty="0">
              <a:latin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56FA6B-969E-4C31-990A-5903B6C60AFC}"/>
              </a:ext>
            </a:extLst>
          </p:cNvPr>
          <p:cNvSpPr txBox="1"/>
          <p:nvPr/>
        </p:nvSpPr>
        <p:spPr>
          <a:xfrm>
            <a:off x="973123" y="1736305"/>
            <a:ext cx="360726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#include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&lt;iostream&gt;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using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namespace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std;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StaticTest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{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static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b;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StaticTest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StaticTest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StaticTest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b = 20;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StaticTest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::a = 10;</a:t>
            </a:r>
          </a:p>
          <a:p>
            <a:endParaRPr lang="ko-KR" altLang="en-US" sz="1400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92ADD6-2ADA-453E-BA93-EDEC5E94FF1B}"/>
              </a:ext>
            </a:extLst>
          </p:cNvPr>
          <p:cNvSpPr txBox="1"/>
          <p:nvPr/>
        </p:nvSpPr>
        <p:spPr>
          <a:xfrm>
            <a:off x="4915949" y="1736305"/>
            <a:ext cx="6437851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 </a:t>
            </a:r>
            <a:r>
              <a:rPr lang="en-US" altLang="ko-KR" sz="14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StaticTest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::a =&gt; "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StaticTest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::a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"\n\n"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en-US" altLang="ko-KR" sz="14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&lt;&lt;" </a:t>
            </a:r>
            <a:r>
              <a:rPr lang="en-US" altLang="ko-KR" sz="14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StaticTest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::b =&gt; " &lt;&lt; </a:t>
            </a:r>
            <a:r>
              <a:rPr lang="en-US" altLang="ko-KR" sz="14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StaticTest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::b &lt;&lt; "\n\n"; 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StaticTest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s1, s2;</a:t>
            </a:r>
          </a:p>
          <a:p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cout </a:t>
            </a:r>
            <a:r>
              <a:rPr lang="pt-BR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s1.a </a:t>
            </a:r>
            <a:r>
              <a:rPr lang="pt-BR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pt-BR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"\t"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pt-BR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s2.a </a:t>
            </a:r>
            <a:r>
              <a:rPr lang="pt-BR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pt-BR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"\n"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cout </a:t>
            </a:r>
            <a:r>
              <a:rPr lang="pt-BR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s1.b </a:t>
            </a:r>
            <a:r>
              <a:rPr lang="pt-BR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pt-BR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"\t"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pt-BR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s2.b </a:t>
            </a:r>
            <a:r>
              <a:rPr lang="pt-BR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pt-BR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"\n"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s1.a = 100;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s1.b = 200;</a:t>
            </a:r>
          </a:p>
          <a:p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cout </a:t>
            </a:r>
            <a:r>
              <a:rPr lang="pt-BR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s1.a </a:t>
            </a:r>
            <a:r>
              <a:rPr lang="pt-BR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pt-BR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"\t"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pt-BR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s2.a </a:t>
            </a:r>
            <a:r>
              <a:rPr lang="pt-BR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pt-BR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"\n"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cout </a:t>
            </a:r>
            <a:r>
              <a:rPr lang="pt-BR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s1.b </a:t>
            </a:r>
            <a:r>
              <a:rPr lang="pt-BR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pt-BR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"\t"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pt-BR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s2.b </a:t>
            </a:r>
            <a:r>
              <a:rPr lang="pt-BR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pt-BR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"\n"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2189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4C65D2-60C9-4C9E-AD13-4812D796B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F56FB3-8140-4FC4-98C7-06A1A12AF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>
                <a:latin typeface="+mj-ea"/>
              </a:rPr>
              <a:t>정적 멤버함수 정의하기</a:t>
            </a:r>
            <a:endParaRPr lang="en-US" altLang="ko-KR" sz="1800" dirty="0">
              <a:latin typeface="+mj-ea"/>
            </a:endParaRPr>
          </a:p>
          <a:p>
            <a:endParaRPr lang="en-US" altLang="ko-KR" sz="1800" dirty="0">
              <a:latin typeface="+mj-ea"/>
            </a:endParaRPr>
          </a:p>
          <a:p>
            <a:endParaRPr lang="ko-KR" alt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BB007-E57B-44CC-B21D-4ED614A009C1}"/>
              </a:ext>
            </a:extLst>
          </p:cNvPr>
          <p:cNvSpPr txBox="1"/>
          <p:nvPr/>
        </p:nvSpPr>
        <p:spPr>
          <a:xfrm>
            <a:off x="952499" y="1733550"/>
            <a:ext cx="4080895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#include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&lt;iostream&gt;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using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namespace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std;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StaticTest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{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private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static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b;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StaticTest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static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SetA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new_a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static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GetA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StaticTest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::a = 10;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StaticTest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StaticTest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b = 20;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2A4C24-0E30-4B70-9C9A-D9ED9C0155EF}"/>
              </a:ext>
            </a:extLst>
          </p:cNvPr>
          <p:cNvSpPr txBox="1"/>
          <p:nvPr/>
        </p:nvSpPr>
        <p:spPr>
          <a:xfrm>
            <a:off x="5259897" y="1733550"/>
            <a:ext cx="5979603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StaticTest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SetA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new_a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{ a = </a:t>
            </a:r>
            <a:r>
              <a:rPr lang="en-US" altLang="ko-KR" sz="14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new_a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}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StaticTest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GetA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{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return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a; }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endParaRPr lang="en-US" altLang="ko-KR" sz="1400" dirty="0">
              <a:solidFill>
                <a:srgbClr val="0000FF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en-US" altLang="ko-KR" sz="14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&lt;&lt;" </a:t>
            </a:r>
            <a:r>
              <a:rPr lang="en-US" altLang="ko-KR" sz="14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StaticTest.a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=&gt; " &lt;&lt; </a:t>
            </a:r>
            <a:r>
              <a:rPr lang="en-US" altLang="ko-KR" sz="14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StaticTest.a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&lt;&lt; "\n\n"; 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 </a:t>
            </a:r>
            <a:r>
              <a:rPr lang="en-US" altLang="ko-KR" sz="14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StaticTest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4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GetA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"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StaticTest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GetA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"\n\n"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StaticTest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s1, s2;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s1.SetA(20 );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 s1.GetA() -&gt; "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s1.GetA()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"\t"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cout </a:t>
            </a:r>
            <a:r>
              <a:rPr lang="pt-BR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pt-BR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 s2.GetA() -&gt; "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pt-BR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s2.GetA() </a:t>
            </a:r>
            <a:r>
              <a:rPr lang="pt-BR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pt-BR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"\n"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336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5F6E66-F532-4990-B989-C42DED966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30170C-BF67-43E0-9151-87AD4EC0F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>
                <a:latin typeface="+mj-ea"/>
              </a:rPr>
              <a:t>인스턴스의 개수를 세는 정적 멤버변수 이용하기</a:t>
            </a:r>
            <a:endParaRPr lang="ko-KR" altLang="en-US" sz="1800" dirty="0"/>
          </a:p>
          <a:p>
            <a:endParaRPr lang="ko-KR" altLang="en-US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717B63-356D-4DCE-95ED-05A3CDD054ED}"/>
              </a:ext>
            </a:extLst>
          </p:cNvPr>
          <p:cNvSpPr txBox="1"/>
          <p:nvPr/>
        </p:nvSpPr>
        <p:spPr>
          <a:xfrm>
            <a:off x="939568" y="1684020"/>
            <a:ext cx="5090160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#include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&lt;iostream&gt;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1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#include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&lt;string&gt;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1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using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namespace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std;</a:t>
            </a:r>
          </a:p>
          <a:p>
            <a:endParaRPr lang="ko-KR" altLang="en-US" sz="11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CName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{</a:t>
            </a:r>
          </a:p>
          <a:p>
            <a:r>
              <a:rPr lang="en-US" altLang="ko-KR" sz="11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char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name[30];</a:t>
            </a:r>
          </a:p>
          <a:p>
            <a:r>
              <a:rPr lang="en-US" altLang="ko-KR" sz="11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char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phone[20];</a:t>
            </a:r>
          </a:p>
          <a:p>
            <a:r>
              <a:rPr lang="en-US" altLang="ko-KR" sz="11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static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cnt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1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CName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1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</a:t>
            </a:r>
            <a:r>
              <a:rPr lang="en-US" altLang="ko-KR" sz="11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</a:t>
            </a:r>
            <a:r>
              <a:rPr lang="en-US" altLang="ko-KR" sz="11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＂Kim"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sz="11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</a:t>
            </a:r>
            <a:r>
              <a:rPr lang="en-US" altLang="ko-KR" sz="11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h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</a:t>
            </a:r>
            <a:r>
              <a:rPr lang="en-US" altLang="ko-KR" sz="11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"01012341111"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~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CName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1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void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prn();</a:t>
            </a:r>
          </a:p>
          <a:p>
            <a:r>
              <a:rPr lang="en-US" altLang="ko-KR" sz="11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static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prn_cnt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endParaRPr lang="ko-KR" altLang="en-US" sz="11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CName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cnt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0;</a:t>
            </a:r>
          </a:p>
          <a:p>
            <a:endParaRPr lang="ko-KR" altLang="en-US" sz="11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1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CName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CName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1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</a:t>
            </a:r>
            <a:r>
              <a:rPr lang="en-US" altLang="ko-KR" sz="11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sz="11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</a:t>
            </a:r>
            <a:r>
              <a:rPr lang="en-US" altLang="ko-KR" sz="11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{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strcpy_s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(name, </a:t>
            </a:r>
            <a:r>
              <a:rPr lang="en-US" altLang="ko-KR" sz="11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strcpy_s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(phone, </a:t>
            </a:r>
            <a:r>
              <a:rPr lang="en-US" altLang="ko-KR" sz="11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  <a:endParaRPr lang="ko-KR" altLang="en-US" sz="11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cnt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++;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endParaRPr lang="ko-KR" altLang="en-US" sz="11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1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CName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::~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CName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{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cnt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--;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1AA7EC-5CE2-450A-8208-E4E4165066A5}"/>
              </a:ext>
            </a:extLst>
          </p:cNvPr>
          <p:cNvSpPr txBox="1"/>
          <p:nvPr/>
        </p:nvSpPr>
        <p:spPr>
          <a:xfrm>
            <a:off x="6635552" y="1684020"/>
            <a:ext cx="4718248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CName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::prn()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1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이름 </a:t>
            </a:r>
            <a:r>
              <a:rPr lang="en-US" altLang="ko-KR" sz="11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 "</a:t>
            </a:r>
            <a:r>
              <a:rPr lang="ko-KR" altLang="en-US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name </a:t>
            </a:r>
            <a:r>
              <a:rPr lang="en-US" altLang="ko-KR" sz="11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1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핸드폰 </a:t>
            </a:r>
            <a:r>
              <a:rPr lang="en-US" altLang="ko-KR" sz="11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 "</a:t>
            </a:r>
            <a:r>
              <a:rPr lang="ko-KR" altLang="en-US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phone </a:t>
            </a:r>
            <a:r>
              <a:rPr lang="en-US" altLang="ko-KR" sz="11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1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CName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prn_cnt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"\n</a:t>
            </a:r>
            <a:r>
              <a:rPr lang="ko-KR" altLang="en-US" sz="11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현재까지 등록된 인원수 </a:t>
            </a:r>
            <a:r>
              <a:rPr lang="en-US" altLang="ko-KR" sz="11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 "</a:t>
            </a:r>
            <a:r>
              <a:rPr lang="ko-KR" altLang="en-US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cnt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"\n\n"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endParaRPr lang="ko-KR" altLang="en-US" sz="11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1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1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CName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prn_cnt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endParaRPr lang="ko-KR" altLang="en-US" sz="11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1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CName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man1(</a:t>
            </a:r>
            <a:r>
              <a:rPr lang="en-US" altLang="ko-KR" sz="11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1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전철수</a:t>
            </a:r>
            <a:r>
              <a:rPr lang="en-US" altLang="ko-KR" sz="11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sz="11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"010-2222-2222"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man1.prn();</a:t>
            </a:r>
          </a:p>
          <a:p>
            <a:r>
              <a:rPr lang="en-US" altLang="ko-KR" sz="11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1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CName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man2(</a:t>
            </a:r>
            <a:r>
              <a:rPr lang="en-US" altLang="ko-KR" sz="11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1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김재민</a:t>
            </a:r>
            <a:r>
              <a:rPr lang="en-US" altLang="ko-KR" sz="11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sz="11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"010-3333-3333"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man2.prn();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man2.prn_cnt(); </a:t>
            </a:r>
            <a:r>
              <a:rPr lang="en-US" altLang="ko-KR" sz="11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1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인원수를 파악</a:t>
            </a:r>
            <a:endParaRPr lang="ko-KR" altLang="en-US" sz="11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endParaRPr lang="ko-KR" altLang="en-US" sz="11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1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CName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man3;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man3.prn();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"\n</a:t>
            </a:r>
            <a:r>
              <a:rPr lang="ko-KR" altLang="en-US" sz="11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클래스의 사이즈 </a:t>
            </a:r>
            <a:r>
              <a:rPr lang="en-US" altLang="ko-KR" sz="11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 "</a:t>
            </a:r>
            <a:r>
              <a:rPr lang="ko-KR" altLang="en-US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sizeof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1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CName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</a:t>
            </a:r>
            <a:r>
              <a:rPr lang="en-US" altLang="ko-KR" sz="11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"\n"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1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1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CName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prn_cnt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14149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ko-KR" altLang="en-US" dirty="0" err="1"/>
              <a:t>프렌드</a:t>
            </a:r>
            <a:r>
              <a:rPr lang="ko-KR" altLang="en-US" dirty="0"/>
              <a:t>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b="1" dirty="0"/>
              <a:t>일반 함수</a:t>
            </a:r>
            <a:r>
              <a:rPr lang="ko-KR" altLang="en-US" sz="1800" dirty="0"/>
              <a:t>에서는 </a:t>
            </a:r>
            <a:r>
              <a:rPr lang="en-US" altLang="ko-KR" sz="1800" b="1" dirty="0">
                <a:solidFill>
                  <a:srgbClr val="0070C0"/>
                </a:solidFill>
              </a:rPr>
              <a:t>private</a:t>
            </a:r>
            <a:r>
              <a:rPr lang="en-US" altLang="ko-KR" sz="1800" b="1" dirty="0"/>
              <a:t> </a:t>
            </a:r>
            <a:r>
              <a:rPr lang="ko-KR" altLang="en-US" sz="1800" b="1" dirty="0"/>
              <a:t>멤버를 사용</a:t>
            </a:r>
            <a:r>
              <a:rPr lang="ko-KR" altLang="en-US" sz="1800" dirty="0"/>
              <a:t>할 수 </a:t>
            </a:r>
            <a:r>
              <a:rPr lang="ko-KR" altLang="en-US" sz="1800" dirty="0">
                <a:solidFill>
                  <a:srgbClr val="0070C0"/>
                </a:solidFill>
              </a:rPr>
              <a:t>없지만</a:t>
            </a:r>
            <a:r>
              <a:rPr lang="en-US" altLang="ko-KR" sz="1800" dirty="0"/>
              <a:t>,</a:t>
            </a:r>
            <a:r>
              <a:rPr lang="ko-KR" altLang="en-US" sz="1800" dirty="0"/>
              <a:t> </a:t>
            </a:r>
            <a:endParaRPr lang="en-US" altLang="ko-KR" sz="1800" dirty="0"/>
          </a:p>
          <a:p>
            <a:r>
              <a:rPr lang="ko-KR" altLang="en-US" sz="1800" dirty="0"/>
              <a:t>굳이 사용해야 한다면 이를 허용해 주는 함수가 </a:t>
            </a:r>
            <a:r>
              <a:rPr lang="ko-KR" altLang="en-US" sz="1800" dirty="0" err="1"/>
              <a:t>프렌드</a:t>
            </a:r>
            <a:r>
              <a:rPr lang="en-US" altLang="ko-KR" sz="1800" dirty="0"/>
              <a:t>(friend) </a:t>
            </a:r>
            <a:r>
              <a:rPr lang="ko-KR" altLang="en-US" sz="1800" dirty="0"/>
              <a:t>함수다</a:t>
            </a:r>
            <a:r>
              <a:rPr lang="en-US" altLang="ko-KR" sz="1800" dirty="0"/>
              <a:t>. </a:t>
            </a:r>
          </a:p>
          <a:p>
            <a:r>
              <a:rPr lang="ko-KR" altLang="en-US" sz="1800" dirty="0" err="1"/>
              <a:t>프렌드</a:t>
            </a:r>
            <a:r>
              <a:rPr lang="ko-KR" altLang="en-US" sz="1800" dirty="0"/>
              <a:t> 함수는 데이터 은닉에 위배되므로 정말 어쩔 수 없는 예외적인 경우에만 사용해야 한다</a:t>
            </a:r>
            <a:r>
              <a:rPr lang="en-US" altLang="ko-KR" sz="1800" dirty="0"/>
              <a:t>.</a:t>
            </a:r>
          </a:p>
          <a:p>
            <a:endParaRPr lang="en-US" altLang="ko-KR" sz="1800" dirty="0"/>
          </a:p>
          <a:p>
            <a:r>
              <a:rPr lang="ko-KR" altLang="en-US" sz="1800" dirty="0"/>
              <a:t>일반 함수를 특정 클래스의 </a:t>
            </a:r>
            <a:r>
              <a:rPr lang="ko-KR" altLang="en-US" sz="1800" dirty="0" err="1"/>
              <a:t>프렌드</a:t>
            </a:r>
            <a:r>
              <a:rPr lang="ko-KR" altLang="en-US" sz="1800" dirty="0"/>
              <a:t> 함수로 만들려면 다음과 같이 선언하면 된다</a:t>
            </a:r>
            <a:r>
              <a:rPr lang="en-US" altLang="ko-KR" sz="1800" dirty="0"/>
              <a:t>.</a:t>
            </a:r>
          </a:p>
          <a:p>
            <a:pPr marL="457200" lvl="1" indent="0">
              <a:buNone/>
            </a:pPr>
            <a:r>
              <a:rPr lang="en-US" altLang="ko-KR" sz="1600" dirty="0">
                <a:solidFill>
                  <a:srgbClr val="0000FF"/>
                </a:solidFill>
              </a:rPr>
              <a:t>friend</a:t>
            </a:r>
            <a:r>
              <a:rPr lang="en-US" altLang="ko-KR" sz="1600" dirty="0"/>
              <a:t> </a:t>
            </a:r>
            <a:r>
              <a:rPr lang="ko-KR" altLang="en-US" sz="1600" dirty="0" err="1"/>
              <a:t>프렌드</a:t>
            </a:r>
            <a:r>
              <a:rPr lang="en-US" altLang="ko-KR" sz="1600" dirty="0"/>
              <a:t>_</a:t>
            </a:r>
            <a:r>
              <a:rPr lang="ko-KR" altLang="en-US" sz="1600" dirty="0" err="1"/>
              <a:t>함수명</a:t>
            </a:r>
            <a:r>
              <a:rPr lang="en-US" altLang="ko-KR" sz="1600" dirty="0"/>
              <a:t>( </a:t>
            </a:r>
            <a:r>
              <a:rPr lang="ko-KR" altLang="en-US" sz="1600" dirty="0"/>
              <a:t>매개변수 리스트 </a:t>
            </a:r>
            <a:r>
              <a:rPr lang="en-US" altLang="ko-KR" sz="1600" dirty="0"/>
              <a:t>);</a:t>
            </a:r>
          </a:p>
          <a:p>
            <a:pPr lvl="1"/>
            <a:endParaRPr lang="en-US" altLang="ko-KR" sz="1600" dirty="0"/>
          </a:p>
          <a:p>
            <a:r>
              <a:rPr lang="ko-KR" altLang="en-US" sz="1800" dirty="0" err="1"/>
              <a:t>프렌드</a:t>
            </a:r>
            <a:r>
              <a:rPr lang="ko-KR" altLang="en-US" sz="1800" dirty="0"/>
              <a:t> 함수가 되기 위한 조건은 다음과 같다</a:t>
            </a:r>
            <a:r>
              <a:rPr lang="en-US" altLang="ko-KR" sz="1800" dirty="0"/>
              <a:t>.</a:t>
            </a:r>
          </a:p>
          <a:p>
            <a:pPr lvl="1">
              <a:buFont typeface="Wingdings" pitchFamily="2" charset="2"/>
              <a:buChar char=""/>
            </a:pPr>
            <a:r>
              <a:rPr lang="ko-KR" altLang="en-US" sz="1600" dirty="0"/>
              <a:t>접근하고자 하는 </a:t>
            </a:r>
            <a:r>
              <a:rPr lang="en-US" altLang="ko-KR" sz="1600" dirty="0"/>
              <a:t>private </a:t>
            </a:r>
            <a:r>
              <a:rPr lang="ko-KR" altLang="en-US" sz="1600" dirty="0"/>
              <a:t>멤버를 갖는 </a:t>
            </a:r>
            <a:r>
              <a:rPr lang="ko-KR" altLang="en-US" sz="1600" b="1" dirty="0"/>
              <a:t>클래스 내부에</a:t>
            </a:r>
            <a:r>
              <a:rPr lang="ko-KR" altLang="en-US" sz="1600" dirty="0"/>
              <a:t> </a:t>
            </a:r>
            <a:r>
              <a:rPr lang="ko-KR" altLang="en-US" sz="1600" dirty="0" err="1"/>
              <a:t>프렌드</a:t>
            </a:r>
            <a:r>
              <a:rPr lang="ko-KR" altLang="en-US" sz="1600" dirty="0"/>
              <a:t> 함수를 선언한다</a:t>
            </a:r>
            <a:r>
              <a:rPr lang="en-US" altLang="ko-KR" sz="1600" dirty="0"/>
              <a:t>.</a:t>
            </a:r>
          </a:p>
          <a:p>
            <a:pPr lvl="1">
              <a:buFont typeface="Wingdings" pitchFamily="2" charset="2"/>
              <a:buChar char=""/>
            </a:pPr>
            <a:r>
              <a:rPr lang="ko-KR" altLang="en-US" sz="1600" dirty="0" err="1"/>
              <a:t>프렌드</a:t>
            </a:r>
            <a:r>
              <a:rPr lang="ko-KR" altLang="en-US" sz="1600" dirty="0"/>
              <a:t> 함수를 선언할 때는 </a:t>
            </a:r>
            <a:r>
              <a:rPr lang="ko-KR" altLang="en-US" sz="1600" b="1" dirty="0" err="1"/>
              <a:t>함수명</a:t>
            </a:r>
            <a:r>
              <a:rPr lang="ko-KR" altLang="en-US" sz="1600" b="1" dirty="0"/>
              <a:t> 앞에 </a:t>
            </a:r>
            <a:r>
              <a:rPr lang="ko-KR" altLang="en-US" sz="1600" dirty="0" err="1"/>
              <a:t>예약어</a:t>
            </a:r>
            <a:r>
              <a:rPr lang="ko-KR" altLang="en-US" sz="1600" dirty="0"/>
              <a:t> </a:t>
            </a:r>
            <a:r>
              <a:rPr lang="en-US" altLang="ko-KR" sz="1600" dirty="0"/>
              <a:t>friend</a:t>
            </a:r>
            <a:r>
              <a:rPr lang="ko-KR" altLang="en-US" sz="1600" dirty="0"/>
              <a:t>를 붙인다</a:t>
            </a:r>
            <a:r>
              <a:rPr lang="en-US" altLang="ko-KR" sz="1600" dirty="0"/>
              <a:t>.</a:t>
            </a:r>
            <a:endParaRPr lang="ko-KR" altLang="en-US" sz="1600" dirty="0"/>
          </a:p>
          <a:p>
            <a:endParaRPr lang="ko-KR" altLang="en-US" sz="1800" dirty="0"/>
          </a:p>
          <a:p>
            <a:endParaRPr lang="en-US" altLang="ko-KR" sz="1800" dirty="0"/>
          </a:p>
          <a:p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221911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객체를 다루는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두 객체의 합을 구하는 함수 구현하기</a:t>
            </a:r>
            <a:endParaRPr lang="en-US" altLang="ko-KR" sz="1800" dirty="0"/>
          </a:p>
          <a:p>
            <a:endParaRPr lang="ko-KR" altLang="en-US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09BC04-3B2B-4FB1-958A-E3E25A182E07}"/>
              </a:ext>
            </a:extLst>
          </p:cNvPr>
          <p:cNvSpPr txBox="1"/>
          <p:nvPr/>
        </p:nvSpPr>
        <p:spPr>
          <a:xfrm>
            <a:off x="1031847" y="1702964"/>
            <a:ext cx="6467912" cy="440120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CTest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num = 0;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pt-BR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Set(</a:t>
            </a:r>
            <a:r>
              <a:rPr lang="pt-BR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pt-BR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{ num = </a:t>
            </a:r>
            <a:r>
              <a:rPr lang="pt-BR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CTest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Sum(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CTest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obj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                        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4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맴버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함수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friend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CTest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Sum2(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CTest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obj1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CTest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obj2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   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//friend 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선언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fr-FR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CTest</a:t>
            </a:r>
            <a:r>
              <a:rPr lang="fr-F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fr-FR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CTest</a:t>
            </a:r>
            <a:r>
              <a:rPr lang="fr-F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::Sum(</a:t>
            </a:r>
            <a:r>
              <a:rPr lang="fr-FR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CTest</a:t>
            </a:r>
            <a:r>
              <a:rPr lang="fr-F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fr-FR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obj</a:t>
            </a:r>
            <a:r>
              <a:rPr lang="fr-F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                       </a:t>
            </a:r>
            <a:r>
              <a:rPr lang="fr-FR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//CTest::</a:t>
            </a:r>
            <a:endParaRPr lang="fr-FR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CTest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res;</a:t>
            </a:r>
          </a:p>
          <a:p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res.num = </a:t>
            </a:r>
            <a:r>
              <a:rPr lang="pt-BR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this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-&gt;num + </a:t>
            </a:r>
            <a:r>
              <a:rPr lang="pt-BR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obj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.num;    </a:t>
            </a:r>
            <a:r>
              <a:rPr lang="pt-BR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return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res;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CTest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Sum2(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CTest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obj1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CTest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obj2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               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일반함수 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CTest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res;</a:t>
            </a:r>
          </a:p>
          <a:p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res.num = </a:t>
            </a:r>
            <a:r>
              <a:rPr lang="pt-BR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obj1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.num + </a:t>
            </a:r>
            <a:r>
              <a:rPr lang="pt-BR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obj2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.num;    </a:t>
            </a:r>
            <a:r>
              <a:rPr lang="pt-BR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return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res;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AD0E51-2FC4-4B77-B074-2DFC80F56141}"/>
              </a:ext>
            </a:extLst>
          </p:cNvPr>
          <p:cNvSpPr txBox="1"/>
          <p:nvPr/>
        </p:nvSpPr>
        <p:spPr>
          <a:xfrm>
            <a:off x="7725560" y="1702964"/>
            <a:ext cx="3628240" cy="280076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fr-FR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fr-FR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CTest</a:t>
            </a:r>
            <a:r>
              <a:rPr lang="fr-FR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x; x.Set(1);</a:t>
            </a:r>
          </a:p>
          <a:p>
            <a:r>
              <a:rPr lang="fr-FR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fr-FR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CTest</a:t>
            </a:r>
            <a:r>
              <a:rPr lang="fr-FR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y; x.Set(2);  </a:t>
            </a:r>
          </a:p>
          <a:p>
            <a:r>
              <a:rPr lang="fr-FR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pl-PL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CTest</a:t>
            </a:r>
            <a:r>
              <a:rPr lang="pl-PL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z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1</a:t>
            </a:r>
            <a:r>
              <a:rPr lang="pl-PL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x.Sum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(y);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pl-PL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pl-PL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CTest</a:t>
            </a:r>
            <a:r>
              <a:rPr lang="pl-PL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z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2</a:t>
            </a:r>
            <a:r>
              <a:rPr lang="pl-PL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Sum2(x, y);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endParaRPr lang="pl-PL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return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0;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708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선행처리</a:t>
            </a:r>
            <a:r>
              <a:rPr lang="en-US" altLang="ko-KR" dirty="0"/>
              <a:t>, </a:t>
            </a:r>
            <a:r>
              <a:rPr lang="ko-KR" altLang="en-US" dirty="0" err="1"/>
              <a:t>후행처리</a:t>
            </a:r>
            <a:r>
              <a:rPr lang="ko-KR" altLang="en-US" dirty="0"/>
              <a:t> </a:t>
            </a:r>
            <a:r>
              <a:rPr lang="ko-KR" altLang="en-US" dirty="0" err="1"/>
              <a:t>맴버</a:t>
            </a:r>
            <a:r>
              <a:rPr lang="ko-KR" altLang="en-US" dirty="0"/>
              <a:t>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6045843" y="1305780"/>
            <a:ext cx="5307957" cy="1815882"/>
          </a:xfrm>
          <a:prstGeom prst="rect">
            <a:avLst/>
          </a:prstGeom>
          <a:ln w="3175"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 = 10, b = 10, c;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c = ++a;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 "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c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14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선행처리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c = b++;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b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 "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14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후행처리</a:t>
            </a:r>
            <a:endParaRPr lang="en-US" altLang="ko-KR" sz="1400" dirty="0">
              <a:solidFill>
                <a:srgbClr val="008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838200" y="1235676"/>
            <a:ext cx="4854615" cy="440120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0;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{}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: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{ }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Show() {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}</a:t>
            </a:r>
          </a:p>
          <a:p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AddOnePrefix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++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this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-&gt;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return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*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this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}</a:t>
            </a:r>
          </a:p>
          <a:p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AddOnePostfix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{</a:t>
            </a:r>
          </a:p>
          <a:p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temp;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temp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=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*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this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++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this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-&gt;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return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temp;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6045842" y="3672316"/>
            <a:ext cx="5307957" cy="181588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x(10), y(10);</a:t>
            </a:r>
          </a:p>
          <a:p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z;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z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=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x.AddOnePrefix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z.Show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z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=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y.AddOnePostfix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z.Show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return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0;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175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선행처리</a:t>
            </a:r>
            <a:r>
              <a:rPr lang="en-US" altLang="ko-KR" dirty="0"/>
              <a:t>, </a:t>
            </a:r>
            <a:r>
              <a:rPr lang="ko-KR" altLang="en-US" dirty="0" err="1"/>
              <a:t>후행처리</a:t>
            </a:r>
            <a:r>
              <a:rPr lang="ko-KR" altLang="en-US" dirty="0"/>
              <a:t> </a:t>
            </a:r>
            <a:r>
              <a:rPr lang="ko-KR" altLang="en-US" dirty="0" err="1"/>
              <a:t>프랜즈</a:t>
            </a:r>
            <a:r>
              <a:rPr lang="ko-KR" altLang="en-US" dirty="0"/>
              <a:t>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838200" y="1235676"/>
            <a:ext cx="525780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0;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{}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: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{ }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Show() {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}</a:t>
            </a:r>
          </a:p>
          <a:p>
            <a:endParaRPr lang="en-US" altLang="ko-KR" sz="1400" dirty="0">
              <a:solidFill>
                <a:srgbClr val="2B91AF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friend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&amp;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AddOnePrefix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latin typeface="Consolas" panose="020B0609020204030204" pitchFamily="49" charset="0"/>
                <a:ea typeface="돋움체" panose="020B0609000101010101" pitchFamily="49" charset="-127"/>
              </a:rPr>
              <a:t>&amp;</a:t>
            </a:r>
            <a:r>
              <a:rPr lang="en-US" altLang="ko-KR" sz="1400" dirty="0" err="1">
                <a:latin typeface="Consolas" panose="020B0609020204030204" pitchFamily="49" charset="0"/>
                <a:ea typeface="돋움체" panose="020B0609000101010101" pitchFamily="49" charset="-127"/>
              </a:rPr>
              <a:t>obj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friend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AddOnePostfix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latin typeface="Consolas" panose="020B0609020204030204" pitchFamily="49" charset="0"/>
                <a:ea typeface="돋움체" panose="020B0609000101010101" pitchFamily="49" charset="-127"/>
              </a:rPr>
              <a:t>&amp;</a:t>
            </a:r>
            <a:r>
              <a:rPr lang="en-US" altLang="ko-KR" sz="1400" dirty="0" err="1">
                <a:latin typeface="Consolas" panose="020B0609020204030204" pitchFamily="49" charset="0"/>
                <a:ea typeface="돋움체" panose="020B0609000101010101" pitchFamily="49" charset="-127"/>
              </a:rPr>
              <a:t>obj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AddOnePrefix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sz="14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obj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++</a:t>
            </a:r>
            <a:r>
              <a:rPr lang="en-US" altLang="ko-KR" sz="14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obj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.num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return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obj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AddOnePostfix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sz="14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obj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temp; temp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=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obj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++</a:t>
            </a:r>
            <a:r>
              <a:rPr lang="en-US" altLang="ko-KR" sz="14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obj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.num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return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temp;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6358361" y="1351553"/>
            <a:ext cx="4837253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x(10), y(10);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z;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"---- </a:t>
            </a:r>
            <a:r>
              <a:rPr lang="ko-KR" altLang="en-US" sz="14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선행처리</a:t>
            </a:r>
            <a:r>
              <a:rPr lang="ko-KR" altLang="en-US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----\n"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z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=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AddOnePrefix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(x);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z.Show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x.Show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"---- </a:t>
            </a:r>
            <a:r>
              <a:rPr lang="ko-KR" altLang="en-US" sz="14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후행처리</a:t>
            </a:r>
            <a:r>
              <a:rPr lang="ko-KR" altLang="en-US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----\n"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z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=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AddOnePostfix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(y);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z.Show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y.Show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073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 err="1">
                <a:latin typeface="+mj-ea"/>
              </a:rPr>
              <a:t>프렌드</a:t>
            </a:r>
            <a:r>
              <a:rPr lang="ko-KR" altLang="en-US" sz="1800" dirty="0">
                <a:latin typeface="+mj-ea"/>
              </a:rPr>
              <a:t> 함수 정의하기</a:t>
            </a:r>
            <a:endParaRPr lang="en-US" altLang="ko-KR" sz="1800" dirty="0">
              <a:latin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3D7714-3145-4496-A6C7-BCA5CFDD3CC6}"/>
              </a:ext>
            </a:extLst>
          </p:cNvPr>
          <p:cNvSpPr txBox="1"/>
          <p:nvPr/>
        </p:nvSpPr>
        <p:spPr>
          <a:xfrm>
            <a:off x="989901" y="1743075"/>
            <a:ext cx="578001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#include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&lt;iostream&gt;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using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namespace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std; 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private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real 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image;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Complex(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= 0,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= 0); </a:t>
            </a:r>
          </a:p>
          <a:p>
            <a:r>
              <a:rPr lang="en-US" altLang="ko-KR" sz="1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void </a:t>
            </a:r>
            <a:r>
              <a:rPr lang="en-US" altLang="ko-KR" sz="14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ShowComplex</a:t>
            </a:r>
            <a:r>
              <a:rPr lang="en-US" altLang="ko-KR" sz="1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const; </a:t>
            </a:r>
          </a:p>
          <a:p>
            <a:r>
              <a:rPr lang="ko-KR" altLang="en-US" sz="1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</a:p>
          <a:p>
            <a:r>
              <a:rPr lang="en-US" altLang="ko-KR" sz="1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//friend void prn(Complex *</a:t>
            </a:r>
            <a:r>
              <a:rPr lang="en-US" altLang="ko-KR" sz="14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pCom</a:t>
            </a:r>
            <a:r>
              <a:rPr lang="en-US" altLang="ko-KR" sz="1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 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Complex::Complex( </a:t>
            </a:r>
            <a:r>
              <a:rPr lang="pt-BR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pt-BR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pt-BR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pt-BR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: real(</a:t>
            </a:r>
            <a:r>
              <a:rPr lang="pt-BR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), image(</a:t>
            </a:r>
            <a:r>
              <a:rPr lang="pt-BR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} 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 Complex::</a:t>
            </a:r>
            <a:r>
              <a:rPr lang="en-US" altLang="ko-KR" sz="14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ShowComplex</a:t>
            </a:r>
            <a:r>
              <a:rPr lang="en-US" altLang="ko-KR" sz="1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const </a:t>
            </a:r>
          </a:p>
          <a:p>
            <a:r>
              <a:rPr lang="en-US" altLang="ko-KR" sz="1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</a:t>
            </a:r>
          </a:p>
          <a:p>
            <a:r>
              <a:rPr lang="en-US" altLang="ko-KR" sz="1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4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&lt;&lt;"( " &lt;&lt;real &lt;&lt;" + " &lt;&lt;image &lt;&lt; "</a:t>
            </a:r>
            <a:r>
              <a:rPr lang="en-US" altLang="ko-KR" sz="14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</a:t>
            </a:r>
            <a:r>
              <a:rPr lang="en-US" altLang="ko-KR" sz="1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)" &lt;&lt;</a:t>
            </a:r>
            <a:r>
              <a:rPr lang="en-US" altLang="ko-KR" sz="14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; </a:t>
            </a:r>
          </a:p>
          <a:p>
            <a:r>
              <a:rPr lang="en-US" altLang="ko-KR" sz="1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</a:t>
            </a:r>
            <a:r>
              <a:rPr lang="ko-KR" altLang="en-US" sz="1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endParaRPr lang="ko-KR" altLang="en-US" sz="14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2ADEB8-C696-47C9-8931-8A303E0E0C2B}"/>
              </a:ext>
            </a:extLst>
          </p:cNvPr>
          <p:cNvSpPr txBox="1"/>
          <p:nvPr/>
        </p:nvSpPr>
        <p:spPr>
          <a:xfrm>
            <a:off x="6921617" y="1743075"/>
            <a:ext cx="443218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 prn(Complex *</a:t>
            </a:r>
            <a:r>
              <a:rPr lang="en-US" altLang="ko-KR" sz="14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pCom</a:t>
            </a:r>
            <a:r>
              <a:rPr lang="en-US" altLang="ko-KR" sz="1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) </a:t>
            </a:r>
          </a:p>
          <a:p>
            <a:r>
              <a:rPr lang="en-US" altLang="ko-KR" sz="1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</a:t>
            </a:r>
          </a:p>
          <a:p>
            <a:r>
              <a:rPr lang="nn-NO" altLang="ko-KR" sz="1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for(int i=0; i&lt;4; i++) </a:t>
            </a:r>
          </a:p>
          <a:p>
            <a:r>
              <a:rPr lang="pt-BR" altLang="ko-KR" sz="1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pCom[i].</a:t>
            </a:r>
            <a:r>
              <a:rPr lang="en-US" altLang="ko-KR" sz="14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ShowComplex</a:t>
            </a:r>
            <a:r>
              <a:rPr lang="en-US" altLang="ko-KR" sz="1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</a:t>
            </a:r>
            <a:r>
              <a:rPr lang="pt-BR" altLang="ko-KR" sz="1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</a:p>
          <a:p>
            <a:r>
              <a:rPr lang="en-US" altLang="ko-KR" sz="1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arr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[4] = {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( 2, 4),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( 4, 8),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( 8, 16),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(16, 32), 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 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prn(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arr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  </a:t>
            </a:r>
            <a:r>
              <a:rPr lang="en-US" altLang="ko-KR" sz="1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4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프렌드</a:t>
            </a:r>
            <a:r>
              <a:rPr lang="ko-KR" altLang="en-US" sz="1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함수로 정의하세요</a:t>
            </a:r>
            <a:endParaRPr lang="en-US" altLang="ko-KR" sz="14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387608"/>
      </p:ext>
    </p:extLst>
  </p:cSld>
  <p:clrMapOvr>
    <a:masterClrMapping/>
  </p:clrMapOvr>
</p:sld>
</file>

<file path=ppt/theme/theme1.xml><?xml version="1.0" encoding="utf-8"?>
<a:theme xmlns:a="http://schemas.openxmlformats.org/drawingml/2006/main" name="kdw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dw" id="{F28DBF1B-01D0-4FBC-BB1B-5659CB34DC19}" vid="{4A242179-4008-4EAD-92AB-026544F4F03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kdw</Template>
  <TotalTime>2144</TotalTime>
  <Words>1978</Words>
  <Application>Microsoft Office PowerPoint</Application>
  <PresentationFormat>와이드스크린</PresentationFormat>
  <Paragraphs>375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1" baseType="lpstr">
      <vt:lpstr>HY헤드라인M</vt:lpstr>
      <vt:lpstr>맑은 고딕</vt:lpstr>
      <vt:lpstr>Arial</vt:lpstr>
      <vt:lpstr>Consolas</vt:lpstr>
      <vt:lpstr>Wingdings</vt:lpstr>
      <vt:lpstr>kdw</vt:lpstr>
      <vt:lpstr>C++ 객체의 활용</vt:lpstr>
      <vt:lpstr>학습목표</vt:lpstr>
      <vt:lpstr>정적 맴버변수와 정적 맴버함수</vt:lpstr>
      <vt:lpstr>정적 맴버변수</vt:lpstr>
      <vt:lpstr>정적 맴버함수</vt:lpstr>
      <vt:lpstr>정적 맴버의 사용</vt:lpstr>
      <vt:lpstr>연습</vt:lpstr>
      <vt:lpstr>예제</vt:lpstr>
      <vt:lpstr>예제</vt:lpstr>
      <vt:lpstr>예제</vt:lpstr>
      <vt:lpstr>프렌드 함수</vt:lpstr>
      <vt:lpstr>객체를 다루는 함수</vt:lpstr>
      <vt:lpstr>선행처리, 후행처리 맴버 함수</vt:lpstr>
      <vt:lpstr>선행처리, 후행처리 프랜즈 함수</vt:lpstr>
      <vt:lpstr>예제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C언어와 프로그래밍</dc:title>
  <dc:creator>kdw</dc:creator>
  <cp:lastModifiedBy>kdw</cp:lastModifiedBy>
  <cp:revision>421</cp:revision>
  <dcterms:created xsi:type="dcterms:W3CDTF">2020-02-16T05:20:05Z</dcterms:created>
  <dcterms:modified xsi:type="dcterms:W3CDTF">2024-05-14T02:32:09Z</dcterms:modified>
</cp:coreProperties>
</file>