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256" r:id="rId2"/>
    <p:sldId id="261" r:id="rId3"/>
    <p:sldId id="257" r:id="rId4"/>
    <p:sldId id="258" r:id="rId5"/>
    <p:sldId id="259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73" r:id="rId14"/>
    <p:sldId id="270" r:id="rId15"/>
    <p:sldId id="274" r:id="rId16"/>
    <p:sldId id="271" r:id="rId17"/>
    <p:sldId id="277" r:id="rId18"/>
    <p:sldId id="279" r:id="rId19"/>
    <p:sldId id="268" r:id="rId20"/>
    <p:sldId id="269" r:id="rId21"/>
    <p:sldId id="280" r:id="rId22"/>
    <p:sldId id="272" r:id="rId23"/>
    <p:sldId id="275" r:id="rId24"/>
    <p:sldId id="276" r:id="rId25"/>
    <p:sldId id="281" r:id="rId26"/>
    <p:sldId id="278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118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080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729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73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00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672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41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343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758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5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81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64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클래스와 객체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객체지향 프로그래밍</a:t>
            </a:r>
            <a:endParaRPr lang="en-US" altLang="ko-KR" dirty="0"/>
          </a:p>
          <a:p>
            <a:r>
              <a:rPr lang="ko-KR" altLang="en-US" dirty="0"/>
              <a:t>클래스를 정의하고 객체를 생성하기</a:t>
            </a:r>
            <a:endParaRPr lang="en-US" altLang="ko-KR" dirty="0"/>
          </a:p>
          <a:p>
            <a:r>
              <a:rPr lang="ko-KR" altLang="en-US" dirty="0"/>
              <a:t>클래스의 </a:t>
            </a:r>
            <a:r>
              <a:rPr lang="ko-KR" altLang="en-US" dirty="0" err="1"/>
              <a:t>맴버변수와</a:t>
            </a:r>
            <a:r>
              <a:rPr lang="ko-KR" altLang="en-US" dirty="0"/>
              <a:t> </a:t>
            </a:r>
            <a:r>
              <a:rPr lang="ko-KR" altLang="en-US" dirty="0" err="1"/>
              <a:t>맴버함수</a:t>
            </a:r>
            <a:endParaRPr lang="en-US" altLang="ko-KR" dirty="0"/>
          </a:p>
          <a:p>
            <a:r>
              <a:rPr lang="ko-KR" altLang="en-US" dirty="0"/>
              <a:t>캡슐화를 위한 접근지정자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맴버</a:t>
            </a:r>
            <a:r>
              <a:rPr lang="ko-KR" altLang="en-US" dirty="0"/>
              <a:t> 함수 와 </a:t>
            </a:r>
            <a:r>
              <a:rPr lang="en-US" altLang="ko-KR" dirty="0"/>
              <a:t>inline</a:t>
            </a:r>
          </a:p>
          <a:p>
            <a:r>
              <a:rPr lang="en-US" altLang="ko-KR" dirty="0"/>
              <a:t>Const</a:t>
            </a:r>
            <a:r>
              <a:rPr lang="ko-KR" altLang="en-US" dirty="0"/>
              <a:t> 함수</a:t>
            </a:r>
          </a:p>
        </p:txBody>
      </p:sp>
    </p:spTree>
    <p:extLst>
      <p:ext uri="{BB962C8B-B14F-4D97-AF65-F5344CB8AC3E}">
        <p14:creationId xmlns:p14="http://schemas.microsoft.com/office/powerpoint/2010/main" val="356429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객체지향 프로그래밍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z="1800" dirty="0"/>
              <a:t>클래스</a:t>
            </a:r>
            <a:r>
              <a:rPr lang="en-US" altLang="ko-KR" sz="1800" dirty="0"/>
              <a:t>(class) = </a:t>
            </a:r>
            <a:r>
              <a:rPr lang="ko-KR" altLang="en-US" sz="1800" dirty="0"/>
              <a:t>개념</a:t>
            </a:r>
            <a:r>
              <a:rPr lang="en-US" altLang="ko-KR" sz="1800" dirty="0"/>
              <a:t>(concept) = </a:t>
            </a:r>
            <a:r>
              <a:rPr lang="ko-KR" altLang="en-US" sz="1800" dirty="0"/>
              <a:t>타입</a:t>
            </a:r>
            <a:r>
              <a:rPr lang="en-US" altLang="ko-KR" sz="1800" dirty="0"/>
              <a:t>(type)</a:t>
            </a:r>
          </a:p>
          <a:p>
            <a:r>
              <a:rPr lang="ko-KR" altLang="en-US" sz="1800" dirty="0"/>
              <a:t>객체</a:t>
            </a:r>
            <a:r>
              <a:rPr lang="en-US" altLang="ko-KR" sz="1800" dirty="0"/>
              <a:t>(object) = </a:t>
            </a:r>
            <a:r>
              <a:rPr lang="ko-KR" altLang="en-US" sz="1800" dirty="0"/>
              <a:t>실체</a:t>
            </a:r>
            <a:r>
              <a:rPr lang="en-US" altLang="ko-KR" sz="1800" dirty="0"/>
              <a:t>(instance) = </a:t>
            </a:r>
            <a:r>
              <a:rPr lang="ko-KR" altLang="en-US" sz="1800" dirty="0"/>
              <a:t>변수</a:t>
            </a:r>
            <a:r>
              <a:rPr lang="en-US" altLang="ko-KR" sz="1800" dirty="0"/>
              <a:t>(variable)</a:t>
            </a:r>
          </a:p>
          <a:p>
            <a:endParaRPr lang="en-US" altLang="ko-KR" sz="1800" dirty="0"/>
          </a:p>
          <a:p>
            <a:r>
              <a:rPr lang="ko-KR" altLang="en-US" sz="1800" dirty="0"/>
              <a:t>객체지향 언어의 </a:t>
            </a:r>
            <a:r>
              <a:rPr lang="en-US" altLang="ko-KR" sz="1800" dirty="0"/>
              <a:t>3</a:t>
            </a:r>
            <a:r>
              <a:rPr lang="ko-KR" altLang="en-US" sz="1800" dirty="0"/>
              <a:t>가지 특성</a:t>
            </a:r>
            <a:endParaRPr lang="en-US" altLang="ko-KR" sz="1800" dirty="0"/>
          </a:p>
          <a:p>
            <a:pPr lvl="1"/>
            <a:r>
              <a:rPr lang="ko-KR" altLang="en-US" sz="1600" b="1" dirty="0"/>
              <a:t>캡슐화</a:t>
            </a:r>
            <a:r>
              <a:rPr lang="en-US" altLang="ko-KR" sz="1600" dirty="0"/>
              <a:t> : </a:t>
            </a:r>
            <a:r>
              <a:rPr lang="ko-KR" altLang="ko-KR" sz="1600" b="1" dirty="0"/>
              <a:t>코드와 코드가 조작할 데이터를 결합</a:t>
            </a:r>
            <a:r>
              <a:rPr lang="ko-KR" altLang="ko-KR" sz="1600" dirty="0"/>
              <a:t>하여</a:t>
            </a:r>
            <a:r>
              <a:rPr lang="en-US" altLang="ko-KR" sz="1600" dirty="0"/>
              <a:t>, </a:t>
            </a:r>
            <a:r>
              <a:rPr lang="ko-KR" altLang="ko-KR" sz="1600" dirty="0"/>
              <a:t>외부에서의 </a:t>
            </a:r>
            <a:r>
              <a:rPr lang="ko-KR" altLang="en-US" sz="1600" dirty="0"/>
              <a:t>오용</a:t>
            </a:r>
            <a:r>
              <a:rPr lang="ko-KR" altLang="ko-KR" sz="1600" dirty="0"/>
              <a:t>을 막는 프로그래밍 메커니즘</a:t>
            </a:r>
            <a:endParaRPr lang="en-US" altLang="ko-KR" sz="1600" dirty="0"/>
          </a:p>
          <a:p>
            <a:pPr lvl="1"/>
            <a:r>
              <a:rPr lang="ko-KR" altLang="en-US" sz="1600" b="1" dirty="0" err="1"/>
              <a:t>상속성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ko-KR" sz="1600" dirty="0"/>
              <a:t>한 객체가 </a:t>
            </a:r>
            <a:r>
              <a:rPr lang="ko-KR" altLang="ko-KR" sz="1600" b="1" dirty="0"/>
              <a:t>다른 객체의 특성</a:t>
            </a:r>
            <a:r>
              <a:rPr lang="ko-KR" altLang="ko-KR" sz="1600" dirty="0"/>
              <a:t>을 획득할 수 있는 방법</a:t>
            </a:r>
            <a:endParaRPr lang="en-US" altLang="ko-KR" sz="1600" dirty="0"/>
          </a:p>
          <a:p>
            <a:pPr lvl="1"/>
            <a:r>
              <a:rPr lang="ko-KR" altLang="en-US" sz="1600" b="1" dirty="0" err="1"/>
              <a:t>다형성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ko-KR" sz="1600" dirty="0"/>
              <a:t> </a:t>
            </a:r>
            <a:r>
              <a:rPr lang="ko-KR" altLang="ko-KR" sz="1600" b="1" dirty="0"/>
              <a:t>하나의 인터페이스</a:t>
            </a:r>
            <a:r>
              <a:rPr lang="ko-KR" altLang="ko-KR" sz="1600" dirty="0"/>
              <a:t>를 통해 일반적인 클래스의 행위들을 접근할 수 있는 성질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 err="1"/>
              <a:t>캡슐화와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정보은닉</a:t>
            </a:r>
            <a:endParaRPr lang="en-US" altLang="ko-KR" sz="1800" dirty="0"/>
          </a:p>
          <a:p>
            <a:pPr lvl="1"/>
            <a:r>
              <a:rPr lang="ko-KR" altLang="en-US" sz="1600" dirty="0" err="1"/>
              <a:t>캡슐화란</a:t>
            </a:r>
            <a:r>
              <a:rPr lang="ko-KR" altLang="en-US" sz="1600" dirty="0"/>
              <a:t> 하나의 개념으로 데이터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자료형</a:t>
            </a:r>
            <a:r>
              <a:rPr lang="en-US" altLang="ko-KR" sz="1600" dirty="0"/>
              <a:t>)</a:t>
            </a:r>
            <a:r>
              <a:rPr lang="ko-KR" altLang="en-US" sz="1600" dirty="0"/>
              <a:t>와 기능</a:t>
            </a:r>
            <a:r>
              <a:rPr lang="en-US" altLang="ko-KR" sz="1600" dirty="0"/>
              <a:t>(</a:t>
            </a:r>
            <a:r>
              <a:rPr lang="ko-KR" altLang="en-US" sz="1600" dirty="0"/>
              <a:t>함수</a:t>
            </a:r>
            <a:r>
              <a:rPr lang="en-US" altLang="ko-KR" sz="1600" dirty="0"/>
              <a:t>)</a:t>
            </a:r>
            <a:r>
              <a:rPr lang="ko-KR" altLang="en-US" sz="1600" dirty="0"/>
              <a:t>을 묶는 것 </a:t>
            </a:r>
            <a:r>
              <a:rPr lang="en-US" altLang="ko-KR" sz="1600" dirty="0"/>
              <a:t>( </a:t>
            </a:r>
            <a:r>
              <a:rPr lang="ko-KR" altLang="en-US" sz="1600" dirty="0"/>
              <a:t>추상화 </a:t>
            </a:r>
            <a:r>
              <a:rPr lang="en-US" altLang="ko-KR" sz="1600" dirty="0"/>
              <a:t>)</a:t>
            </a:r>
          </a:p>
          <a:p>
            <a:pPr lvl="1"/>
            <a:r>
              <a:rPr lang="ko-KR" altLang="en-US" sz="1600" dirty="0"/>
              <a:t>캡슐화를 완성하기 위해 각 데이터와 기능 중에 어떤 데이터를 숨길 것인지를 결정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r>
              <a:rPr lang="ko-KR" altLang="en-US" sz="1600" dirty="0"/>
              <a:t>캡슐화를 위해 </a:t>
            </a:r>
            <a:r>
              <a:rPr lang="ko-KR" altLang="en-US" sz="1600" b="1" dirty="0"/>
              <a:t>클래스</a:t>
            </a:r>
            <a:r>
              <a:rPr lang="ko-KR" altLang="en-US" sz="1600" dirty="0"/>
              <a:t>를 사용 </a:t>
            </a:r>
            <a:r>
              <a:rPr lang="en-US" altLang="ko-KR" sz="1600" dirty="0"/>
              <a:t>( </a:t>
            </a:r>
            <a:r>
              <a:rPr lang="ko-KR" altLang="en-US" sz="1600" dirty="0"/>
              <a:t>변수 </a:t>
            </a:r>
            <a:r>
              <a:rPr lang="en-US" altLang="ko-KR" sz="1600" dirty="0"/>
              <a:t>+ </a:t>
            </a:r>
            <a:r>
              <a:rPr lang="ko-KR" altLang="en-US" sz="1600" dirty="0"/>
              <a:t>함수 </a:t>
            </a:r>
            <a:r>
              <a:rPr lang="en-US" altLang="ko-KR" sz="1600" dirty="0"/>
              <a:t>-&gt; </a:t>
            </a:r>
            <a:r>
              <a:rPr lang="ko-KR" altLang="en-US" sz="1600" dirty="0" err="1"/>
              <a:t>맴버</a:t>
            </a:r>
            <a:r>
              <a:rPr lang="ko-KR" altLang="en-US" sz="1600" dirty="0"/>
              <a:t> </a:t>
            </a:r>
            <a:r>
              <a:rPr lang="en-US" altLang="ko-KR" sz="1600" dirty="0"/>
              <a:t>)</a:t>
            </a:r>
          </a:p>
          <a:p>
            <a:pPr lvl="1"/>
            <a:r>
              <a:rPr lang="ko-KR" altLang="en-US" sz="1600" dirty="0"/>
              <a:t>정보 은닉을 위해 </a:t>
            </a:r>
            <a:r>
              <a:rPr lang="ko-KR" altLang="en-US" sz="1600" b="1" dirty="0"/>
              <a:t>접근제어자</a:t>
            </a:r>
            <a:r>
              <a:rPr lang="ko-KR" altLang="en-US" sz="1600" dirty="0"/>
              <a:t>를 사용 </a:t>
            </a:r>
            <a:r>
              <a:rPr lang="en-US" altLang="ko-KR" sz="1600" dirty="0"/>
              <a:t>( </a:t>
            </a:r>
            <a:r>
              <a:rPr lang="ko-KR" altLang="en-US" sz="1600" dirty="0" err="1"/>
              <a:t>맴버에</a:t>
            </a:r>
            <a:r>
              <a:rPr lang="ko-KR" altLang="en-US" sz="1600" dirty="0"/>
              <a:t> 대한 외부 접근 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75917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클래스의 선언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1600" dirty="0"/>
              <a:t>C++</a:t>
            </a:r>
            <a:r>
              <a:rPr lang="ko-KR" altLang="en-US" sz="1600" dirty="0"/>
              <a:t>에서 클래스를 선언하는 </a:t>
            </a:r>
            <a:r>
              <a:rPr lang="ko-KR" altLang="en-US" sz="1600" dirty="0" err="1"/>
              <a:t>예약어</a:t>
            </a:r>
            <a:r>
              <a:rPr lang="ko-KR" altLang="en-US" sz="1600" dirty="0"/>
              <a:t> </a:t>
            </a:r>
            <a:r>
              <a:rPr lang="en-US" altLang="ko-KR" sz="1600" dirty="0">
                <a:solidFill>
                  <a:srgbClr val="0000FF"/>
                </a:solidFill>
              </a:rPr>
              <a:t>class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200" dirty="0">
                <a:solidFill>
                  <a:srgbClr val="0000FF"/>
                </a:solidFill>
              </a:rPr>
              <a:t>class</a:t>
            </a:r>
            <a:r>
              <a:rPr lang="en-US" altLang="ko-KR" sz="1200" dirty="0"/>
              <a:t> </a:t>
            </a:r>
            <a:r>
              <a:rPr lang="ko-KR" altLang="en-US" sz="1200" dirty="0" err="1"/>
              <a:t>클래스이름</a:t>
            </a:r>
            <a:endParaRPr lang="en-US" altLang="ko-KR" sz="1200" dirty="0"/>
          </a:p>
          <a:p>
            <a:pPr marL="457200" lvl="1" indent="0">
              <a:buNone/>
            </a:pPr>
            <a:r>
              <a:rPr lang="en-US" altLang="ko-KR" sz="1200" dirty="0"/>
              <a:t>{</a:t>
            </a:r>
          </a:p>
          <a:p>
            <a:pPr marL="457200" lvl="1" indent="0">
              <a:buNone/>
            </a:pPr>
            <a:r>
              <a:rPr lang="ko-KR" altLang="en-US" sz="1200" dirty="0">
                <a:solidFill>
                  <a:schemeClr val="dk1"/>
                </a:solidFill>
              </a:rPr>
              <a:t>접근 지정자 </a:t>
            </a:r>
            <a:r>
              <a:rPr lang="en-US" altLang="ko-KR" sz="1200" dirty="0">
                <a:solidFill>
                  <a:schemeClr val="dk1"/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ko-KR" altLang="en-US" sz="1200" dirty="0">
                <a:solidFill>
                  <a:schemeClr val="dk1"/>
                </a:solidFill>
              </a:rPr>
              <a:t>    자료형 멤버변수</a:t>
            </a:r>
            <a:r>
              <a:rPr lang="en-US" altLang="ko-KR" sz="1200" dirty="0">
                <a:solidFill>
                  <a:schemeClr val="dk1"/>
                </a:solidFill>
              </a:rPr>
              <a:t>;</a:t>
            </a:r>
          </a:p>
          <a:p>
            <a:pPr marL="457200" lvl="1" indent="0">
              <a:buNone/>
            </a:pPr>
            <a:r>
              <a:rPr lang="ko-KR" altLang="en-US" sz="1200" dirty="0">
                <a:solidFill>
                  <a:schemeClr val="dk1"/>
                </a:solidFill>
              </a:rPr>
              <a:t>접근 지정자 </a:t>
            </a:r>
            <a:r>
              <a:rPr lang="en-US" altLang="ko-KR" sz="1200" dirty="0">
                <a:solidFill>
                  <a:schemeClr val="dk1"/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ko-KR" altLang="en-US" sz="1200" dirty="0">
                <a:solidFill>
                  <a:schemeClr val="dk1"/>
                </a:solidFill>
              </a:rPr>
              <a:t>    </a:t>
            </a:r>
            <a:r>
              <a:rPr lang="ko-KR" altLang="en-US" sz="1200" dirty="0" err="1">
                <a:solidFill>
                  <a:schemeClr val="dk1"/>
                </a:solidFill>
              </a:rPr>
              <a:t>자료형</a:t>
            </a:r>
            <a:r>
              <a:rPr lang="ko-KR" altLang="en-US" sz="1200" dirty="0">
                <a:solidFill>
                  <a:schemeClr val="dk1"/>
                </a:solidFill>
              </a:rPr>
              <a:t> </a:t>
            </a:r>
            <a:r>
              <a:rPr lang="ko-KR" altLang="en-US" sz="1200" dirty="0" err="1">
                <a:solidFill>
                  <a:schemeClr val="dk1"/>
                </a:solidFill>
              </a:rPr>
              <a:t>멤버함수</a:t>
            </a:r>
            <a:r>
              <a:rPr lang="en-US" altLang="ko-KR" sz="1200" dirty="0">
                <a:solidFill>
                  <a:schemeClr val="dk1"/>
                </a:solidFill>
              </a:rPr>
              <a:t>;</a:t>
            </a:r>
          </a:p>
          <a:p>
            <a:pPr marL="457200" lvl="1" indent="0">
              <a:buNone/>
            </a:pPr>
            <a:r>
              <a:rPr lang="en-US" altLang="ko-KR" sz="1200" dirty="0">
                <a:solidFill>
                  <a:schemeClr val="dk1"/>
                </a:solidFill>
              </a:rPr>
              <a:t>};</a:t>
            </a:r>
            <a:endParaRPr lang="en-US" altLang="ko-KR" sz="1200" dirty="0">
              <a:latin typeface="+mn-ea"/>
            </a:endParaRPr>
          </a:p>
          <a:p>
            <a:pPr marL="457200" lvl="1" indent="0">
              <a:buNone/>
            </a:pPr>
            <a:r>
              <a:rPr lang="en-US" altLang="ko-KR" sz="1400" dirty="0">
                <a:solidFill>
                  <a:srgbClr val="0000FF"/>
                </a:solidFill>
              </a:rPr>
              <a:t>class</a:t>
            </a:r>
            <a:r>
              <a:rPr lang="en-US" altLang="ko-KR" sz="1400" dirty="0"/>
              <a:t> </a:t>
            </a:r>
            <a:r>
              <a:rPr lang="en-US" altLang="ko-KR" sz="1400" b="1" dirty="0" err="1"/>
              <a:t>MyClass</a:t>
            </a:r>
            <a:r>
              <a:rPr lang="en-US" altLang="ko-KR" sz="1400" dirty="0"/>
              <a:t>  	  	</a:t>
            </a:r>
            <a:r>
              <a:rPr lang="en-US" altLang="ko-KR" sz="1400" dirty="0">
                <a:solidFill>
                  <a:srgbClr val="006600"/>
                </a:solidFill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키워드 </a:t>
            </a:r>
            <a:r>
              <a:rPr lang="en-US" altLang="ko-KR" sz="1400" dirty="0">
                <a:solidFill>
                  <a:srgbClr val="006600"/>
                </a:solidFill>
                <a:latin typeface="+mn-ea"/>
              </a:rPr>
              <a:t>class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  </a:t>
            </a:r>
            <a:r>
              <a:rPr lang="en-US" altLang="ko-KR" sz="1400" dirty="0">
                <a:solidFill>
                  <a:srgbClr val="006600"/>
                </a:solidFill>
                <a:latin typeface="+mn-ea"/>
              </a:rPr>
              <a:t>//</a:t>
            </a:r>
            <a:r>
              <a:rPr lang="en-US" altLang="ko-KR" sz="1400" dirty="0">
                <a:solidFill>
                  <a:srgbClr val="006600"/>
                </a:solidFill>
              </a:rPr>
              <a:t> </a:t>
            </a:r>
            <a:r>
              <a:rPr lang="en-US" altLang="ko-KR" sz="1400" dirty="0" err="1">
                <a:solidFill>
                  <a:srgbClr val="006600"/>
                </a:solidFill>
              </a:rPr>
              <a:t>MyClass</a:t>
            </a:r>
            <a:r>
              <a:rPr lang="en-US" altLang="ko-KR" sz="1400" dirty="0">
                <a:solidFill>
                  <a:srgbClr val="006600"/>
                </a:solidFill>
              </a:rPr>
              <a:t> </a:t>
            </a:r>
            <a:r>
              <a:rPr lang="ko-KR" altLang="en-US" sz="1400" dirty="0">
                <a:solidFill>
                  <a:srgbClr val="006600"/>
                </a:solidFill>
              </a:rPr>
              <a:t>라는 </a:t>
            </a:r>
            <a:r>
              <a:rPr lang="ko-KR" altLang="en-US" sz="1400" b="1" dirty="0">
                <a:solidFill>
                  <a:srgbClr val="006600"/>
                </a:solidFill>
              </a:rPr>
              <a:t>새로운 </a:t>
            </a:r>
            <a:r>
              <a:rPr lang="ko-KR" altLang="en-US" sz="1400" b="1" dirty="0" err="1">
                <a:solidFill>
                  <a:srgbClr val="006600"/>
                </a:solidFill>
              </a:rPr>
              <a:t>자료형</a:t>
            </a:r>
            <a:endParaRPr lang="en-US" altLang="ko-KR" sz="1400" b="1" dirty="0">
              <a:solidFill>
                <a:srgbClr val="006600"/>
              </a:solidFill>
              <a:latin typeface="+mn-ea"/>
            </a:endParaRPr>
          </a:p>
          <a:p>
            <a:pPr marL="457200" lvl="1" indent="0">
              <a:buNone/>
            </a:pPr>
            <a:r>
              <a:rPr lang="en-US" altLang="ko-KR" sz="1400" dirty="0"/>
              <a:t>{		  	</a:t>
            </a:r>
            <a:r>
              <a:rPr lang="en-US" altLang="ko-KR" sz="1400" dirty="0">
                <a:solidFill>
                  <a:srgbClr val="006600"/>
                </a:solidFill>
                <a:latin typeface="+mn-ea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클래스 선언의 </a:t>
            </a:r>
            <a:r>
              <a:rPr lang="ko-KR" altLang="en-US" sz="1400" b="1" dirty="0">
                <a:solidFill>
                  <a:srgbClr val="006600"/>
                </a:solidFill>
                <a:latin typeface="+mn-ea"/>
              </a:rPr>
              <a:t>시작과 끝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을 알리는 여는 중괄호와 닫는 중괄호</a:t>
            </a:r>
            <a:endParaRPr lang="en-US" altLang="ko-KR" sz="1400" dirty="0">
              <a:solidFill>
                <a:srgbClr val="006600"/>
              </a:solidFill>
              <a:latin typeface="+mn-ea"/>
            </a:endParaRPr>
          </a:p>
          <a:p>
            <a:pPr marL="457200" lvl="1" indent="0">
              <a:buNone/>
            </a:pPr>
            <a:r>
              <a:rPr lang="en-US" altLang="ko-KR" sz="1400" dirty="0">
                <a:solidFill>
                  <a:srgbClr val="0000FF"/>
                </a:solidFill>
                <a:latin typeface="+mn-ea"/>
              </a:rPr>
              <a:t>private</a:t>
            </a:r>
            <a:r>
              <a:rPr lang="en-US" altLang="ko-KR" sz="1400" dirty="0">
                <a:latin typeface="+mn-ea"/>
              </a:rPr>
              <a:t>:	 	 </a:t>
            </a:r>
            <a:r>
              <a:rPr lang="en-US" altLang="ko-KR" sz="1400" dirty="0">
                <a:solidFill>
                  <a:srgbClr val="006600"/>
                </a:solidFill>
                <a:latin typeface="+mn-ea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자신의 클래스에서 사용가능하게 하는 </a:t>
            </a:r>
            <a:r>
              <a:rPr lang="ko-KR" altLang="en-US" sz="1400" b="1" dirty="0">
                <a:solidFill>
                  <a:srgbClr val="006600"/>
                </a:solidFill>
                <a:latin typeface="+mn-ea"/>
              </a:rPr>
              <a:t>접근 지정자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6600"/>
                </a:solidFill>
                <a:latin typeface="+mn-ea"/>
              </a:rPr>
              <a:t>private</a:t>
            </a:r>
          </a:p>
          <a:p>
            <a:pPr marL="457200" lvl="1" indent="0">
              <a:buNone/>
            </a:pPr>
            <a:r>
              <a:rPr lang="ko-KR" altLang="en-US" sz="1400" dirty="0">
                <a:latin typeface="+mn-ea"/>
              </a:rPr>
              <a:t>    </a:t>
            </a:r>
            <a:r>
              <a:rPr lang="en-US" altLang="ko-KR" sz="1400" dirty="0">
                <a:latin typeface="+mn-ea"/>
              </a:rPr>
              <a:t>int num;	 	 </a:t>
            </a:r>
            <a:r>
              <a:rPr lang="en-US" altLang="ko-KR" sz="1400" dirty="0">
                <a:solidFill>
                  <a:srgbClr val="006600"/>
                </a:solidFill>
                <a:latin typeface="+mn-ea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클래스를 구성하는 </a:t>
            </a:r>
            <a:r>
              <a:rPr lang="ko-KR" altLang="en-US" sz="1400" b="1" dirty="0">
                <a:solidFill>
                  <a:srgbClr val="006600"/>
                </a:solidFill>
                <a:latin typeface="+mn-ea"/>
              </a:rPr>
              <a:t>멤버변수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의 선언</a:t>
            </a:r>
            <a:endParaRPr lang="en-US" altLang="ko-KR" sz="1400" dirty="0">
              <a:solidFill>
                <a:srgbClr val="006600"/>
              </a:solidFill>
              <a:latin typeface="+mn-ea"/>
            </a:endParaRPr>
          </a:p>
          <a:p>
            <a:pPr marL="457200" lvl="1" indent="0">
              <a:buNone/>
            </a:pPr>
            <a:r>
              <a:rPr lang="en-US" altLang="ko-KR" sz="1400" dirty="0">
                <a:solidFill>
                  <a:srgbClr val="0000FF"/>
                </a:solidFill>
                <a:latin typeface="+mn-ea"/>
              </a:rPr>
              <a:t>public</a:t>
            </a:r>
            <a:r>
              <a:rPr lang="en-US" altLang="ko-KR" sz="1400" dirty="0">
                <a:latin typeface="+mn-ea"/>
              </a:rPr>
              <a:t>:	 	 </a:t>
            </a:r>
            <a:r>
              <a:rPr lang="en-US" altLang="ko-KR" sz="1400" dirty="0">
                <a:solidFill>
                  <a:srgbClr val="006600"/>
                </a:solidFill>
                <a:latin typeface="+mn-ea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클래스 외부에서 제어를 가능하도록 하기 위한 </a:t>
            </a:r>
            <a:r>
              <a:rPr lang="ko-KR" altLang="en-US" sz="1400" b="1" dirty="0">
                <a:solidFill>
                  <a:srgbClr val="006600"/>
                </a:solidFill>
                <a:latin typeface="+mn-ea"/>
              </a:rPr>
              <a:t>접근 지정자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6600"/>
                </a:solidFill>
                <a:latin typeface="+mn-ea"/>
              </a:rPr>
              <a:t>public</a:t>
            </a:r>
          </a:p>
          <a:p>
            <a:pPr marL="457200" lvl="1" indent="0">
              <a:buNone/>
            </a:pPr>
            <a:r>
              <a:rPr lang="ko-KR" altLang="en-US" sz="1400" dirty="0">
                <a:latin typeface="+mn-ea"/>
              </a:rPr>
              <a:t>    </a:t>
            </a:r>
            <a:r>
              <a:rPr lang="en-US" altLang="ko-KR" sz="1400" dirty="0">
                <a:latin typeface="+mn-ea"/>
              </a:rPr>
              <a:t>void Show();	  	</a:t>
            </a:r>
            <a:r>
              <a:rPr lang="en-US" altLang="ko-KR" sz="1400" dirty="0">
                <a:solidFill>
                  <a:srgbClr val="006600"/>
                </a:solidFill>
                <a:latin typeface="+mn-ea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클래스를 구성하는 </a:t>
            </a:r>
            <a:r>
              <a:rPr lang="ko-KR" altLang="en-US" sz="1400" b="1" dirty="0" err="1">
                <a:solidFill>
                  <a:srgbClr val="006600"/>
                </a:solidFill>
                <a:latin typeface="+mn-ea"/>
              </a:rPr>
              <a:t>멤버함수</a:t>
            </a:r>
            <a:r>
              <a:rPr lang="ko-KR" altLang="en-US" sz="1400" dirty="0" err="1">
                <a:solidFill>
                  <a:srgbClr val="006600"/>
                </a:solidFill>
                <a:latin typeface="+mn-ea"/>
              </a:rPr>
              <a:t>의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 원형 선언</a:t>
            </a:r>
            <a:endParaRPr lang="en-US" altLang="ko-KR" sz="1400" dirty="0">
              <a:solidFill>
                <a:srgbClr val="006600"/>
              </a:solidFill>
              <a:latin typeface="+mn-ea"/>
            </a:endParaRPr>
          </a:p>
          <a:p>
            <a:pPr marL="457200" lvl="1" indent="0">
              <a:buNone/>
            </a:pPr>
            <a:r>
              <a:rPr lang="en-US" altLang="ko-KR" sz="1400" dirty="0">
                <a:latin typeface="+mn-ea"/>
              </a:rPr>
              <a:t>} ;		  	</a:t>
            </a:r>
            <a:r>
              <a:rPr lang="en-US" altLang="ko-KR" sz="1400" dirty="0">
                <a:solidFill>
                  <a:srgbClr val="006600"/>
                </a:solidFill>
                <a:latin typeface="+mn-ea"/>
              </a:rPr>
              <a:t>//</a:t>
            </a:r>
            <a:r>
              <a:rPr lang="ko-KR" altLang="en-US" sz="1400" b="1" dirty="0">
                <a:solidFill>
                  <a:srgbClr val="006600"/>
                </a:solidFill>
                <a:latin typeface="+mn-ea"/>
              </a:rPr>
              <a:t>클래스 선언의 마침</a:t>
            </a:r>
            <a:r>
              <a:rPr lang="ko-KR" altLang="en-US" sz="1400" dirty="0">
                <a:solidFill>
                  <a:srgbClr val="006600"/>
                </a:solidFill>
                <a:latin typeface="+mn-ea"/>
              </a:rPr>
              <a:t>을 알리는 세미콜론</a:t>
            </a:r>
            <a:endParaRPr lang="en-US" altLang="ko-KR" sz="1400" dirty="0">
              <a:solidFill>
                <a:srgbClr val="006600"/>
              </a:solidFill>
              <a:latin typeface="+mn-ea"/>
            </a:endParaRPr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4801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클래스의 선언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800" dirty="0"/>
              <a:t>클래스의</a:t>
            </a:r>
            <a:r>
              <a:rPr lang="en-US" altLang="ko-KR" sz="1800" dirty="0"/>
              <a:t> </a:t>
            </a:r>
            <a:r>
              <a:rPr lang="ko-KR" altLang="en-US" sz="1800" dirty="0"/>
              <a:t>선언과 정의</a:t>
            </a:r>
            <a:endParaRPr lang="en-US" altLang="ko-KR" sz="1800" dirty="0"/>
          </a:p>
          <a:p>
            <a:pPr lvl="1"/>
            <a:r>
              <a:rPr lang="ko-KR" altLang="en-US" sz="1600" dirty="0"/>
              <a:t>클래스는 크게 </a:t>
            </a:r>
            <a:r>
              <a:rPr lang="ko-KR" altLang="en-US" sz="1600" b="1" dirty="0"/>
              <a:t>클래스 선언</a:t>
            </a:r>
            <a:r>
              <a:rPr lang="ko-KR" altLang="en-US" sz="1600" dirty="0"/>
              <a:t>과 </a:t>
            </a:r>
            <a:r>
              <a:rPr lang="ko-KR" altLang="en-US" sz="1600" b="1" dirty="0"/>
              <a:t>클래스 </a:t>
            </a:r>
            <a:r>
              <a:rPr lang="ko-KR" altLang="en-US" sz="1600" b="1" dirty="0" err="1"/>
              <a:t>멤버함수</a:t>
            </a:r>
            <a:r>
              <a:rPr lang="ko-KR" altLang="en-US" sz="1600" b="1" dirty="0"/>
              <a:t> 정의</a:t>
            </a:r>
            <a:r>
              <a:rPr lang="ko-KR" altLang="en-US" sz="1600" dirty="0"/>
              <a:t>로 구성되어 있다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b="1" dirty="0">
                <a:solidFill>
                  <a:srgbClr val="0070C0"/>
                </a:solidFill>
              </a:rPr>
              <a:t>클래스 선언</a:t>
            </a:r>
            <a:r>
              <a:rPr lang="ko-KR" altLang="en-US" sz="1600" dirty="0"/>
              <a:t>에는 </a:t>
            </a:r>
            <a:r>
              <a:rPr lang="ko-KR" altLang="en-US" sz="1600" dirty="0" err="1"/>
              <a:t>멤버변수와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멤버함수</a:t>
            </a:r>
            <a:r>
              <a:rPr lang="ko-KR" altLang="en-US" sz="1600" dirty="0"/>
              <a:t> 원형을 정의한다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b="1" dirty="0" err="1">
                <a:solidFill>
                  <a:srgbClr val="0070C0"/>
                </a:solidFill>
              </a:rPr>
              <a:t>멤버함수</a:t>
            </a:r>
            <a:r>
              <a:rPr lang="ko-KR" altLang="en-US" sz="1600" b="1" dirty="0">
                <a:solidFill>
                  <a:srgbClr val="0070C0"/>
                </a:solidFill>
              </a:rPr>
              <a:t> 정의</a:t>
            </a:r>
            <a:r>
              <a:rPr lang="ko-KR" altLang="en-US" sz="1600" dirty="0"/>
              <a:t>는 클래스 선언 밖에서 따로 이루어진다</a:t>
            </a:r>
            <a:r>
              <a:rPr lang="en-US" altLang="ko-KR" sz="1600" dirty="0"/>
              <a:t>.</a:t>
            </a:r>
          </a:p>
          <a:p>
            <a:pPr marL="457200" lvl="1" indent="0">
              <a:buNone/>
            </a:pPr>
            <a:r>
              <a:rPr lang="en-US" altLang="ko-KR" sz="1600" dirty="0"/>
              <a:t> </a:t>
            </a:r>
          </a:p>
          <a:p>
            <a:pPr lvl="1"/>
            <a:endParaRPr lang="en-US" altLang="ko-KR" sz="1600" dirty="0"/>
          </a:p>
        </p:txBody>
      </p:sp>
      <p:sp>
        <p:nvSpPr>
          <p:cNvPr id="4" name="직사각형 3"/>
          <p:cNvSpPr/>
          <p:nvPr/>
        </p:nvSpPr>
        <p:spPr>
          <a:xfrm>
            <a:off x="1093076" y="2921276"/>
            <a:ext cx="10260724" cy="3108543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altLang="ko-KR" sz="1400" dirty="0">
              <a:solidFill>
                <a:srgbClr val="0000F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라는 새로운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자료형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헤더파일에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선언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Show();	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       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Show()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클래스를 구성하는 </a:t>
            </a:r>
            <a:r>
              <a:rPr lang="ko-KR" altLang="en-US" sz="1400" b="1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멤버함수의</a:t>
            </a:r>
            <a:r>
              <a:rPr lang="ko-KR" altLang="en-US" sz="1400" b="1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정의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b="1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스코프</a:t>
            </a:r>
            <a:r>
              <a:rPr lang="ko-KR" altLang="en-US" sz="1400" b="1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연산자 </a:t>
            </a:r>
            <a:r>
              <a:rPr lang="en-US" altLang="ko-KR" sz="1400" b="1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 </a:t>
            </a:r>
            <a:r>
              <a:rPr lang="ko-KR" altLang="en-US" sz="1400" b="1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사용</a:t>
            </a:r>
            <a:r>
              <a:rPr lang="en-US" altLang="ko-KR" sz="1400" b="1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1400" b="1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2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클래스의 사용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객체 선언과 </a:t>
            </a:r>
            <a:r>
              <a:rPr lang="ko-KR" altLang="en-US" sz="1800" dirty="0" err="1"/>
              <a:t>맴버</a:t>
            </a:r>
            <a:r>
              <a:rPr lang="ko-KR" altLang="en-US" sz="1800" dirty="0"/>
              <a:t> 참조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14096" y="1829940"/>
            <a:ext cx="10239704" cy="440120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라는 새로운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자료형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num1 = 0;	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클래스를 구성하는 </a:t>
            </a:r>
            <a:r>
              <a:rPr lang="ko-KR" altLang="en-US" sz="1400" b="1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멤버변수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의 선언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Show();	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클래스를 구성하는 </a:t>
            </a:r>
            <a:r>
              <a:rPr lang="ko-KR" altLang="en-US" sz="1400" b="1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멤버함수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의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원형 선언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           	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::Show()    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클래스를 구성하는 </a:t>
            </a:r>
            <a:r>
              <a:rPr lang="ko-KR" altLang="en-US" sz="1400" b="1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멤버함수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의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정의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스코프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연산자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 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num1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 </a:t>
            </a:r>
            <a:r>
              <a:rPr lang="ko-KR" altLang="en-US" sz="1400" b="1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객체 선언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b="1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라는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객체 생성 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(instance)</a:t>
            </a:r>
            <a:endParaRPr lang="ko-KR" altLang="en-US" sz="1400" b="1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.Show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객체의 </a:t>
            </a:r>
            <a:r>
              <a:rPr lang="ko-KR" altLang="en-US" sz="1400" b="1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맴버</a:t>
            </a:r>
            <a:r>
              <a:rPr lang="ko-KR" altLang="en-US" sz="1400" b="1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접근</a:t>
            </a:r>
            <a:endParaRPr lang="ko-KR" altLang="en-US" sz="1400" b="1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49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 err="1"/>
              <a:t>접근지정자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800" dirty="0" err="1">
                <a:latin typeface="+mj-lt"/>
              </a:rPr>
              <a:t>접근지정자</a:t>
            </a:r>
            <a:endParaRPr lang="en-US" altLang="ko-KR" sz="1800" dirty="0">
              <a:latin typeface="+mj-lt"/>
            </a:endParaRPr>
          </a:p>
          <a:p>
            <a:pPr lvl="1"/>
            <a:r>
              <a:rPr lang="en-US" altLang="ko-KR" sz="1600" dirty="0">
                <a:solidFill>
                  <a:srgbClr val="0000FF"/>
                </a:solidFill>
                <a:latin typeface="+mj-lt"/>
              </a:rPr>
              <a:t>private</a:t>
            </a:r>
            <a:r>
              <a:rPr lang="en-US" altLang="ko-KR" sz="1600" dirty="0">
                <a:latin typeface="+mj-lt"/>
              </a:rPr>
              <a:t> : </a:t>
            </a:r>
            <a:r>
              <a:rPr lang="ko-KR" altLang="en-US" sz="1600" dirty="0">
                <a:latin typeface="+mj-lt"/>
              </a:rPr>
              <a:t>해당 멤버가 속한 클래스의 멤버함수에서만 사용 가능하며</a:t>
            </a:r>
            <a:r>
              <a:rPr lang="en-US" altLang="ko-KR" sz="1600" dirty="0">
                <a:latin typeface="+mj-lt"/>
              </a:rPr>
              <a:t>,</a:t>
            </a:r>
            <a:r>
              <a:rPr lang="ko-KR" altLang="en-US" sz="1600" dirty="0">
                <a:latin typeface="+mj-lt"/>
              </a:rPr>
              <a:t> 캡슐화</a:t>
            </a:r>
            <a:r>
              <a:rPr lang="en-US" altLang="ko-KR" sz="1600" dirty="0">
                <a:latin typeface="+mj-lt"/>
              </a:rPr>
              <a:t>(</a:t>
            </a:r>
            <a:r>
              <a:rPr lang="ko-KR" altLang="en-US" sz="1600" b="1" dirty="0">
                <a:latin typeface="+mj-lt"/>
              </a:rPr>
              <a:t>데이터 은닉</a:t>
            </a:r>
            <a:r>
              <a:rPr lang="en-US" altLang="ko-KR" sz="1600" dirty="0">
                <a:latin typeface="+mj-lt"/>
              </a:rPr>
              <a:t>)</a:t>
            </a:r>
            <a:r>
              <a:rPr lang="ko-KR" altLang="en-US" sz="1600" dirty="0">
                <a:latin typeface="+mj-lt"/>
              </a:rPr>
              <a:t>된다</a:t>
            </a:r>
            <a:r>
              <a:rPr lang="en-US" altLang="ko-KR" sz="1600" dirty="0">
                <a:latin typeface="+mj-lt"/>
              </a:rPr>
              <a:t>.</a:t>
            </a:r>
          </a:p>
          <a:p>
            <a:pPr lvl="1"/>
            <a:r>
              <a:rPr lang="en-US" altLang="ko-KR" sz="1600" dirty="0">
                <a:solidFill>
                  <a:srgbClr val="0000FF"/>
                </a:solidFill>
                <a:latin typeface="+mj-lt"/>
              </a:rPr>
              <a:t>public</a:t>
            </a:r>
            <a:r>
              <a:rPr lang="en-US" altLang="ko-KR" sz="1600" dirty="0">
                <a:latin typeface="+mj-lt"/>
              </a:rPr>
              <a:t> : </a:t>
            </a:r>
            <a:r>
              <a:rPr lang="ko-KR" altLang="en-US" sz="1600" dirty="0">
                <a:latin typeface="+mj-lt"/>
              </a:rPr>
              <a:t>객체를 사용할 수 있는 범위라면 접근 가능한 공개된 멤버로</a:t>
            </a:r>
            <a:r>
              <a:rPr lang="en-US" altLang="ko-KR" sz="1600" dirty="0">
                <a:latin typeface="+mj-lt"/>
              </a:rPr>
              <a:t>, 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+mj-lt"/>
              </a:rPr>
              <a:t>           </a:t>
            </a:r>
            <a:r>
              <a:rPr lang="ko-KR" altLang="en-US" sz="1600" dirty="0">
                <a:latin typeface="+mj-lt"/>
              </a:rPr>
              <a:t>주로 </a:t>
            </a:r>
            <a:r>
              <a:rPr lang="en-US" altLang="ko-KR" sz="1600" dirty="0">
                <a:latin typeface="+mj-lt"/>
              </a:rPr>
              <a:t>private </a:t>
            </a:r>
            <a:r>
              <a:rPr lang="ko-KR" altLang="en-US" sz="1600" dirty="0">
                <a:latin typeface="+mj-lt"/>
              </a:rPr>
              <a:t>멤버를 해당 </a:t>
            </a:r>
            <a:r>
              <a:rPr lang="ko-KR" altLang="en-US" sz="1600" b="1" dirty="0">
                <a:latin typeface="+mj-lt"/>
              </a:rPr>
              <a:t>클래스 외부에서 사용</a:t>
            </a:r>
            <a:r>
              <a:rPr lang="ko-KR" altLang="en-US" sz="1600" dirty="0">
                <a:latin typeface="+mj-lt"/>
              </a:rPr>
              <a:t>하도록 하기 위한 멤버함수를 정의할 때 사용한다</a:t>
            </a:r>
            <a:r>
              <a:rPr lang="en-US" altLang="ko-KR" sz="1600" dirty="0">
                <a:latin typeface="+mj-lt"/>
              </a:rPr>
              <a:t>.</a:t>
            </a:r>
          </a:p>
          <a:p>
            <a:r>
              <a:rPr lang="en-US" altLang="ko-KR" sz="1800" dirty="0">
                <a:latin typeface="+mj-lt"/>
              </a:rPr>
              <a:t>private </a:t>
            </a:r>
            <a:r>
              <a:rPr lang="ko-KR" altLang="en-US" sz="1800" dirty="0">
                <a:latin typeface="+mj-lt"/>
              </a:rPr>
              <a:t>접근 지정자</a:t>
            </a:r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>
                <a:latin typeface="+mj-lt"/>
              </a:rPr>
              <a:t>접근 지정자가 생략되면 </a:t>
            </a:r>
            <a:r>
              <a:rPr lang="ko-KR" altLang="en-US" sz="1600" b="1" dirty="0">
                <a:latin typeface="+mj-lt"/>
              </a:rPr>
              <a:t>기본</a:t>
            </a:r>
            <a:r>
              <a:rPr lang="en-US" altLang="ko-KR" sz="1600" b="1" dirty="0">
                <a:latin typeface="+mj-lt"/>
              </a:rPr>
              <a:t>(default)</a:t>
            </a:r>
            <a:r>
              <a:rPr lang="ko-KR" altLang="en-US" sz="1600" dirty="0">
                <a:latin typeface="+mj-lt"/>
              </a:rPr>
              <a:t>으로 </a:t>
            </a:r>
            <a:r>
              <a:rPr lang="en-US" altLang="ko-KR" sz="1600" dirty="0">
                <a:solidFill>
                  <a:srgbClr val="0000FF"/>
                </a:solidFill>
                <a:latin typeface="+mj-lt"/>
              </a:rPr>
              <a:t>private</a:t>
            </a:r>
            <a:r>
              <a:rPr lang="ko-KR" altLang="en-US" sz="1600" dirty="0">
                <a:latin typeface="+mj-lt"/>
              </a:rPr>
              <a:t>가 적용된다</a:t>
            </a:r>
            <a:r>
              <a:rPr lang="en-US" altLang="ko-KR" sz="1600" dirty="0">
                <a:latin typeface="+mj-lt"/>
              </a:rPr>
              <a:t>. private: </a:t>
            </a:r>
            <a:r>
              <a:rPr lang="ko-KR" altLang="en-US" sz="1600" dirty="0">
                <a:latin typeface="+mj-lt"/>
              </a:rPr>
              <a:t>를 명시적으로 기술할 수도 있다</a:t>
            </a:r>
            <a:r>
              <a:rPr lang="en-US" altLang="ko-KR" sz="1600" dirty="0">
                <a:latin typeface="+mj-lt"/>
              </a:rPr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en-US" altLang="ko-KR" sz="1600" dirty="0">
                <a:latin typeface="+mj-lt"/>
              </a:rPr>
              <a:t>private </a:t>
            </a:r>
            <a:r>
              <a:rPr lang="ko-KR" altLang="en-US" sz="1600" dirty="0">
                <a:latin typeface="+mj-lt"/>
              </a:rPr>
              <a:t>멤버의 </a:t>
            </a:r>
            <a:r>
              <a:rPr lang="ko-KR" altLang="en-US" sz="1600" b="1" dirty="0">
                <a:latin typeface="+mj-lt"/>
              </a:rPr>
              <a:t>사용 범위</a:t>
            </a:r>
            <a:r>
              <a:rPr lang="ko-KR" altLang="en-US" sz="1600" dirty="0">
                <a:latin typeface="+mj-lt"/>
              </a:rPr>
              <a:t>는 소속된 클래스 내의 </a:t>
            </a:r>
            <a:r>
              <a:rPr lang="ko-KR" altLang="en-US" sz="1600" dirty="0" err="1">
                <a:latin typeface="+mj-lt"/>
              </a:rPr>
              <a:t>멤버함수로</a:t>
            </a:r>
            <a:r>
              <a:rPr lang="ko-KR" altLang="en-US" sz="1600" dirty="0">
                <a:latin typeface="+mj-lt"/>
              </a:rPr>
              <a:t> 국한된다</a:t>
            </a:r>
            <a:r>
              <a:rPr lang="en-US" altLang="ko-KR" sz="1600" dirty="0">
                <a:latin typeface="+mj-lt"/>
              </a:rPr>
              <a:t>.</a:t>
            </a:r>
          </a:p>
          <a:p>
            <a:pPr lvl="1">
              <a:buFont typeface="Wingdings" pitchFamily="2" charset="2"/>
              <a:buChar char=""/>
            </a:pPr>
            <a:r>
              <a:rPr lang="ko-KR" altLang="en-US" sz="1600" dirty="0">
                <a:latin typeface="+mj-lt"/>
              </a:rPr>
              <a:t>일반적으로 </a:t>
            </a:r>
            <a:r>
              <a:rPr lang="ko-KR" altLang="en-US" sz="1600" dirty="0" err="1">
                <a:latin typeface="+mj-lt"/>
              </a:rPr>
              <a:t>멤버변수를</a:t>
            </a:r>
            <a:r>
              <a:rPr lang="ko-KR" altLang="en-US" sz="1600" dirty="0">
                <a:latin typeface="+mj-lt"/>
              </a:rPr>
              <a:t> </a:t>
            </a:r>
            <a:r>
              <a:rPr lang="en-US" altLang="ko-KR" sz="1600" dirty="0">
                <a:latin typeface="+mj-lt"/>
              </a:rPr>
              <a:t>private</a:t>
            </a:r>
            <a:r>
              <a:rPr lang="ko-KR" altLang="en-US" sz="1600" dirty="0">
                <a:latin typeface="+mj-lt"/>
              </a:rPr>
              <a:t>로 설정한다</a:t>
            </a:r>
            <a:r>
              <a:rPr lang="en-US" altLang="ko-KR" sz="1600" dirty="0">
                <a:latin typeface="+mj-lt"/>
              </a:rPr>
              <a:t>.</a:t>
            </a:r>
            <a:endParaRPr lang="en-US" altLang="ko-KR" sz="1400" dirty="0">
              <a:latin typeface="+mj-lt"/>
            </a:endParaRPr>
          </a:p>
          <a:p>
            <a:r>
              <a:rPr lang="en-US" altLang="ko-KR" sz="1800" dirty="0">
                <a:latin typeface="+mj-lt"/>
              </a:rPr>
              <a:t>public </a:t>
            </a:r>
            <a:r>
              <a:rPr lang="ko-KR" altLang="en-US" sz="1800" dirty="0">
                <a:latin typeface="+mj-lt"/>
              </a:rPr>
              <a:t>접근 지정자</a:t>
            </a:r>
          </a:p>
          <a:p>
            <a:pPr lvl="1">
              <a:buFont typeface="Wingdings" pitchFamily="2" charset="2"/>
              <a:buChar char=""/>
            </a:pPr>
            <a:r>
              <a:rPr lang="en-US" altLang="ko-KR" sz="1600" dirty="0">
                <a:latin typeface="+mj-lt"/>
              </a:rPr>
              <a:t>public </a:t>
            </a:r>
            <a:r>
              <a:rPr lang="ko-KR" altLang="en-US" sz="1600" dirty="0">
                <a:latin typeface="+mj-lt"/>
              </a:rPr>
              <a:t>멤버로 지정하려면 </a:t>
            </a:r>
            <a:r>
              <a:rPr lang="en-US" altLang="ko-KR" sz="1600" dirty="0">
                <a:latin typeface="+mj-lt"/>
              </a:rPr>
              <a:t>public: </a:t>
            </a:r>
            <a:r>
              <a:rPr lang="ko-KR" altLang="en-US" sz="1600" dirty="0">
                <a:latin typeface="+mj-lt"/>
              </a:rPr>
              <a:t>을 </a:t>
            </a:r>
            <a:r>
              <a:rPr lang="ko-KR" altLang="en-US" sz="1600" b="1" dirty="0">
                <a:latin typeface="+mj-lt"/>
              </a:rPr>
              <a:t>명시적</a:t>
            </a:r>
            <a:r>
              <a:rPr lang="ko-KR" altLang="en-US" sz="1600" dirty="0">
                <a:latin typeface="+mj-lt"/>
              </a:rPr>
              <a:t>으로 기술해야 한다</a:t>
            </a:r>
            <a:r>
              <a:rPr lang="en-US" altLang="ko-KR" sz="1600" dirty="0">
                <a:latin typeface="+mj-lt"/>
              </a:rPr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>
                <a:latin typeface="+mj-lt"/>
              </a:rPr>
              <a:t>클래스 내의 멤버함수에서는 물론 객체가 선언되어 있는 영역이라면 멤버참조연산자</a:t>
            </a:r>
            <a:r>
              <a:rPr lang="en-US" altLang="ko-KR" sz="1600" dirty="0">
                <a:latin typeface="+mj-lt"/>
              </a:rPr>
              <a:t>(.)</a:t>
            </a:r>
            <a:r>
              <a:rPr lang="ko-KR" altLang="en-US" sz="1600" dirty="0">
                <a:latin typeface="+mj-lt"/>
              </a:rPr>
              <a:t>로 연결해서 사용할 수 있다</a:t>
            </a:r>
            <a:r>
              <a:rPr lang="en-US" altLang="ko-KR" sz="1600" dirty="0">
                <a:latin typeface="+mj-lt"/>
              </a:rPr>
              <a:t>.</a:t>
            </a:r>
          </a:p>
          <a:p>
            <a:pPr lvl="1">
              <a:buFont typeface="Wingdings" pitchFamily="2" charset="2"/>
              <a:buChar char=""/>
            </a:pPr>
            <a:r>
              <a:rPr lang="en-US" altLang="ko-KR" sz="1600" dirty="0">
                <a:latin typeface="+mj-lt"/>
              </a:rPr>
              <a:t>private </a:t>
            </a:r>
            <a:r>
              <a:rPr lang="ko-KR" altLang="en-US" sz="1600" dirty="0" err="1">
                <a:latin typeface="+mj-lt"/>
              </a:rPr>
              <a:t>멤버변수를</a:t>
            </a:r>
            <a:r>
              <a:rPr lang="ko-KR" altLang="en-US" sz="1600" dirty="0">
                <a:latin typeface="+mj-lt"/>
              </a:rPr>
              <a:t> 처리하기 위한 목적으로 작성하는 </a:t>
            </a:r>
            <a:r>
              <a:rPr lang="ko-KR" altLang="en-US" sz="1600" dirty="0" err="1">
                <a:latin typeface="+mj-lt"/>
              </a:rPr>
              <a:t>멤버함수는</a:t>
            </a:r>
            <a:r>
              <a:rPr lang="ko-KR" altLang="en-US" sz="1600" dirty="0">
                <a:latin typeface="+mj-lt"/>
              </a:rPr>
              <a:t> 일반적으로 </a:t>
            </a:r>
            <a:r>
              <a:rPr lang="en-US" altLang="ko-KR" sz="1600" dirty="0">
                <a:latin typeface="+mj-lt"/>
              </a:rPr>
              <a:t>public </a:t>
            </a:r>
            <a:r>
              <a:rPr lang="ko-KR" altLang="en-US" sz="1600" dirty="0">
                <a:latin typeface="+mj-lt"/>
              </a:rPr>
              <a:t>멤버로 설정한다</a:t>
            </a:r>
            <a:r>
              <a:rPr lang="en-US" altLang="ko-KR" sz="1600" dirty="0">
                <a:latin typeface="+mj-lt"/>
              </a:rPr>
              <a:t>.</a:t>
            </a:r>
            <a:endParaRPr lang="ko-KR" altLang="en-US" sz="1400" dirty="0">
              <a:latin typeface="+mj-lt"/>
            </a:endParaRPr>
          </a:p>
          <a:p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9191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접근지정자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302766" cy="5099221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오류를 개선해 보자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방법</a:t>
            </a:r>
            <a:r>
              <a:rPr lang="en-US" altLang="ko-KR" sz="1800" dirty="0"/>
              <a:t>1 – </a:t>
            </a:r>
            <a:r>
              <a:rPr lang="ko-KR" altLang="en-US" sz="1800" dirty="0" err="1"/>
              <a:t>접근지정자</a:t>
            </a:r>
            <a:r>
              <a:rPr lang="en-US" altLang="ko-KR" sz="1800" dirty="0"/>
              <a:t> </a:t>
            </a:r>
            <a:r>
              <a:rPr lang="ko-KR" altLang="en-US" sz="1800" dirty="0"/>
              <a:t>수정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방법</a:t>
            </a:r>
            <a:r>
              <a:rPr lang="en-US" altLang="ko-KR" sz="1800" dirty="0"/>
              <a:t>2 – </a:t>
            </a:r>
            <a:r>
              <a:rPr lang="ko-KR" altLang="en-US" sz="1800" dirty="0" err="1"/>
              <a:t>맴버함수</a:t>
            </a:r>
            <a:r>
              <a:rPr lang="ko-KR" altLang="en-US" sz="1800" dirty="0"/>
              <a:t> 추가</a:t>
            </a:r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A4F4C-7A68-4C50-8B1F-110D9CD35125}"/>
              </a:ext>
            </a:extLst>
          </p:cNvPr>
          <p:cNvSpPr txBox="1"/>
          <p:nvPr/>
        </p:nvSpPr>
        <p:spPr>
          <a:xfrm>
            <a:off x="4750675" y="1235677"/>
            <a:ext cx="646947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real;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image;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SetComplex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SetComplex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real=2;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image=5;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"( "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real </a:t>
            </a:r>
            <a:r>
              <a:rPr lang="en-US" altLang="ko-KR" sz="12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+ "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image </a:t>
            </a:r>
            <a:r>
              <a:rPr lang="en-US" altLang="ko-KR" sz="12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2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)"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;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2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x; 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x.real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5 ;   </a:t>
            </a:r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컴파일 에러 </a:t>
            </a:r>
            <a:endParaRPr lang="ko-KR" altLang="en-US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x.image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10;  </a:t>
            </a:r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컴파일 에러 </a:t>
            </a:r>
            <a:endParaRPr lang="ko-KR" altLang="en-US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x.ShowComplex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941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클래스 내부에 함수 선언 </a:t>
            </a:r>
            <a:r>
              <a:rPr lang="en-US" altLang="ko-KR" dirty="0"/>
              <a:t>- </a:t>
            </a:r>
            <a:r>
              <a:rPr lang="ko-KR" altLang="en-US" dirty="0"/>
              <a:t>인라인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인라인 함수</a:t>
            </a:r>
            <a:endParaRPr lang="en-US" altLang="ko-KR" sz="1800" dirty="0"/>
          </a:p>
          <a:p>
            <a:pPr lvl="1"/>
            <a:r>
              <a:rPr lang="ko-KR" altLang="en-US" sz="1600" dirty="0"/>
              <a:t>매크로 함수와 동일한 원리</a:t>
            </a:r>
            <a:r>
              <a:rPr lang="en-US" altLang="ko-KR" sz="1600" dirty="0"/>
              <a:t>. </a:t>
            </a:r>
            <a:r>
              <a:rPr lang="ko-KR" altLang="en-US" sz="1600" dirty="0"/>
              <a:t>실행이 빠르지만 코드 증가</a:t>
            </a:r>
            <a:endParaRPr lang="en-US" altLang="ko-KR" sz="1600" dirty="0"/>
          </a:p>
          <a:p>
            <a:pPr lvl="1"/>
            <a:r>
              <a:rPr lang="ko-KR" altLang="en-US" sz="1600" dirty="0"/>
              <a:t>주로 정의가 짧을 때 사용</a:t>
            </a:r>
            <a:r>
              <a:rPr lang="en-US" altLang="ko-KR" sz="1600" dirty="0"/>
              <a:t>. </a:t>
            </a:r>
            <a:r>
              <a:rPr lang="en-US" altLang="ko-KR" sz="1600" dirty="0">
                <a:solidFill>
                  <a:srgbClr val="0000FF"/>
                </a:solidFill>
              </a:rPr>
              <a:t>inline</a:t>
            </a:r>
            <a:r>
              <a:rPr lang="en-US" altLang="ko-KR" sz="1600" dirty="0"/>
              <a:t> </a:t>
            </a:r>
            <a:r>
              <a:rPr lang="ko-KR" altLang="en-US" sz="1600" dirty="0"/>
              <a:t>라는 </a:t>
            </a:r>
            <a:r>
              <a:rPr lang="ko-KR" altLang="en-US" sz="1600" dirty="0" err="1"/>
              <a:t>예약어</a:t>
            </a:r>
            <a:r>
              <a:rPr lang="ko-KR" altLang="en-US" sz="1600" dirty="0"/>
              <a:t> 추가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자동 인라인 함수</a:t>
            </a:r>
            <a:endParaRPr lang="en-US" altLang="ko-KR" sz="1800" dirty="0"/>
          </a:p>
          <a:p>
            <a:pPr lvl="1"/>
            <a:r>
              <a:rPr lang="ko-KR" altLang="en-US" sz="1600" dirty="0" err="1"/>
              <a:t>멤버함수의</a:t>
            </a:r>
            <a:r>
              <a:rPr lang="ko-KR" altLang="en-US" sz="1600" dirty="0"/>
              <a:t> 정의가 아주 짧으면</a:t>
            </a:r>
            <a:r>
              <a:rPr lang="en-US" altLang="ko-KR" sz="1600" dirty="0"/>
              <a:t>, </a:t>
            </a:r>
            <a:r>
              <a:rPr lang="ko-KR" altLang="en-US" sz="1600" dirty="0"/>
              <a:t>클래스 선언 내부에 함수를 직접 정의할 수도 있다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b="1" dirty="0"/>
              <a:t>클래스 내부</a:t>
            </a:r>
            <a:r>
              <a:rPr lang="ko-KR" altLang="en-US" sz="1600" dirty="0"/>
              <a:t>에 정의된 함수는 함수 선언 앞에 </a:t>
            </a:r>
            <a:r>
              <a:rPr lang="en-US" altLang="ko-KR" sz="1600" dirty="0"/>
              <a:t>inline</a:t>
            </a:r>
            <a:r>
              <a:rPr lang="ko-KR" altLang="en-US" sz="1600" dirty="0"/>
              <a:t>이 없어도 자동으로 인라인 함수가 된다</a:t>
            </a:r>
          </a:p>
        </p:txBody>
      </p:sp>
    </p:spTree>
    <p:extLst>
      <p:ext uri="{BB962C8B-B14F-4D97-AF65-F5344CB8AC3E}">
        <p14:creationId xmlns:p14="http://schemas.microsoft.com/office/powerpoint/2010/main" val="3798209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인라인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5D000-0286-451D-96F8-8432A2D36EE1}"/>
              </a:ext>
            </a:extLst>
          </p:cNvPr>
          <p:cNvSpPr txBox="1"/>
          <p:nvPr/>
        </p:nvSpPr>
        <p:spPr>
          <a:xfrm>
            <a:off x="838200" y="1235676"/>
            <a:ext cx="431186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real;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image;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SetComplex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real=2;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image=5; 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</a:t>
            </a:r>
          </a:p>
          <a:p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8E705-1363-484A-A659-6DA872A664D9}"/>
              </a:ext>
            </a:extLst>
          </p:cNvPr>
          <p:cNvSpPr txBox="1"/>
          <p:nvPr/>
        </p:nvSpPr>
        <p:spPr>
          <a:xfrm>
            <a:off x="5349766" y="1235675"/>
            <a:ext cx="600403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inline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"(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real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+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image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)"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x; 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x.SetComplex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x.ShowComplex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01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altLang="ko-KR" dirty="0" err="1"/>
              <a:t>const</a:t>
            </a:r>
            <a:r>
              <a:rPr lang="ko-KR" altLang="en-US" dirty="0"/>
              <a:t> 상수와</a:t>
            </a:r>
            <a:r>
              <a:rPr lang="en-US" altLang="ko-KR" dirty="0"/>
              <a:t> </a:t>
            </a:r>
            <a:r>
              <a:rPr lang="en-US" altLang="ko-KR" dirty="0" err="1"/>
              <a:t>const</a:t>
            </a:r>
            <a:r>
              <a:rPr lang="ko-KR" altLang="en-US" dirty="0"/>
              <a:t> 함수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 err="1"/>
              <a:t>const</a:t>
            </a:r>
            <a:r>
              <a:rPr lang="ko-KR" altLang="en-US" sz="1800" dirty="0"/>
              <a:t> 상수</a:t>
            </a:r>
            <a:endParaRPr lang="en-US" altLang="ko-KR" sz="1800" dirty="0"/>
          </a:p>
          <a:p>
            <a:pPr lvl="1"/>
            <a:r>
              <a:rPr lang="ko-KR" altLang="en-US" sz="1400" dirty="0"/>
              <a:t>일반 변수 선언과 유사하지만 반드시 </a:t>
            </a:r>
            <a:r>
              <a:rPr lang="ko-KR" altLang="en-US" sz="1400" dirty="0" err="1"/>
              <a:t>초깃값을</a:t>
            </a:r>
            <a:r>
              <a:rPr lang="ko-KR" altLang="en-US" sz="1400" dirty="0"/>
              <a:t> 주어야 한다</a:t>
            </a:r>
            <a:endParaRPr lang="en-US" altLang="ko-KR" sz="1400" dirty="0"/>
          </a:p>
          <a:p>
            <a:pPr lvl="1"/>
            <a:r>
              <a:rPr lang="ko-KR" altLang="en-US" sz="1400" dirty="0"/>
              <a:t>변수 선언 시 </a:t>
            </a:r>
            <a:r>
              <a:rPr lang="ko-KR" altLang="en-US" sz="1400" dirty="0" err="1"/>
              <a:t>초깃값으로</a:t>
            </a:r>
            <a:r>
              <a:rPr lang="ko-KR" altLang="en-US" sz="1400" dirty="0"/>
              <a:t> 지정한 값이 영원히 그 </a:t>
            </a:r>
            <a:r>
              <a:rPr lang="ko-KR" altLang="en-US" sz="1400" dirty="0" err="1"/>
              <a:t>변숫값이</a:t>
            </a:r>
            <a:r>
              <a:rPr lang="ko-KR" altLang="en-US" sz="1400" dirty="0"/>
              <a:t> 되어 </a:t>
            </a:r>
            <a:r>
              <a:rPr lang="ko-KR" altLang="en-US" sz="1400" b="1" dirty="0"/>
              <a:t>상수로 사용</a:t>
            </a:r>
            <a:r>
              <a:rPr lang="ko-KR" altLang="en-US" sz="1400" dirty="0"/>
              <a:t>된다</a:t>
            </a:r>
            <a:endParaRPr lang="en-US" altLang="ko-KR" sz="1400" dirty="0"/>
          </a:p>
          <a:p>
            <a:pPr lvl="1"/>
            <a:r>
              <a:rPr lang="ko-KR" altLang="en-US" sz="1400" dirty="0"/>
              <a:t>매크로 상수는 </a:t>
            </a:r>
            <a:r>
              <a:rPr lang="ko-KR" altLang="en-US" sz="1400" dirty="0" err="1"/>
              <a:t>자료형을</a:t>
            </a:r>
            <a:r>
              <a:rPr lang="ko-KR" altLang="en-US" sz="1400" dirty="0"/>
              <a:t> 명시하지 않지만 </a:t>
            </a:r>
            <a:r>
              <a:rPr lang="en-US" altLang="ko-KR" sz="1400" dirty="0" err="1"/>
              <a:t>const</a:t>
            </a:r>
            <a:r>
              <a:rPr lang="en-US" altLang="ko-KR" sz="1400" dirty="0"/>
              <a:t> </a:t>
            </a:r>
            <a:r>
              <a:rPr lang="ko-KR" altLang="en-US" sz="1400" dirty="0"/>
              <a:t>상수는 </a:t>
            </a:r>
            <a:r>
              <a:rPr lang="ko-KR" altLang="en-US" sz="1400" dirty="0" err="1"/>
              <a:t>자료형을</a:t>
            </a:r>
            <a:r>
              <a:rPr lang="ko-KR" altLang="en-US" sz="1400" dirty="0"/>
              <a:t> 명시한다</a:t>
            </a:r>
            <a:endParaRPr lang="en-US" altLang="ko-KR" sz="1400" dirty="0"/>
          </a:p>
          <a:p>
            <a:pPr lvl="1"/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double </a:t>
            </a:r>
            <a:r>
              <a:rPr lang="en-US" altLang="ko-KR" sz="1400" dirty="0">
                <a:latin typeface="Consolas" panose="020B0609020204030204" pitchFamily="49" charset="0"/>
                <a:ea typeface="돋움체" panose="020B0609000101010101" pitchFamily="49" charset="-127"/>
              </a:rPr>
              <a:t>PI = 3.14;</a:t>
            </a:r>
            <a:endParaRPr lang="en-US" altLang="ko-KR" sz="1400" dirty="0"/>
          </a:p>
          <a:p>
            <a:r>
              <a:rPr lang="en-US" altLang="ko-KR" sz="1800" dirty="0" err="1"/>
              <a:t>const</a:t>
            </a:r>
            <a:r>
              <a:rPr lang="ko-KR" altLang="en-US" sz="1800" dirty="0"/>
              <a:t> 함수</a:t>
            </a:r>
            <a:r>
              <a:rPr lang="en-US" altLang="ko-KR" sz="1800" dirty="0"/>
              <a:t> </a:t>
            </a:r>
          </a:p>
          <a:p>
            <a:pPr lvl="1"/>
            <a:r>
              <a:rPr lang="ko-KR" altLang="en-US" sz="1400" dirty="0"/>
              <a:t>클래스의 </a:t>
            </a:r>
            <a:r>
              <a:rPr lang="ko-KR" altLang="en-US" sz="1400" dirty="0" err="1"/>
              <a:t>맴버</a:t>
            </a:r>
            <a:r>
              <a:rPr lang="ko-KR" altLang="en-US" sz="1400" dirty="0"/>
              <a:t> 함수에서 </a:t>
            </a:r>
            <a:r>
              <a:rPr lang="ko-KR" altLang="en-US" sz="1400" b="1" dirty="0">
                <a:solidFill>
                  <a:srgbClr val="0070C0"/>
                </a:solidFill>
              </a:rPr>
              <a:t>멤버변수 값</a:t>
            </a:r>
            <a:r>
              <a:rPr lang="ko-KR" altLang="en-US" sz="1400" dirty="0"/>
              <a:t>을 </a:t>
            </a:r>
            <a:r>
              <a:rPr lang="ko-KR" altLang="en-US" sz="1400" b="1" dirty="0"/>
              <a:t>변경하지 않겠다</a:t>
            </a:r>
            <a:r>
              <a:rPr lang="ko-KR" altLang="en-US" sz="1400" dirty="0"/>
              <a:t>고 선언하는 것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 err="1"/>
              <a:t>const</a:t>
            </a:r>
            <a:r>
              <a:rPr lang="en-US" altLang="ko-KR" sz="1400" dirty="0"/>
              <a:t> </a:t>
            </a:r>
            <a:r>
              <a:rPr lang="ko-KR" altLang="en-US" sz="1400" dirty="0" err="1"/>
              <a:t>예약어로</a:t>
            </a:r>
            <a:r>
              <a:rPr lang="ko-KR" altLang="en-US" sz="1400" dirty="0"/>
              <a:t> 함수를 정의 한다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282261" y="3831969"/>
            <a:ext cx="9820787" cy="2246769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	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Show()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4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함수</a:t>
            </a:r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     	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978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const</a:t>
            </a:r>
            <a:r>
              <a:rPr lang="ko-KR" altLang="en-US" dirty="0"/>
              <a:t>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6948E-9B44-4EA8-A31D-11F7C8BD57A7}"/>
              </a:ext>
            </a:extLst>
          </p:cNvPr>
          <p:cNvSpPr txBox="1"/>
          <p:nvPr/>
        </p:nvSpPr>
        <p:spPr>
          <a:xfrm>
            <a:off x="838200" y="1235676"/>
            <a:ext cx="44064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real;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image;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SetComplex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SetComplex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real=2;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image=5;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1D58D-A55C-4254-A426-E689125853B1}"/>
              </a:ext>
            </a:extLst>
          </p:cNvPr>
          <p:cNvSpPr txBox="1"/>
          <p:nvPr/>
        </p:nvSpPr>
        <p:spPr>
          <a:xfrm>
            <a:off x="5328745" y="1235676"/>
            <a:ext cx="602505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"(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real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+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image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)"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x.SetComplex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x.ShowComplex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201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객체 </a:t>
            </a:r>
            <a:r>
              <a:rPr lang="ko-KR" altLang="en-US" dirty="0" err="1"/>
              <a:t>맴버변수</a:t>
            </a:r>
            <a:r>
              <a:rPr lang="ko-KR" altLang="en-US" dirty="0"/>
              <a:t> 초기화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생성자</a:t>
            </a:r>
            <a:endParaRPr lang="en-US" altLang="ko-KR" dirty="0"/>
          </a:p>
          <a:p>
            <a:r>
              <a:rPr lang="ko-KR" altLang="en-US" dirty="0" err="1"/>
              <a:t>생성자</a:t>
            </a:r>
            <a:r>
              <a:rPr lang="ko-KR" altLang="en-US" dirty="0"/>
              <a:t> 오버로딩</a:t>
            </a:r>
            <a:endParaRPr lang="en-US" altLang="ko-KR" dirty="0"/>
          </a:p>
          <a:p>
            <a:r>
              <a:rPr lang="ko-KR" altLang="en-US" dirty="0" err="1"/>
              <a:t>소멸자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8691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 err="1"/>
              <a:t>생성자</a:t>
            </a:r>
            <a:r>
              <a:rPr lang="en-US" altLang="ko-KR" dirty="0"/>
              <a:t> (constructor)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/>
              <a:t>생성자</a:t>
            </a:r>
            <a:endParaRPr lang="en-US" altLang="ko-KR" sz="1800" dirty="0"/>
          </a:p>
          <a:p>
            <a:pPr lvl="1"/>
            <a:r>
              <a:rPr lang="ko-KR" altLang="en-US" sz="1600" dirty="0"/>
              <a:t>클래스도 객체를 생성할 때 기본 </a:t>
            </a:r>
            <a:r>
              <a:rPr lang="ko-KR" altLang="en-US" sz="1600" dirty="0" err="1"/>
              <a:t>자료형처럼</a:t>
            </a:r>
            <a:r>
              <a:rPr lang="ko-KR" altLang="en-US" sz="1600" dirty="0"/>
              <a:t> </a:t>
            </a:r>
            <a:r>
              <a:rPr lang="ko-KR" altLang="en-US" sz="1600" b="1" dirty="0" err="1">
                <a:solidFill>
                  <a:srgbClr val="0070C0"/>
                </a:solidFill>
              </a:rPr>
              <a:t>초깃값</a:t>
            </a:r>
            <a:r>
              <a:rPr lang="ko-KR" altLang="en-US" sz="1600" dirty="0" err="1"/>
              <a:t>을</a:t>
            </a:r>
            <a:r>
              <a:rPr lang="ko-KR" altLang="en-US" sz="1600" dirty="0"/>
              <a:t> 줄 수 있어야 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가능하게 하는 것이 </a:t>
            </a:r>
            <a:r>
              <a:rPr lang="ko-KR" altLang="en-US" sz="1600" dirty="0" err="1"/>
              <a:t>생성자다</a:t>
            </a:r>
            <a:endParaRPr lang="en-US" altLang="ko-KR" sz="1600" dirty="0"/>
          </a:p>
          <a:p>
            <a:r>
              <a:rPr lang="ko-KR" altLang="en-US" sz="1800" dirty="0"/>
              <a:t>생성자의 특징</a:t>
            </a:r>
            <a:endParaRPr lang="en-US" altLang="ko-KR" sz="1800" dirty="0"/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 err="1"/>
              <a:t>생성자는</a:t>
            </a:r>
            <a:r>
              <a:rPr lang="ko-KR" altLang="en-US" sz="1600" dirty="0"/>
              <a:t> </a:t>
            </a:r>
            <a:r>
              <a:rPr lang="ko-KR" altLang="en-US" sz="1600" b="1" dirty="0"/>
              <a:t>특별한 </a:t>
            </a:r>
            <a:r>
              <a:rPr lang="ko-KR" altLang="en-US" sz="1600" b="1" dirty="0" err="1">
                <a:solidFill>
                  <a:srgbClr val="C00000"/>
                </a:solidFill>
              </a:rPr>
              <a:t>멤버함수</a:t>
            </a:r>
            <a:r>
              <a:rPr lang="ko-KR" altLang="en-US" sz="1600" dirty="0" err="1"/>
              <a:t>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 err="1"/>
              <a:t>생성자명은</a:t>
            </a:r>
            <a:r>
              <a:rPr lang="ko-KR" altLang="en-US" sz="1600" dirty="0"/>
              <a:t> </a:t>
            </a:r>
            <a:r>
              <a:rPr lang="ko-KR" altLang="en-US" sz="1600" b="1" dirty="0" err="1">
                <a:solidFill>
                  <a:srgbClr val="C00000"/>
                </a:solidFill>
              </a:rPr>
              <a:t>클래스명</a:t>
            </a:r>
            <a:r>
              <a:rPr lang="ko-KR" altLang="en-US" sz="1600" dirty="0" err="1"/>
              <a:t>과</a:t>
            </a:r>
            <a:r>
              <a:rPr lang="ko-KR" altLang="en-US" sz="1600" dirty="0"/>
              <a:t> </a:t>
            </a:r>
            <a:r>
              <a:rPr lang="ko-KR" altLang="en-US" sz="1600" b="1" dirty="0"/>
              <a:t>동일</a:t>
            </a:r>
            <a:r>
              <a:rPr lang="ko-KR" altLang="en-US" sz="1600" dirty="0"/>
              <a:t>하다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"/>
            </a:pPr>
            <a:r>
              <a:rPr lang="ko-KR" altLang="en-US" sz="1600" dirty="0" err="1"/>
              <a:t>생성자는</a:t>
            </a:r>
            <a:r>
              <a:rPr lang="ko-KR" altLang="en-US" sz="1600" dirty="0"/>
              <a:t> </a:t>
            </a:r>
            <a:r>
              <a:rPr lang="ko-KR" altLang="en-US" sz="1600" b="1" dirty="0" err="1"/>
              <a:t>자료형</a:t>
            </a:r>
            <a:r>
              <a:rPr lang="en-US" altLang="ko-KR" sz="1600" b="1" dirty="0"/>
              <a:t>(</a:t>
            </a:r>
            <a:r>
              <a:rPr lang="ko-KR" altLang="en-US" sz="1600" b="1" dirty="0" err="1">
                <a:solidFill>
                  <a:srgbClr val="C00000"/>
                </a:solidFill>
              </a:rPr>
              <a:t>반환값의</a:t>
            </a:r>
            <a:r>
              <a:rPr lang="ko-KR" altLang="en-US" sz="1600" b="1" dirty="0">
                <a:solidFill>
                  <a:srgbClr val="C00000"/>
                </a:solidFill>
              </a:rPr>
              <a:t> 유형</a:t>
            </a:r>
            <a:r>
              <a:rPr lang="en-US" altLang="ko-KR" sz="1600" dirty="0"/>
              <a:t>)</a:t>
            </a:r>
            <a:r>
              <a:rPr lang="ko-KR" altLang="en-US" sz="1600" dirty="0"/>
              <a:t>을 </a:t>
            </a:r>
            <a:r>
              <a:rPr lang="ko-KR" altLang="en-US" sz="1600" b="1" dirty="0"/>
              <a:t>지정하지 않는다</a:t>
            </a:r>
            <a:r>
              <a:rPr lang="en-US" altLang="ko-KR" sz="1600" b="1" dirty="0"/>
              <a:t>.</a:t>
            </a:r>
          </a:p>
          <a:p>
            <a:pPr lvl="1">
              <a:buFont typeface="Wingdings" pitchFamily="2" charset="2"/>
              <a:buChar char=""/>
            </a:pPr>
            <a:r>
              <a:rPr lang="ko-KR" altLang="en-US" sz="1600" dirty="0"/>
              <a:t>생성자의 호출은 암시적으로 이루어진다</a:t>
            </a:r>
            <a:r>
              <a:rPr lang="en-US" altLang="ko-KR" sz="1600" dirty="0"/>
              <a:t>. </a:t>
            </a:r>
          </a:p>
          <a:p>
            <a:pPr lvl="1">
              <a:buFont typeface="Wingdings" pitchFamily="2" charset="2"/>
              <a:buChar char=""/>
            </a:pPr>
            <a:r>
              <a:rPr lang="ko-KR" altLang="en-US" sz="1600" dirty="0" err="1"/>
              <a:t>생성자는</a:t>
            </a:r>
            <a:r>
              <a:rPr lang="ko-KR" altLang="en-US" sz="1600" dirty="0"/>
              <a:t> 객체를 선언</a:t>
            </a:r>
            <a:r>
              <a:rPr lang="en-US" altLang="ko-KR" sz="1600" dirty="0"/>
              <a:t>(</a:t>
            </a:r>
            <a:r>
              <a:rPr lang="ko-KR" altLang="en-US" sz="1600" dirty="0"/>
              <a:t>생성</a:t>
            </a:r>
            <a:r>
              <a:rPr lang="en-US" altLang="ko-KR" sz="1600" dirty="0"/>
              <a:t>)</a:t>
            </a:r>
            <a:r>
              <a:rPr lang="ko-KR" altLang="en-US" sz="1600" dirty="0"/>
              <a:t>할 때 컴파일러에 의해 </a:t>
            </a:r>
            <a:r>
              <a:rPr lang="ko-KR" altLang="en-US" sz="1600" b="1" dirty="0"/>
              <a:t>자동으로 호출된다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"/>
            </a:pPr>
            <a:r>
              <a:rPr lang="ko-KR" altLang="en-US" sz="1600" b="1" dirty="0"/>
              <a:t>객체의 </a:t>
            </a:r>
            <a:r>
              <a:rPr lang="ko-KR" altLang="en-US" sz="1600" b="1" dirty="0" err="1"/>
              <a:t>초기화</a:t>
            </a:r>
            <a:r>
              <a:rPr lang="ko-KR" altLang="en-US" sz="1600" dirty="0" err="1"/>
              <a:t>란</a:t>
            </a:r>
            <a:r>
              <a:rPr lang="ko-KR" altLang="en-US" sz="1600" dirty="0"/>
              <a:t> </a:t>
            </a:r>
            <a:r>
              <a:rPr lang="ko-KR" altLang="en-US" sz="1600" b="1" dirty="0"/>
              <a:t>멤버변수</a:t>
            </a:r>
            <a:r>
              <a:rPr lang="ko-KR" altLang="en-US" sz="1600" dirty="0"/>
              <a:t>의 초기화를 의미한다</a:t>
            </a:r>
            <a:r>
              <a:rPr lang="en-US" altLang="ko-KR" sz="1600" dirty="0"/>
              <a:t>.</a:t>
            </a:r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83133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 err="1"/>
              <a:t>기본생성자</a:t>
            </a:r>
            <a:r>
              <a:rPr lang="en-US" altLang="ko-KR" dirty="0"/>
              <a:t> (default constructor)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기본 </a:t>
            </a:r>
            <a:r>
              <a:rPr lang="ko-KR" altLang="en-US" sz="1800" dirty="0" err="1"/>
              <a:t>생성자</a:t>
            </a:r>
            <a:endParaRPr lang="en-US" altLang="ko-KR" sz="1800" dirty="0"/>
          </a:p>
          <a:p>
            <a:pPr lvl="1"/>
            <a:r>
              <a:rPr lang="ko-KR" altLang="en-US" sz="1400" b="1" dirty="0" err="1"/>
              <a:t>생성자를</a:t>
            </a:r>
            <a:r>
              <a:rPr lang="ko-KR" altLang="en-US" sz="1400" b="1" dirty="0"/>
              <a:t> 명시적으로 만들지 않으면</a:t>
            </a:r>
            <a:r>
              <a:rPr lang="ko-KR" altLang="en-US" sz="1400" dirty="0"/>
              <a:t> </a:t>
            </a:r>
            <a:r>
              <a:rPr lang="en-US" altLang="ko-KR" sz="1400" dirty="0"/>
              <a:t>C++ </a:t>
            </a:r>
            <a:r>
              <a:rPr lang="ko-KR" altLang="en-US" sz="1400" dirty="0"/>
              <a:t>컴파일러는 </a:t>
            </a:r>
            <a:r>
              <a:rPr lang="ko-KR" altLang="en-US" sz="1400" b="1" dirty="0"/>
              <a:t>매개변수가 없는 </a:t>
            </a:r>
            <a:r>
              <a:rPr lang="ko-KR" altLang="en-US" sz="1400" b="1" dirty="0" err="1"/>
              <a:t>생성자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자동</a:t>
            </a:r>
            <a:r>
              <a:rPr lang="ko-KR" altLang="en-US" sz="1400" dirty="0"/>
              <a:t>으로 만들어 놓는다</a:t>
            </a:r>
            <a:endParaRPr lang="en-US" altLang="ko-KR" sz="1400" dirty="0"/>
          </a:p>
          <a:p>
            <a:pPr lvl="1"/>
            <a:r>
              <a:rPr lang="ko-KR" altLang="en-US" sz="1400" dirty="0"/>
              <a:t>컴파일러가 만든 매개변수가 없는 </a:t>
            </a:r>
            <a:r>
              <a:rPr lang="ko-KR" altLang="en-US" sz="1400" dirty="0" err="1"/>
              <a:t>생성자는</a:t>
            </a:r>
            <a:r>
              <a:rPr lang="ko-KR" altLang="en-US" sz="1400" dirty="0"/>
              <a:t> 아무런 일도 하지 않는데</a:t>
            </a:r>
            <a:r>
              <a:rPr lang="en-US" altLang="ko-KR" sz="1400" dirty="0"/>
              <a:t>, </a:t>
            </a:r>
          </a:p>
          <a:p>
            <a:pPr lvl="1"/>
            <a:r>
              <a:rPr lang="ko-KR" altLang="en-US" sz="1400" dirty="0"/>
              <a:t>이러한 </a:t>
            </a:r>
            <a:r>
              <a:rPr lang="ko-KR" altLang="en-US" sz="1400" dirty="0" err="1"/>
              <a:t>생성자를</a:t>
            </a:r>
            <a:r>
              <a:rPr lang="ko-KR" altLang="en-US" sz="1400" dirty="0"/>
              <a:t> ‘</a:t>
            </a:r>
            <a:r>
              <a:rPr lang="ko-KR" altLang="en-US" sz="1400" b="1" dirty="0">
                <a:solidFill>
                  <a:srgbClr val="C00000"/>
                </a:solidFill>
              </a:rPr>
              <a:t>기본 </a:t>
            </a:r>
            <a:r>
              <a:rPr lang="ko-KR" altLang="en-US" sz="1400" b="1" dirty="0" err="1">
                <a:solidFill>
                  <a:srgbClr val="C00000"/>
                </a:solidFill>
              </a:rPr>
              <a:t>생성자</a:t>
            </a:r>
            <a:r>
              <a:rPr lang="en-US" altLang="ko-KR" sz="1400" b="1" dirty="0"/>
              <a:t>(default constructor)</a:t>
            </a:r>
            <a:r>
              <a:rPr lang="en-US" altLang="ko-KR" sz="1400" dirty="0"/>
              <a:t>’</a:t>
            </a:r>
            <a:r>
              <a:rPr lang="ko-KR" altLang="en-US" sz="1400" dirty="0"/>
              <a:t>라고 한다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r>
              <a:rPr lang="ko-KR" altLang="en-US" sz="1800" dirty="0" err="1"/>
              <a:t>생성자</a:t>
            </a:r>
            <a:r>
              <a:rPr lang="ko-KR" altLang="en-US" sz="1800" dirty="0"/>
              <a:t> 재정의</a:t>
            </a:r>
            <a:endParaRPr lang="en-US" altLang="ko-KR" sz="1800" dirty="0"/>
          </a:p>
          <a:p>
            <a:pPr lvl="1"/>
            <a:r>
              <a:rPr lang="ko-KR" altLang="en-US" sz="1400" dirty="0"/>
              <a:t>객체가 </a:t>
            </a:r>
            <a:r>
              <a:rPr lang="ko-KR" altLang="en-US" sz="1400" b="1" dirty="0"/>
              <a:t>생성</a:t>
            </a:r>
            <a:r>
              <a:rPr lang="ko-KR" altLang="en-US" sz="1400" dirty="0"/>
              <a:t>될 때 </a:t>
            </a:r>
            <a:r>
              <a:rPr lang="ko-KR" altLang="en-US" sz="1400" b="1" dirty="0" err="1"/>
              <a:t>멤버변수에</a:t>
            </a:r>
            <a:r>
              <a:rPr lang="ko-KR" altLang="en-US" sz="1400" b="1" dirty="0"/>
              <a:t> 특정한 값을 저장하려면</a:t>
            </a:r>
            <a:r>
              <a:rPr lang="en-US" altLang="ko-KR" sz="1400" b="1" dirty="0"/>
              <a:t>,</a:t>
            </a:r>
            <a:r>
              <a:rPr lang="ko-KR" altLang="en-US" sz="1400" dirty="0"/>
              <a:t> 프로그래머가 매개변수가 없는 </a:t>
            </a:r>
            <a:r>
              <a:rPr lang="ko-KR" altLang="en-US" sz="1400" dirty="0" err="1"/>
              <a:t>생성자를</a:t>
            </a:r>
            <a:r>
              <a:rPr lang="ko-KR" altLang="en-US" sz="1400" dirty="0"/>
              <a:t> 재정의해 주어야 한다</a:t>
            </a:r>
            <a:r>
              <a:rPr lang="en-US" altLang="ko-KR" sz="1400" dirty="0"/>
              <a:t>.</a:t>
            </a:r>
          </a:p>
          <a:p>
            <a:pPr lvl="1">
              <a:buNone/>
            </a:pP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082662" y="3997978"/>
            <a:ext cx="923382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num1 = 0;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선언하지 않으면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기본생성자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호출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num1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37079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235676"/>
            <a:ext cx="105156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num1 = 0;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생성자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확인을 위해 선언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선언하지 않으면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기본생성자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호출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num1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 객체 선언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생성자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호출    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myclass.Show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0325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 err="1"/>
              <a:t>소멸자</a:t>
            </a:r>
            <a:r>
              <a:rPr lang="en-US" altLang="ko-KR" dirty="0"/>
              <a:t> (destructor)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800" dirty="0" err="1"/>
              <a:t>소멸자는</a:t>
            </a:r>
            <a:r>
              <a:rPr lang="ko-KR" altLang="en-US" sz="1800" dirty="0"/>
              <a:t> 생성자의 반대되는 개념이다</a:t>
            </a:r>
            <a:r>
              <a:rPr lang="en-US" altLang="ko-KR" sz="1800" dirty="0"/>
              <a:t>. </a:t>
            </a:r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 err="1"/>
              <a:t>생성자는</a:t>
            </a:r>
            <a:r>
              <a:rPr lang="ko-KR" altLang="en-US" sz="1600" dirty="0"/>
              <a:t> 객체가 생성될 때 자동 호출되고 </a:t>
            </a:r>
            <a:r>
              <a:rPr lang="ko-KR" altLang="en-US" sz="1600" dirty="0" err="1"/>
              <a:t>소멸자는</a:t>
            </a:r>
            <a:r>
              <a:rPr lang="ko-KR" altLang="en-US" sz="1600" dirty="0"/>
              <a:t> 객체가 </a:t>
            </a:r>
            <a:r>
              <a:rPr lang="ko-KR" altLang="en-US" sz="1600" b="1" dirty="0"/>
              <a:t>소멸될 때 자동으로 호출</a:t>
            </a:r>
            <a:r>
              <a:rPr lang="ko-KR" altLang="en-US" sz="1600" dirty="0"/>
              <a:t>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/>
              <a:t>생성자가 객체를 초기화하기 위한 멤버함수라면 </a:t>
            </a:r>
            <a:r>
              <a:rPr lang="ko-KR" altLang="en-US" sz="1600" dirty="0" err="1"/>
              <a:t>소멸자는</a:t>
            </a:r>
            <a:r>
              <a:rPr lang="ko-KR" altLang="en-US" sz="1600" dirty="0"/>
              <a:t> </a:t>
            </a:r>
            <a:r>
              <a:rPr lang="ko-KR" altLang="en-US" sz="1600" b="1" dirty="0"/>
              <a:t>객체를 정리</a:t>
            </a:r>
            <a:r>
              <a:rPr lang="ko-KR" altLang="en-US" sz="1600" dirty="0"/>
              <a:t>해 주는</a:t>
            </a:r>
            <a:r>
              <a:rPr lang="en-US" altLang="ko-KR" sz="1600" dirty="0"/>
              <a:t>(</a:t>
            </a:r>
            <a:r>
              <a:rPr lang="ko-KR" altLang="en-US" sz="1600" dirty="0"/>
              <a:t>리소스를 해제 등</a:t>
            </a:r>
            <a:r>
              <a:rPr lang="en-US" altLang="ko-KR" sz="1600" dirty="0"/>
              <a:t>) </a:t>
            </a:r>
            <a:r>
              <a:rPr lang="ko-KR" altLang="en-US" sz="1600" dirty="0" err="1"/>
              <a:t>멤버함수다</a:t>
            </a:r>
            <a:r>
              <a:rPr lang="en-US" altLang="ko-KR" sz="1600" dirty="0"/>
              <a:t>.</a:t>
            </a:r>
          </a:p>
          <a:p>
            <a:r>
              <a:rPr lang="ko-KR" altLang="en-US" sz="1800" dirty="0"/>
              <a:t>소멸자의 특징</a:t>
            </a:r>
            <a:endParaRPr lang="en-US" altLang="ko-KR" sz="1800" dirty="0"/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 err="1"/>
              <a:t>소멸자</a:t>
            </a:r>
            <a:r>
              <a:rPr lang="ko-KR" altLang="en-US" sz="1600" dirty="0"/>
              <a:t> 함수는 </a:t>
            </a:r>
            <a:r>
              <a:rPr lang="ko-KR" altLang="en-US" sz="1600" b="1" dirty="0" err="1"/>
              <a:t>멤버함수</a:t>
            </a:r>
            <a:r>
              <a:rPr lang="ko-KR" altLang="en-US" sz="1600" dirty="0" err="1"/>
              <a:t>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 err="1"/>
              <a:t>소멸자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함수명도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생성자처럼</a:t>
            </a:r>
            <a:r>
              <a:rPr lang="ko-KR" altLang="en-US" sz="1600" dirty="0"/>
              <a:t> </a:t>
            </a:r>
            <a:r>
              <a:rPr lang="ko-KR" altLang="en-US" sz="1600" b="1" dirty="0" err="1">
                <a:solidFill>
                  <a:srgbClr val="FF0000"/>
                </a:solidFill>
              </a:rPr>
              <a:t>클래스명</a:t>
            </a:r>
            <a:r>
              <a:rPr lang="ko-KR" altLang="en-US" sz="1600" b="1" dirty="0" err="1"/>
              <a:t>을</a:t>
            </a:r>
            <a:r>
              <a:rPr lang="ko-KR" altLang="en-US" sz="1600" b="1" dirty="0"/>
              <a:t> 사용</a:t>
            </a:r>
            <a:r>
              <a:rPr lang="ko-KR" altLang="en-US" sz="1600" dirty="0"/>
              <a:t>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"/>
            </a:pPr>
            <a:r>
              <a:rPr lang="ko-KR" altLang="en-US" sz="1600" dirty="0" err="1"/>
              <a:t>소멸자</a:t>
            </a:r>
            <a:r>
              <a:rPr lang="ko-KR" altLang="en-US" sz="1600" dirty="0"/>
              <a:t> 함수는 </a:t>
            </a:r>
            <a:r>
              <a:rPr lang="ko-KR" altLang="en-US" sz="1600" dirty="0" err="1"/>
              <a:t>생성자</a:t>
            </a:r>
            <a:r>
              <a:rPr lang="ko-KR" altLang="en-US" sz="1600" dirty="0"/>
              <a:t> 함수와 구분하려고 </a:t>
            </a:r>
            <a:r>
              <a:rPr lang="ko-KR" altLang="en-US" sz="1600" dirty="0" err="1"/>
              <a:t>함수명</a:t>
            </a:r>
            <a:r>
              <a:rPr lang="ko-KR" altLang="en-US" sz="1600" dirty="0"/>
              <a:t> 앞에 </a:t>
            </a:r>
            <a:r>
              <a:rPr lang="en-US" altLang="ko-KR" sz="1600" b="1" dirty="0">
                <a:solidFill>
                  <a:srgbClr val="C00000"/>
                </a:solidFill>
              </a:rPr>
              <a:t>~(tilde) </a:t>
            </a:r>
            <a:r>
              <a:rPr lang="ko-KR" altLang="en-US" sz="1600" dirty="0">
                <a:solidFill>
                  <a:srgbClr val="C00000"/>
                </a:solidFill>
              </a:rPr>
              <a:t>기호</a:t>
            </a:r>
            <a:r>
              <a:rPr lang="ko-KR" altLang="en-US" sz="1600" dirty="0"/>
              <a:t>를 붙인다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"/>
            </a:pPr>
            <a:r>
              <a:rPr lang="ko-KR" altLang="en-US" sz="1600" dirty="0" err="1"/>
              <a:t>소멸자는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자료형을</a:t>
            </a:r>
            <a:r>
              <a:rPr lang="ko-KR" altLang="en-US" sz="1600" dirty="0"/>
              <a:t> 지정하지 않는다 </a:t>
            </a:r>
            <a:r>
              <a:rPr lang="en-US" altLang="ko-KR" sz="1600" dirty="0"/>
              <a:t>(</a:t>
            </a:r>
            <a:r>
              <a:rPr lang="ko-KR" altLang="en-US" sz="1600" b="1" dirty="0" err="1"/>
              <a:t>반환값의</a:t>
            </a:r>
            <a:r>
              <a:rPr lang="ko-KR" altLang="en-US" sz="1600" b="1" dirty="0"/>
              <a:t> 유형을 지정하지 않는다</a:t>
            </a:r>
            <a:r>
              <a:rPr lang="en-US" altLang="ko-KR" sz="1600" dirty="0"/>
              <a:t>).</a:t>
            </a:r>
          </a:p>
          <a:p>
            <a:pPr lvl="1">
              <a:buFont typeface="Wingdings" pitchFamily="2" charset="2"/>
              <a:buChar char=""/>
            </a:pPr>
            <a:r>
              <a:rPr lang="ko-KR" altLang="en-US" sz="1600" dirty="0"/>
              <a:t>소멸자의 호출은 명시적이지 않다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"/>
            </a:pPr>
            <a:r>
              <a:rPr lang="ko-KR" altLang="en-US" sz="1600" dirty="0" err="1"/>
              <a:t>소멸자는</a:t>
            </a:r>
            <a:r>
              <a:rPr lang="ko-KR" altLang="en-US" sz="1600" dirty="0"/>
              <a:t> 객체 </a:t>
            </a:r>
            <a:r>
              <a:rPr lang="ko-KR" altLang="en-US" sz="1600" b="1" dirty="0"/>
              <a:t>소멸 시 자동 호출</a:t>
            </a:r>
            <a:r>
              <a:rPr lang="ko-KR" altLang="en-US" sz="1600" dirty="0"/>
              <a:t>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"/>
            </a:pPr>
            <a:r>
              <a:rPr lang="ko-KR" altLang="en-US" sz="1600" dirty="0" err="1"/>
              <a:t>소멸자는</a:t>
            </a:r>
            <a:r>
              <a:rPr lang="ko-KR" altLang="en-US" sz="1600" dirty="0"/>
              <a:t> 전달</a:t>
            </a:r>
            <a:r>
              <a:rPr lang="ko-KR" altLang="en-US" sz="1600" b="1" dirty="0"/>
              <a:t> </a:t>
            </a:r>
            <a:r>
              <a:rPr lang="ko-KR" altLang="en-US" sz="1600" b="1" dirty="0">
                <a:solidFill>
                  <a:srgbClr val="FF0000"/>
                </a:solidFill>
              </a:rPr>
              <a:t>매개변수를 지정할 수 없다</a:t>
            </a:r>
            <a:r>
              <a:rPr lang="en-US" altLang="ko-KR" sz="1600" b="1" dirty="0"/>
              <a:t>.</a:t>
            </a:r>
          </a:p>
          <a:p>
            <a:pPr lvl="1">
              <a:buFont typeface="Wingdings" pitchFamily="2" charset="2"/>
              <a:buChar char=""/>
            </a:pPr>
            <a:r>
              <a:rPr lang="ko-KR" altLang="en-US" sz="1600" dirty="0" err="1"/>
              <a:t>소멸자는</a:t>
            </a:r>
            <a:r>
              <a:rPr lang="ko-KR" altLang="en-US" sz="1600" dirty="0"/>
              <a:t> 전달 매개변수를 지정할 수 없으므로 </a:t>
            </a:r>
            <a:r>
              <a:rPr lang="ko-KR" altLang="en-US" sz="1600" b="1" dirty="0"/>
              <a:t>오버로딩 할 수 없다</a:t>
            </a:r>
            <a:r>
              <a:rPr lang="en-US" altLang="ko-KR" sz="1600" dirty="0"/>
              <a:t>.</a:t>
            </a:r>
          </a:p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264222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</a:t>
            </a:r>
            <a:r>
              <a:rPr lang="ko-KR" altLang="en-US" dirty="0" err="1"/>
              <a:t>소멸자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기본 </a:t>
            </a:r>
            <a:r>
              <a:rPr lang="ko-KR" altLang="en-US" sz="1800" dirty="0" err="1"/>
              <a:t>생성자와</a:t>
            </a:r>
            <a:r>
              <a:rPr lang="ko-KR" altLang="en-US" sz="1800" dirty="0"/>
              <a:t> 기본 </a:t>
            </a:r>
            <a:r>
              <a:rPr lang="ko-KR" altLang="en-US" sz="1800" dirty="0" err="1"/>
              <a:t>소멸자</a:t>
            </a:r>
            <a:endParaRPr lang="en-US" altLang="ko-KR" sz="1800" dirty="0"/>
          </a:p>
          <a:p>
            <a:r>
              <a:rPr lang="ko-KR" altLang="en-US" sz="1800" dirty="0"/>
              <a:t>소멸자도 생성자와 마찬가지로 명시적으로 선언하지 않으면 기본 소멸자가 호출된다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객체를</a:t>
            </a:r>
            <a:r>
              <a:rPr lang="en-US" altLang="ko-KR" sz="1800" dirty="0"/>
              <a:t> </a:t>
            </a:r>
            <a:r>
              <a:rPr lang="ko-KR" altLang="en-US" sz="1800" dirty="0"/>
              <a:t>선언해서 생성자 </a:t>
            </a:r>
            <a:r>
              <a:rPr lang="ko-KR" altLang="en-US" sz="1800" dirty="0" err="1"/>
              <a:t>소멸자</a:t>
            </a:r>
            <a:r>
              <a:rPr lang="ko-KR" altLang="en-US" sz="1800" dirty="0"/>
              <a:t> 호출을 확인하세요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096926" y="2614481"/>
            <a:ext cx="499907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96926" y="3785286"/>
            <a:ext cx="499907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기본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생성자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~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기본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소멸자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CE6D8B6-310F-490A-9B3A-B370383203E2}"/>
              </a:ext>
            </a:extLst>
          </p:cNvPr>
          <p:cNvSpPr/>
          <p:nvPr/>
        </p:nvSpPr>
        <p:spPr>
          <a:xfrm>
            <a:off x="6225363" y="4668217"/>
            <a:ext cx="499907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ko-KR" altLang="en-US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87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함수 오버로딩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함수의 </a:t>
            </a:r>
            <a:r>
              <a:rPr lang="ko-KR" altLang="en-US" sz="1600" dirty="0" err="1"/>
              <a:t>시그너처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400" dirty="0"/>
              <a:t>함수를 구분하기 위한 구성요소를 </a:t>
            </a:r>
            <a:r>
              <a:rPr lang="ko-KR" altLang="en-US" sz="1400" dirty="0" err="1"/>
              <a:t>시그너처</a:t>
            </a:r>
            <a:r>
              <a:rPr lang="en-US" altLang="ko-KR" sz="1400" dirty="0"/>
              <a:t>(signature)</a:t>
            </a:r>
            <a:r>
              <a:rPr lang="ko-KR" altLang="en-US" sz="1400" dirty="0"/>
              <a:t>라 한다</a:t>
            </a:r>
            <a:r>
              <a:rPr lang="en-US" altLang="ko-KR" sz="1400" dirty="0"/>
              <a:t>.</a:t>
            </a:r>
          </a:p>
          <a:p>
            <a:pPr lvl="1">
              <a:buFont typeface="Wingdings" pitchFamily="2" charset="2"/>
              <a:buChar char=""/>
            </a:pPr>
            <a:r>
              <a:rPr lang="ko-KR" altLang="en-US" sz="1400" dirty="0" err="1"/>
              <a:t>함수명</a:t>
            </a:r>
            <a:endParaRPr lang="en-US" altLang="ko-KR" sz="1400" dirty="0"/>
          </a:p>
          <a:p>
            <a:pPr lvl="1">
              <a:buFont typeface="Wingdings" pitchFamily="2" charset="2"/>
              <a:buChar char=""/>
            </a:pPr>
            <a:r>
              <a:rPr lang="ko-KR" altLang="en-US" sz="1400" dirty="0"/>
              <a:t>매개변수의 개수</a:t>
            </a:r>
            <a:endParaRPr lang="en-US" altLang="ko-KR" sz="1400" dirty="0"/>
          </a:p>
          <a:p>
            <a:pPr lvl="1">
              <a:buFont typeface="Wingdings" pitchFamily="2" charset="2"/>
              <a:buChar char=""/>
            </a:pPr>
            <a:r>
              <a:rPr lang="ko-KR" altLang="en-US" sz="1400" dirty="0"/>
              <a:t>매개변수의 </a:t>
            </a:r>
            <a:r>
              <a:rPr lang="ko-KR" altLang="en-US" sz="1400" dirty="0" err="1"/>
              <a:t>자료형</a:t>
            </a:r>
            <a:endParaRPr lang="en-US" altLang="ko-KR" sz="1400" dirty="0"/>
          </a:p>
          <a:p>
            <a:r>
              <a:rPr lang="ko-KR" altLang="en-US" sz="1600" dirty="0"/>
              <a:t>함수의 </a:t>
            </a:r>
            <a:r>
              <a:rPr lang="ko-KR" altLang="en-US" sz="1600" dirty="0" err="1"/>
              <a:t>다형성</a:t>
            </a:r>
            <a:r>
              <a:rPr lang="en-US" altLang="ko-KR" sz="1600" dirty="0"/>
              <a:t>(polymorphism)</a:t>
            </a:r>
          </a:p>
          <a:p>
            <a:pPr lvl="1"/>
            <a:r>
              <a:rPr lang="ko-KR" altLang="en-US" sz="1400" dirty="0"/>
              <a:t>동일한 접근 방식으로 호출하지만 다양한 결과를 얻는다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 err="1"/>
              <a:t>함수명을</a:t>
            </a:r>
            <a:r>
              <a:rPr lang="ko-KR" altLang="en-US" sz="1400" dirty="0"/>
              <a:t> 동일하게 사용할 수 있으므로 프로그램을 훨씬 쉽게 작성할 수 있다</a:t>
            </a:r>
            <a:endParaRPr lang="en-US" altLang="ko-KR" sz="1400" dirty="0"/>
          </a:p>
          <a:p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041115" y="4012243"/>
            <a:ext cx="943107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Abs(</a:t>
            </a:r>
            <a:r>
              <a:rPr lang="fr-FR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if ( </a:t>
            </a:r>
            <a:r>
              <a:rPr lang="fr-FR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 &lt; 0 ) x = -x;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fr-FR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Float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Abs(</a:t>
            </a:r>
            <a:r>
              <a:rPr lang="fr-FR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float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if ( </a:t>
            </a:r>
            <a:r>
              <a:rPr lang="fr-FR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 &lt; 0 ) x = -x;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821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 </a:t>
            </a: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BCE255-6518-49AB-9832-463B2D3039C9}"/>
              </a:ext>
            </a:extLst>
          </p:cNvPr>
          <p:cNvSpPr txBox="1"/>
          <p:nvPr/>
        </p:nvSpPr>
        <p:spPr>
          <a:xfrm>
            <a:off x="809916" y="1235676"/>
            <a:ext cx="467648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myabs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&lt;0)    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=-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myabs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&lt;0)    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=-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long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myabs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long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&lt;0)  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=-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8E1F13-714F-40CF-87BE-EB353A544A72}"/>
              </a:ext>
            </a:extLst>
          </p:cNvPr>
          <p:cNvSpPr txBox="1"/>
          <p:nvPr/>
        </p:nvSpPr>
        <p:spPr>
          <a:xfrm>
            <a:off x="5791200" y="1235676"/>
            <a:ext cx="548640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a=-10;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의 절댓값은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 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myabs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(a)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double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b=-3.4;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의 절댓값은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 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myabs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(b)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long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c=-20L;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c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의 절댓값은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 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myabs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(c)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822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297C2-4AB9-405B-B940-55BE4703A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8412E6-1417-4D56-8E11-0F56830B5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4B9C2-13E2-4051-8C50-9CDCF1183690}"/>
              </a:ext>
            </a:extLst>
          </p:cNvPr>
          <p:cNvSpPr txBox="1"/>
          <p:nvPr/>
        </p:nvSpPr>
        <p:spPr>
          <a:xfrm>
            <a:off x="6258910" y="1235676"/>
            <a:ext cx="503267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fr-F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print(</a:t>
            </a:r>
            <a:r>
              <a:rPr lang="fr-F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fr-F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fr-F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z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z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fr-F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print(</a:t>
            </a:r>
            <a:r>
              <a:rPr lang="fr-F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fr-F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print(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print(10, 20, 30);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print(10, 20);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print(10);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C2851-D1E4-4D3F-977F-5EB46EF3BBFA}"/>
              </a:ext>
            </a:extLst>
          </p:cNvPr>
          <p:cNvSpPr txBox="1"/>
          <p:nvPr/>
        </p:nvSpPr>
        <p:spPr>
          <a:xfrm>
            <a:off x="838200" y="1235676"/>
            <a:ext cx="4871546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printstr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*);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printstr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printstr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"I'm Sorry"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printstr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'a'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,3);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printstr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the_string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the_string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printstr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the_char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repeat_cnt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nn-NO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nn-NO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for</a:t>
            </a:r>
            <a:r>
              <a:rPr lang="nn-NO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nn-NO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nn-NO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 = 0; i &lt; </a:t>
            </a:r>
            <a:r>
              <a:rPr lang="nn-NO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repeat_cnt</a:t>
            </a:r>
            <a:r>
              <a:rPr lang="nn-NO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i++)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the_char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736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함수의 기본 매개변수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/>
              <a:t>기본 매개변수</a:t>
            </a:r>
            <a:endParaRPr lang="en-US" altLang="ko-KR" sz="1400" dirty="0"/>
          </a:p>
          <a:p>
            <a:pPr lvl="1"/>
            <a:r>
              <a:rPr lang="ko-KR" altLang="en-US" sz="1400" dirty="0"/>
              <a:t>함수의 형식 매개변수에 값을 설정할 수 있는데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이렇게 형식 매개변수에 값을 설정해 놓은 것</a:t>
            </a:r>
            <a:endParaRPr lang="en-US" altLang="ko-KR" sz="1400" dirty="0"/>
          </a:p>
          <a:p>
            <a:r>
              <a:rPr lang="ko-KR" altLang="en-US" sz="1400" dirty="0"/>
              <a:t>기본 매개변수를 갖는 함수는 다양한 형태로 호출할 수 있다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함수의 정의와 함수의 선언을 따로 할 경우</a:t>
            </a:r>
            <a:r>
              <a:rPr lang="en-US" altLang="ko-KR" sz="1400" dirty="0"/>
              <a:t>, </a:t>
            </a:r>
            <a:r>
              <a:rPr lang="ko-KR" altLang="en-US" sz="1400" dirty="0"/>
              <a:t>함수의 </a:t>
            </a:r>
            <a:r>
              <a:rPr lang="ko-KR" altLang="en-US" sz="1400" b="1" dirty="0" err="1">
                <a:solidFill>
                  <a:srgbClr val="FF0000"/>
                </a:solidFill>
              </a:rPr>
              <a:t>선언부</a:t>
            </a:r>
            <a:r>
              <a:rPr lang="ko-KR" altLang="en-US" sz="1400" b="1" dirty="0" err="1"/>
              <a:t>에</a:t>
            </a:r>
            <a:r>
              <a:rPr lang="ko-KR" altLang="en-US" sz="1400" b="1" dirty="0"/>
              <a:t> 지정해줘야 한다</a:t>
            </a:r>
            <a:endParaRPr lang="en-US" altLang="ko-KR" sz="1400" b="1" dirty="0"/>
          </a:p>
          <a:p>
            <a:pPr lvl="1"/>
            <a:r>
              <a:rPr lang="ko-KR" altLang="en-US" sz="1400" dirty="0"/>
              <a:t>기본 매개변수의 지정은 </a:t>
            </a:r>
            <a:r>
              <a:rPr lang="ko-KR" altLang="en-US" sz="1400" b="1" dirty="0">
                <a:solidFill>
                  <a:srgbClr val="FF0000"/>
                </a:solidFill>
              </a:rPr>
              <a:t>오른쪽</a:t>
            </a:r>
            <a:r>
              <a:rPr lang="ko-KR" altLang="en-US" sz="1400" b="1" dirty="0"/>
              <a:t>부터</a:t>
            </a:r>
            <a:r>
              <a:rPr lang="ko-KR" altLang="en-US" sz="1400" dirty="0"/>
              <a:t> 한다</a:t>
            </a:r>
            <a:r>
              <a:rPr lang="en-US" altLang="ko-KR" sz="1400" dirty="0"/>
              <a:t>.</a:t>
            </a:r>
          </a:p>
          <a:p>
            <a:endParaRPr lang="ko-KR" altLang="en-US" sz="2000" dirty="0"/>
          </a:p>
          <a:p>
            <a:endParaRPr lang="ko-KR" altLang="en-US" sz="2000" dirty="0"/>
          </a:p>
        </p:txBody>
      </p:sp>
      <p:sp>
        <p:nvSpPr>
          <p:cNvPr id="4" name="직사각형 3"/>
          <p:cNvSpPr/>
          <p:nvPr/>
        </p:nvSpPr>
        <p:spPr>
          <a:xfrm>
            <a:off x="1040524" y="3314641"/>
            <a:ext cx="950697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print(</a:t>
            </a:r>
            <a:r>
              <a:rPr lang="fr-FR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10, </a:t>
            </a:r>
            <a:r>
              <a:rPr lang="fr-FR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20, </a:t>
            </a:r>
            <a:r>
              <a:rPr lang="fr-FR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z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30)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z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(4, 5, 6);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(4, 5);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(4);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fr-FR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073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 err="1"/>
              <a:t>생성자</a:t>
            </a:r>
            <a:r>
              <a:rPr lang="ko-KR" altLang="en-US" dirty="0"/>
              <a:t> 오버로딩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생성자 오버로딩 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lvl="1"/>
            <a:r>
              <a:rPr lang="ko-KR" altLang="en-US" sz="1400" dirty="0"/>
              <a:t>동일한 이름의 함수를 여러 번 정의할 수 있는 함수의 오버로딩은 </a:t>
            </a:r>
            <a:r>
              <a:rPr lang="ko-KR" altLang="en-US" sz="1400" dirty="0" err="1"/>
              <a:t>생성자에도</a:t>
            </a:r>
            <a:r>
              <a:rPr lang="ko-KR" altLang="en-US" sz="1400" dirty="0"/>
              <a:t> 적용된다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 err="1"/>
              <a:t>생성자도</a:t>
            </a:r>
            <a:r>
              <a:rPr lang="ko-KR" altLang="en-US" sz="1400" dirty="0"/>
              <a:t> </a:t>
            </a:r>
            <a:r>
              <a:rPr lang="ko-KR" altLang="en-US" sz="1400" b="1" dirty="0"/>
              <a:t>함수의 일종</a:t>
            </a:r>
            <a:r>
              <a:rPr lang="ko-KR" altLang="en-US" sz="1400" dirty="0"/>
              <a:t>이므로 매개변수의 개수나 </a:t>
            </a:r>
            <a:r>
              <a:rPr lang="ko-KR" altLang="en-US" sz="1400" dirty="0" err="1"/>
              <a:t>자료형을</a:t>
            </a:r>
            <a:r>
              <a:rPr lang="ko-KR" altLang="en-US" sz="1400" dirty="0"/>
              <a:t> 달리해서 </a:t>
            </a:r>
            <a:r>
              <a:rPr lang="ko-KR" altLang="en-US" sz="1400" b="1" dirty="0"/>
              <a:t>여러 번 정의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</a:t>
            </a:r>
          </a:p>
          <a:p>
            <a:r>
              <a:rPr lang="ko-KR" altLang="en-US" sz="1600" dirty="0"/>
              <a:t>매개변수가 있는 </a:t>
            </a:r>
            <a:r>
              <a:rPr lang="ko-KR" altLang="en-US" sz="1600" dirty="0" err="1"/>
              <a:t>생성자</a:t>
            </a:r>
            <a:endParaRPr lang="en-US" altLang="ko-KR" sz="1600" dirty="0"/>
          </a:p>
          <a:p>
            <a:pPr lvl="1"/>
            <a:r>
              <a:rPr lang="ko-KR" altLang="en-US" sz="1400" b="1" dirty="0"/>
              <a:t>매개변수가 없는</a:t>
            </a:r>
            <a:r>
              <a:rPr lang="ko-KR" altLang="en-US" sz="1400" dirty="0"/>
              <a:t> 기본 </a:t>
            </a:r>
            <a:r>
              <a:rPr lang="ko-KR" altLang="en-US" sz="1400" dirty="0" err="1"/>
              <a:t>생성자는</a:t>
            </a:r>
            <a:r>
              <a:rPr lang="ko-KR" altLang="en-US" sz="1400" dirty="0"/>
              <a:t> </a:t>
            </a:r>
            <a:r>
              <a:rPr lang="en-US" altLang="ko-KR" sz="1400" dirty="0"/>
              <a:t>C++ </a:t>
            </a:r>
            <a:r>
              <a:rPr lang="ko-KR" altLang="en-US" sz="1400" dirty="0"/>
              <a:t>컴파일러가 제공해 준다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b="1" dirty="0"/>
              <a:t>생성자를 만들면</a:t>
            </a:r>
            <a:r>
              <a:rPr lang="ko-KR" altLang="en-US" sz="1400" dirty="0"/>
              <a:t> 컴파일러는 </a:t>
            </a:r>
            <a:r>
              <a:rPr lang="ko-KR" altLang="en-US" sz="1400" b="1" dirty="0"/>
              <a:t>더 이상 기본 생성자를 제공하지 않고</a:t>
            </a:r>
            <a:r>
              <a:rPr lang="en-US" altLang="ko-KR" sz="1400" b="1" dirty="0"/>
              <a:t>,</a:t>
            </a:r>
            <a:r>
              <a:rPr lang="ko-KR" altLang="en-US" sz="1400" dirty="0"/>
              <a:t> 프로그래머가 직접 매개변수 없는 생성자를 작성해야 한다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ko-KR" altLang="en-US" sz="1400" dirty="0"/>
              <a:t>매개변수가 </a:t>
            </a:r>
            <a:r>
              <a:rPr lang="en-US" altLang="ko-KR" sz="1400" dirty="0"/>
              <a:t>2</a:t>
            </a:r>
            <a:r>
              <a:rPr lang="ko-KR" altLang="en-US" sz="1400" dirty="0"/>
              <a:t>개인 </a:t>
            </a:r>
            <a:r>
              <a:rPr lang="ko-KR" altLang="en-US" sz="1400" dirty="0" err="1"/>
              <a:t>생성자를</a:t>
            </a:r>
            <a:r>
              <a:rPr lang="ko-KR" altLang="en-US" sz="1400" dirty="0"/>
              <a:t> 만들어 사용하던 중 매개변수를 갖지 않는 생성자가 필요하다면 이를 프로그래머가 직접 정의하고 사용해야 한다</a:t>
            </a:r>
            <a:endParaRPr lang="en-US" altLang="ko-KR" sz="1400" dirty="0"/>
          </a:p>
          <a:p>
            <a:pPr lvl="1">
              <a:buNone/>
            </a:pPr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1208690" y="4403833"/>
            <a:ext cx="9175026" cy="1805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num1 = 0;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 )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num1 = a; }   </a:t>
            </a:r>
            <a:r>
              <a:rPr lang="en-US" altLang="ko-KR" sz="12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2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맴버</a:t>
            </a:r>
            <a:r>
              <a:rPr lang="en-US" altLang="ko-KR" sz="12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2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초기화를 위해 추가</a:t>
            </a:r>
            <a:endParaRPr lang="en-US" altLang="ko-KR" sz="12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78027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생성자와</a:t>
            </a:r>
            <a:r>
              <a:rPr lang="ko-KR" altLang="en-US" dirty="0"/>
              <a:t> </a:t>
            </a:r>
            <a:r>
              <a:rPr lang="ko-KR" altLang="en-US" dirty="0" err="1"/>
              <a:t>맴버</a:t>
            </a:r>
            <a:r>
              <a:rPr lang="ko-KR" altLang="en-US" dirty="0"/>
              <a:t> 초기화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800" dirty="0"/>
              <a:t>생성자에 기본 매개변수 값을 설정</a:t>
            </a:r>
            <a:endParaRPr lang="en-US" altLang="ko-KR" sz="1800" dirty="0"/>
          </a:p>
          <a:p>
            <a:endParaRPr lang="en-US" altLang="ko-KR" sz="1800" dirty="0"/>
          </a:p>
          <a:p>
            <a:pPr lvl="1"/>
            <a:r>
              <a:rPr lang="ko-KR" altLang="en-US" sz="1400" dirty="0"/>
              <a:t>생성자의 </a:t>
            </a:r>
            <a:r>
              <a:rPr lang="ko-KR" altLang="en-US" sz="1400" b="1" dirty="0"/>
              <a:t>오버로딩</a:t>
            </a:r>
            <a:r>
              <a:rPr lang="ko-KR" altLang="en-US" sz="1400" dirty="0"/>
              <a:t>보다 더 편리한 방법이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바로 </a:t>
            </a:r>
            <a:r>
              <a:rPr lang="ko-KR" altLang="en-US" sz="1400" dirty="0" err="1"/>
              <a:t>생성자에</a:t>
            </a:r>
            <a:r>
              <a:rPr lang="ko-KR" altLang="en-US" sz="1400" dirty="0"/>
              <a:t> </a:t>
            </a:r>
            <a:r>
              <a:rPr lang="ko-KR" altLang="en-US" sz="1400" b="1" dirty="0"/>
              <a:t>기본 매개변수 값</a:t>
            </a:r>
            <a:r>
              <a:rPr lang="ko-KR" altLang="en-US" sz="1400" dirty="0"/>
              <a:t>을 설정하는 것</a:t>
            </a:r>
            <a:endParaRPr lang="en-US" altLang="ko-KR" sz="1400" dirty="0"/>
          </a:p>
          <a:p>
            <a:pPr marL="457200" lvl="1" indent="0">
              <a:buNone/>
            </a:pPr>
            <a:r>
              <a:rPr lang="en-US" altLang="ko-KR" sz="1400" dirty="0">
                <a:latin typeface="Consolas" panose="020B0609020204030204" pitchFamily="49" charset="0"/>
              </a:rPr>
              <a:t>Complex ( int r = 0 , int I = 0 );</a:t>
            </a:r>
          </a:p>
          <a:p>
            <a:pPr marL="457200" lvl="1" indent="0">
              <a:buNone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1400" dirty="0">
                <a:latin typeface="Consolas" panose="020B0609020204030204" pitchFamily="49" charset="0"/>
              </a:rPr>
              <a:t>Complex x(10, 20);  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</a:rPr>
              <a:t>실 매개변수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</a:rPr>
              <a:t>개를 설정해서 호출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1400" dirty="0">
                <a:latin typeface="Consolas" panose="020B0609020204030204" pitchFamily="49" charset="0"/>
              </a:rPr>
              <a:t>Complex y(30);      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</a:rPr>
              <a:t>실 매개변수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</a:rPr>
              <a:t>개만을 설정해서 호출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1400" dirty="0">
                <a:latin typeface="Consolas" panose="020B0609020204030204" pitchFamily="49" charset="0"/>
              </a:rPr>
              <a:t>Complex z;          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</a:rPr>
              <a:t>매개변수 없이 호출        </a:t>
            </a: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// Complex z(); </a:t>
            </a:r>
            <a:r>
              <a:rPr lang="ko-KR" alt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가 아니다</a:t>
            </a: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</a:p>
          <a:p>
            <a:pPr marL="457200" lvl="1" indent="0">
              <a:lnSpc>
                <a:spcPct val="140000"/>
              </a:lnSpc>
              <a:buNone/>
            </a:pPr>
            <a:endParaRPr lang="en-US" altLang="ko-KR" sz="1800" dirty="0"/>
          </a:p>
          <a:p>
            <a:endParaRPr lang="ko-KR" altLang="en-US" sz="1200" dirty="0"/>
          </a:p>
          <a:p>
            <a:pPr lvl="1"/>
            <a:endParaRPr lang="en-US" altLang="ko-KR" sz="1200" dirty="0"/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1200" dirty="0">
                <a:latin typeface="+mn-ea"/>
              </a:rPr>
              <a:t>	</a:t>
            </a:r>
            <a:endParaRPr lang="ko-KR" altLang="en-US" sz="1200" dirty="0">
              <a:latin typeface="+mn-ea"/>
            </a:endParaRPr>
          </a:p>
          <a:p>
            <a:endParaRPr lang="ko-KR" altLang="en-US" sz="1800" dirty="0"/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718798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9744-3F00-4C43-B933-3F9BCFA8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멤버 초기화 리스트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FF2CAE-74C1-49C4-8C5E-9264C302D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i="0" dirty="0">
                <a:solidFill>
                  <a:srgbClr val="000000"/>
                </a:solidFill>
                <a:effectLst/>
                <a:latin typeface="KoPubDotum Roboto"/>
              </a:rPr>
              <a:t>생성자 멤버 초기화 리스트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KoPubDotum Roboto"/>
              </a:rPr>
              <a:t>(Constructor member initializer list)</a:t>
            </a:r>
          </a:p>
          <a:p>
            <a:r>
              <a:rPr lang="ko-KR" altLang="en-US" sz="1800" dirty="0"/>
              <a:t>생성자의 </a:t>
            </a:r>
            <a:r>
              <a:rPr lang="ko-KR" altLang="en-US" sz="1800" b="1" dirty="0"/>
              <a:t>콜론 초기화</a:t>
            </a:r>
            <a:endParaRPr lang="en-US" altLang="ko-KR" sz="1800" b="1" dirty="0"/>
          </a:p>
          <a:p>
            <a:pPr lvl="1"/>
            <a:r>
              <a:rPr lang="ko-KR" altLang="en-US" sz="1400" dirty="0"/>
              <a:t>생성자의 머리 부분에서 </a:t>
            </a:r>
            <a:r>
              <a:rPr lang="ko-KR" altLang="en-US" sz="1400" b="1" dirty="0"/>
              <a:t>멤버변수에 </a:t>
            </a:r>
            <a:r>
              <a:rPr lang="ko-KR" altLang="en-US" sz="1400" b="1" dirty="0" err="1"/>
              <a:t>초깃값</a:t>
            </a:r>
            <a:r>
              <a:rPr lang="ko-KR" altLang="en-US" sz="1400" dirty="0" err="1"/>
              <a:t>을</a:t>
            </a:r>
            <a:r>
              <a:rPr lang="ko-KR" altLang="en-US" sz="1400" dirty="0"/>
              <a:t> </a:t>
            </a:r>
            <a:r>
              <a:rPr lang="ko-KR" altLang="en-US" sz="1400" b="1" dirty="0"/>
              <a:t>설정</a:t>
            </a:r>
            <a:r>
              <a:rPr lang="ko-KR" altLang="en-US" sz="1400" dirty="0"/>
              <a:t>할 수 있는데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이때 </a:t>
            </a:r>
            <a:r>
              <a:rPr lang="ko-KR" altLang="en-US" sz="1400" dirty="0">
                <a:solidFill>
                  <a:srgbClr val="0070C0"/>
                </a:solidFill>
              </a:rPr>
              <a:t>콜론 </a:t>
            </a:r>
            <a:r>
              <a:rPr lang="ko-KR" altLang="en-US" sz="1400" dirty="0"/>
              <a:t>초기화가 사용된다</a:t>
            </a:r>
            <a:endParaRPr lang="pt-BR" altLang="ko-KR" sz="1400" dirty="0"/>
          </a:p>
          <a:p>
            <a:pPr marL="457200" lvl="1" indent="0">
              <a:buNone/>
            </a:pPr>
            <a:endParaRPr lang="pt-BR" altLang="ko-KR" sz="14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pt-BR" altLang="ko-KR" sz="1400" dirty="0">
                <a:latin typeface="Consolas" panose="020B0609020204030204" pitchFamily="49" charset="0"/>
              </a:rPr>
              <a:t>Complex::Complex( </a:t>
            </a:r>
            <a:r>
              <a:rPr lang="pt-BR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altLang="ko-KR" sz="1400" dirty="0">
                <a:latin typeface="Consolas" panose="020B0609020204030204" pitchFamily="49" charset="0"/>
              </a:rPr>
              <a:t> r, </a:t>
            </a:r>
            <a:r>
              <a:rPr lang="pt-BR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altLang="ko-KR" sz="1400" dirty="0">
                <a:latin typeface="Consolas" panose="020B0609020204030204" pitchFamily="49" charset="0"/>
              </a:rPr>
              <a:t> i ) </a:t>
            </a:r>
            <a:r>
              <a:rPr lang="pt-BR" altLang="ko-KR" sz="1400" b="1" dirty="0">
                <a:latin typeface="Consolas" panose="020B0609020204030204" pitchFamily="49" charset="0"/>
              </a:rPr>
              <a:t>: real(r), image(i) </a:t>
            </a:r>
            <a:r>
              <a:rPr lang="pt-BR" altLang="ko-KR" sz="1100" dirty="0">
                <a:solidFill>
                  <a:srgbClr val="006600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100" dirty="0">
                <a:solidFill>
                  <a:srgbClr val="006600"/>
                </a:solidFill>
                <a:latin typeface="Consolas" panose="020B0609020204030204" pitchFamily="49" charset="0"/>
              </a:rPr>
              <a:t>값을 선언과 동시에 초기화하는 것</a:t>
            </a:r>
            <a:r>
              <a:rPr lang="en-US" altLang="ko-KR" sz="1100" dirty="0">
                <a:solidFill>
                  <a:srgbClr val="006600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100" dirty="0">
                <a:solidFill>
                  <a:srgbClr val="006600"/>
                </a:solidFill>
                <a:latin typeface="Consolas" panose="020B0609020204030204" pitchFamily="49" charset="0"/>
              </a:rPr>
              <a:t>함수의 선언이 아니다</a:t>
            </a:r>
            <a:r>
              <a:rPr lang="en-US" altLang="ko-KR" sz="1100" dirty="0">
                <a:solidFill>
                  <a:srgbClr val="006600"/>
                </a:solidFill>
                <a:latin typeface="Consolas" panose="020B0609020204030204" pitchFamily="49" charset="0"/>
              </a:rPr>
              <a:t>.</a:t>
            </a:r>
            <a:endParaRPr lang="pt-BR" altLang="ko-KR" sz="1100" dirty="0">
              <a:solidFill>
                <a:srgbClr val="0066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ko-KR" sz="1400" dirty="0">
                <a:latin typeface="Consolas" panose="020B0609020204030204" pitchFamily="49" charset="0"/>
              </a:rPr>
              <a:t>{    }    				           </a:t>
            </a:r>
            <a:r>
              <a:rPr lang="en-US" altLang="ko-KR" sz="1100" dirty="0">
                <a:solidFill>
                  <a:srgbClr val="006600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100" dirty="0">
                <a:solidFill>
                  <a:srgbClr val="006600"/>
                </a:solidFill>
                <a:latin typeface="Consolas" panose="020B0609020204030204" pitchFamily="49" charset="0"/>
              </a:rPr>
              <a:t>멤버 </a:t>
            </a:r>
            <a:r>
              <a:rPr lang="ko-KR" altLang="en-US" sz="1100" dirty="0" err="1">
                <a:solidFill>
                  <a:srgbClr val="006600"/>
                </a:solidFill>
                <a:latin typeface="Consolas" panose="020B0609020204030204" pitchFamily="49" charset="0"/>
              </a:rPr>
              <a:t>이니셜라이저는</a:t>
            </a:r>
            <a:r>
              <a:rPr lang="ko-KR" altLang="en-US" sz="1100" dirty="0">
                <a:solidFill>
                  <a:srgbClr val="006600"/>
                </a:solidFill>
                <a:latin typeface="Consolas" panose="020B0609020204030204" pitchFamily="49" charset="0"/>
              </a:rPr>
              <a:t> 함수의 선언 부가 아닌</a:t>
            </a:r>
            <a:r>
              <a:rPr lang="en-US" altLang="ko-KR" sz="1100" dirty="0">
                <a:solidFill>
                  <a:srgbClr val="006600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100" dirty="0">
                <a:solidFill>
                  <a:srgbClr val="006600"/>
                </a:solidFill>
                <a:latin typeface="Consolas" panose="020B0609020204030204" pitchFamily="49" charset="0"/>
              </a:rPr>
              <a:t>정의 부에 명시한다</a:t>
            </a:r>
            <a:endParaRPr lang="en-US" altLang="ko-KR" sz="1100" dirty="0">
              <a:solidFill>
                <a:srgbClr val="0066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</a:endParaRPr>
          </a:p>
          <a:p>
            <a:pPr lvl="1"/>
            <a:r>
              <a:rPr lang="ko-KR" altLang="en-US" sz="1400" dirty="0"/>
              <a:t>콜론 다음에는 </a:t>
            </a:r>
            <a:r>
              <a:rPr lang="ko-KR" altLang="en-US" sz="1400" dirty="0" err="1"/>
              <a:t>초깃값을</a:t>
            </a:r>
            <a:r>
              <a:rPr lang="ko-KR" altLang="en-US" sz="1400" dirty="0"/>
              <a:t> 설정할 멤버변수 다음에 소괄호를 기술한 후 소괄호 안에 </a:t>
            </a:r>
            <a:r>
              <a:rPr lang="ko-KR" altLang="en-US" sz="1400" dirty="0" err="1"/>
              <a:t>초깃값을</a:t>
            </a:r>
            <a:r>
              <a:rPr lang="ko-KR" altLang="en-US" sz="1400" dirty="0"/>
              <a:t> 기술한다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초기화할 변수가 여러 개이면 콤마로 연결해서 반복적으로 기술</a:t>
            </a:r>
            <a:endParaRPr lang="en-US" altLang="ko-KR" sz="1400" dirty="0"/>
          </a:p>
          <a:p>
            <a:pPr lvl="1"/>
            <a:r>
              <a:rPr lang="ko-KR" altLang="en-US" sz="1400" dirty="0"/>
              <a:t>선언과 정의 분리의 경우에는 정의부에 기술한다</a:t>
            </a:r>
            <a:r>
              <a:rPr lang="en-US" altLang="ko-KR" sz="1400"/>
              <a:t>.</a:t>
            </a:r>
            <a:endParaRPr lang="en-US" altLang="ko-KR" sz="14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3382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235676"/>
            <a:ext cx="499907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num1 = 0;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생성자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num1(a)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생성자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~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소멸자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"~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num1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251944" y="1235676"/>
            <a:ext cx="51018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 객체 선언    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myclass.Show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723568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194D78BC-44B7-4AC2-8C06-579B655FF330}" vid="{2AAC0CCA-5385-4D55-8E98-229E12908A3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1908</TotalTime>
  <Words>2468</Words>
  <Application>Microsoft Office PowerPoint</Application>
  <PresentationFormat>와이드스크린</PresentationFormat>
  <Paragraphs>485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HY헤드라인M</vt:lpstr>
      <vt:lpstr>KoPubDotum Roboto</vt:lpstr>
      <vt:lpstr>돋움체</vt:lpstr>
      <vt:lpstr>맑은 고딕</vt:lpstr>
      <vt:lpstr>Arial</vt:lpstr>
      <vt:lpstr>Consolas</vt:lpstr>
      <vt:lpstr>Wingdings</vt:lpstr>
      <vt:lpstr>kdw</vt:lpstr>
      <vt:lpstr>C++ 클래스와 객체</vt:lpstr>
      <vt:lpstr>학습목표</vt:lpstr>
      <vt:lpstr>객체지향 프로그래밍</vt:lpstr>
      <vt:lpstr>클래스의 선언</vt:lpstr>
      <vt:lpstr>클래스의 선언</vt:lpstr>
      <vt:lpstr>클래스의 사용</vt:lpstr>
      <vt:lpstr>접근지정자</vt:lpstr>
      <vt:lpstr>접근지정자</vt:lpstr>
      <vt:lpstr>클래스 내부에 함수 선언 - 인라인 함수</vt:lpstr>
      <vt:lpstr>인라인 함수</vt:lpstr>
      <vt:lpstr>const 상수와 const 함수 </vt:lpstr>
      <vt:lpstr>const 함수</vt:lpstr>
      <vt:lpstr>학습목표</vt:lpstr>
      <vt:lpstr>생성자 (constructor)</vt:lpstr>
      <vt:lpstr>기본생성자 (default constructor)</vt:lpstr>
      <vt:lpstr>예제</vt:lpstr>
      <vt:lpstr>소멸자 (destructor)</vt:lpstr>
      <vt:lpstr>기본 소멸자</vt:lpstr>
      <vt:lpstr>함수 오버로딩</vt:lpstr>
      <vt:lpstr>예제</vt:lpstr>
      <vt:lpstr>예제</vt:lpstr>
      <vt:lpstr>함수의 기본 매개변수</vt:lpstr>
      <vt:lpstr>생성자 오버로딩</vt:lpstr>
      <vt:lpstr>생성자와 맴버 초기화</vt:lpstr>
      <vt:lpstr>멤버 초기화 리스트</vt:lpstr>
      <vt:lpstr>예제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User</cp:lastModifiedBy>
  <cp:revision>354</cp:revision>
  <dcterms:created xsi:type="dcterms:W3CDTF">2020-02-16T05:20:05Z</dcterms:created>
  <dcterms:modified xsi:type="dcterms:W3CDTF">2025-06-05T04:00:34Z</dcterms:modified>
</cp:coreProperties>
</file>