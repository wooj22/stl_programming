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61" r:id="rId3"/>
    <p:sldId id="268" r:id="rId4"/>
    <p:sldId id="277" r:id="rId5"/>
    <p:sldId id="273" r:id="rId6"/>
    <p:sldId id="274" r:id="rId7"/>
    <p:sldId id="275" r:id="rId8"/>
    <p:sldId id="276" r:id="rId9"/>
    <p:sldId id="270" r:id="rId10"/>
    <p:sldId id="269" r:id="rId11"/>
    <p:sldId id="272" r:id="rId12"/>
    <p:sldId id="271" r:id="rId13"/>
    <p:sldId id="281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08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47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70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23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065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03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0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188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84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45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2024-05-25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09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/>
              <a:t> 연산자 오버로딩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객체에도 연산자를 사용할 수 있을까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연산자 오버로딩</a:t>
            </a:r>
            <a:endParaRPr lang="en-US" altLang="ko-KR" dirty="0"/>
          </a:p>
          <a:p>
            <a:r>
              <a:rPr lang="ko-KR" altLang="en-US" dirty="0"/>
              <a:t>연산자 오버로딩 하는</a:t>
            </a:r>
            <a:r>
              <a:rPr lang="en-US" altLang="ko-KR" dirty="0"/>
              <a:t> </a:t>
            </a:r>
            <a:r>
              <a:rPr lang="ko-KR" altLang="en-US" dirty="0"/>
              <a:t>이유</a:t>
            </a:r>
            <a:endParaRPr lang="en-US" altLang="ko-KR" dirty="0"/>
          </a:p>
          <a:p>
            <a:r>
              <a:rPr lang="ko-KR" altLang="en-US" dirty="0"/>
              <a:t>연산자 오버로딩 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연산자 오버로딩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연산자 오버로딩</a:t>
            </a:r>
            <a:endParaRPr lang="en-US" altLang="ko-KR" sz="1800" b="1" dirty="0"/>
          </a:p>
          <a:p>
            <a:pPr lvl="1"/>
            <a:r>
              <a:rPr lang="ko-KR" altLang="en-US" sz="1600" dirty="0"/>
              <a:t>연산자 오버로딩은 </a:t>
            </a:r>
            <a:r>
              <a:rPr lang="en-US" altLang="ko-KR" sz="1600" dirty="0"/>
              <a:t>C++</a:t>
            </a:r>
            <a:r>
              <a:rPr lang="ko-KR" altLang="en-US" sz="1600" dirty="0"/>
              <a:t>에서 기본 자료형으로 사용하는 </a:t>
            </a:r>
            <a:r>
              <a:rPr lang="ko-KR" altLang="en-US" sz="1600" b="1" dirty="0"/>
              <a:t>연산자를 추가 </a:t>
            </a:r>
            <a:r>
              <a:rPr lang="ko-KR" altLang="en-US" sz="1600" b="1" dirty="0">
                <a:solidFill>
                  <a:srgbClr val="0070C0"/>
                </a:solidFill>
              </a:rPr>
              <a:t>정의</a:t>
            </a:r>
            <a:r>
              <a:rPr lang="ko-KR" altLang="en-US" sz="1600" dirty="0"/>
              <a:t>하는 것이다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lvl="1"/>
            <a:r>
              <a:rPr lang="en-US" altLang="ko-KR" sz="1600" dirty="0"/>
              <a:t>C++</a:t>
            </a:r>
            <a:r>
              <a:rPr lang="ko-KR" altLang="en-US" sz="1600" dirty="0"/>
              <a:t>에서는 연산자조차 함수로 취급하기 때문에 </a:t>
            </a:r>
            <a:endParaRPr lang="en-US" altLang="ko-KR" sz="1600" dirty="0"/>
          </a:p>
          <a:p>
            <a:pPr lvl="1"/>
            <a:r>
              <a:rPr lang="ko-KR" altLang="en-US" sz="1600" b="1" dirty="0"/>
              <a:t>함수를 정의하는 방법과 동일한 방법</a:t>
            </a:r>
            <a:r>
              <a:rPr lang="ko-KR" altLang="en-US" sz="1600" dirty="0"/>
              <a:t>으로 연산자를 </a:t>
            </a:r>
            <a:r>
              <a:rPr lang="ko-KR" altLang="en-US" sz="1600" dirty="0" err="1"/>
              <a:t>오버로딩할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600" dirty="0"/>
          </a:p>
          <a:p>
            <a:pPr lvl="1"/>
            <a:r>
              <a:rPr lang="ko-KR" altLang="en-US" sz="1600" dirty="0"/>
              <a:t>연산자를 함수의 형태로 오버로딩하기 때문에 </a:t>
            </a:r>
            <a:r>
              <a:rPr lang="ko-KR" altLang="en-US" sz="1600" dirty="0" err="1"/>
              <a:t>오버로딩된</a:t>
            </a:r>
            <a:r>
              <a:rPr lang="ko-KR" altLang="en-US" sz="1600" dirty="0"/>
              <a:t> 연산자를 </a:t>
            </a:r>
            <a:r>
              <a:rPr lang="ko-KR" altLang="en-US" sz="1600" b="1" dirty="0">
                <a:solidFill>
                  <a:srgbClr val="0070C0"/>
                </a:solidFill>
              </a:rPr>
              <a:t>연산자 함수</a:t>
            </a:r>
            <a:r>
              <a:rPr lang="ko-KR" altLang="en-US" sz="1600" dirty="0"/>
              <a:t>라고도 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연산자를 정의할 때 연산에 참여하는 </a:t>
            </a:r>
            <a:r>
              <a:rPr lang="ko-KR" altLang="en-US" sz="1600" b="1" dirty="0"/>
              <a:t>피연산자</a:t>
            </a:r>
            <a:r>
              <a:rPr lang="ko-KR" altLang="en-US" sz="1600" dirty="0"/>
              <a:t>는 매개변수로 구현된다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연산자를 정의할 때 매개변수의 자료형에 의해 그 연산자를 </a:t>
            </a:r>
            <a:r>
              <a:rPr lang="ko-KR" altLang="en-US" sz="1600" b="1" dirty="0"/>
              <a:t>사용할 수 있는 자료형</a:t>
            </a:r>
            <a:r>
              <a:rPr lang="ko-KR" altLang="en-US" sz="1600" dirty="0"/>
              <a:t>이 결정된다</a:t>
            </a:r>
            <a:r>
              <a:rPr lang="en-US" altLang="ko-KR" sz="1600" dirty="0"/>
              <a:t>.</a:t>
            </a:r>
          </a:p>
          <a:p>
            <a:pPr lvl="1">
              <a:buFont typeface="Wingdings" pitchFamily="2" charset="2"/>
              <a:buChar char=""/>
            </a:pPr>
            <a:endParaRPr lang="en-US" altLang="ko-KR" sz="16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84729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4AA54-7049-4D86-B830-0419520BC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오버로딩하기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9750D4-4A7B-46CF-82DB-538102C3979F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ko-KR" altLang="en-US" sz="1800" dirty="0"/>
              <a:t>연산자 함수명은 기본 자료형에 의해 사용되던 연산자를 </a:t>
            </a:r>
            <a:endParaRPr lang="en-US" altLang="ko-KR" sz="1800" dirty="0"/>
          </a:p>
          <a:p>
            <a:r>
              <a:rPr lang="en-US" altLang="ko-KR" sz="1800" dirty="0">
                <a:solidFill>
                  <a:srgbClr val="0000FF"/>
                </a:solidFill>
              </a:rPr>
              <a:t>operator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예약어와</a:t>
            </a:r>
            <a:r>
              <a:rPr lang="ko-KR" altLang="en-US" sz="1800" dirty="0"/>
              <a:t> 함께 연산 기호로 표현한다</a:t>
            </a:r>
            <a:endParaRPr lang="en-US" altLang="ko-KR" sz="1800" dirty="0"/>
          </a:p>
          <a:p>
            <a:pPr marL="457200" lvl="1" indent="0">
              <a:buNone/>
            </a:pPr>
            <a:endParaRPr lang="en-US" altLang="ko-KR" sz="1400" dirty="0">
              <a:latin typeface="+mn-ea"/>
            </a:endParaRPr>
          </a:p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6DC7D0-280C-478B-96F9-D06BE2EA8A27}"/>
              </a:ext>
            </a:extLst>
          </p:cNvPr>
          <p:cNvSpPr/>
          <p:nvPr/>
        </p:nvSpPr>
        <p:spPr>
          <a:xfrm>
            <a:off x="1574333" y="4062113"/>
            <a:ext cx="5080000" cy="175432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800" dirty="0" err="1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객체에</a:t>
            </a:r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대한 </a:t>
            </a:r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 </a:t>
            </a:r>
            <a:r>
              <a:rPr lang="ko-KR" altLang="en-US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연산자</a:t>
            </a:r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정의</a:t>
            </a:r>
            <a:endParaRPr lang="en-US" altLang="ko-KR" dirty="0">
              <a:solidFill>
                <a:srgbClr val="2B91AF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b="1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dirty="0">
                <a:solidFill>
                  <a:srgbClr val="C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endParaRPr lang="ko-KR" altLang="en-US" dirty="0">
              <a:solidFill>
                <a:srgbClr val="C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</a:t>
            </a:r>
            <a:r>
              <a:rPr lang="en-US" altLang="ko-KR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pos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AFECA-4B75-4FD9-996E-C7600D4BAF10}"/>
              </a:ext>
            </a:extLst>
          </p:cNvPr>
          <p:cNvSpPr/>
          <p:nvPr/>
        </p:nvSpPr>
        <p:spPr>
          <a:xfrm>
            <a:off x="7097086" y="2530013"/>
            <a:ext cx="3930992" cy="329320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0) : num(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D3332A-AC2F-4F65-942D-F784FC85D9EC}"/>
              </a:ext>
            </a:extLst>
          </p:cNvPr>
          <p:cNvSpPr/>
          <p:nvPr/>
        </p:nvSpPr>
        <p:spPr>
          <a:xfrm>
            <a:off x="987752" y="2316347"/>
            <a:ext cx="5666581" cy="144655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반환형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2400" dirty="0">
                <a:solidFill>
                  <a:srgbClr val="0000FF"/>
                </a:solidFill>
                <a:latin typeface="+mn-ea"/>
              </a:rPr>
              <a:t>operator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연산자</a:t>
            </a: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(</a:t>
            </a: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매개변수</a:t>
            </a: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1, </a:t>
            </a:r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매개변수</a:t>
            </a: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2, ... 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)</a:t>
            </a:r>
            <a:endParaRPr lang="en-US" altLang="ko-KR" sz="1600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{</a:t>
            </a:r>
          </a:p>
          <a:p>
            <a:r>
              <a:rPr lang="ko-KR" altLang="en-US" sz="1600" dirty="0">
                <a:solidFill>
                  <a:srgbClr val="0070C0"/>
                </a:solidFill>
                <a:latin typeface="+mn-ea"/>
              </a:rPr>
              <a:t>        </a:t>
            </a:r>
            <a:r>
              <a:rPr lang="en-US" altLang="ko-KR" sz="1600" dirty="0">
                <a:solidFill>
                  <a:srgbClr val="0070C0"/>
                </a:solidFill>
                <a:latin typeface="+mn-ea"/>
              </a:rPr>
              <a:t>// </a:t>
            </a:r>
            <a:r>
              <a:rPr lang="ko-KR" altLang="en-US" sz="1600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함수의 본체</a:t>
            </a:r>
          </a:p>
          <a:p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5657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 오버로딩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연산자 오버로딩을 하는 이유</a:t>
            </a:r>
            <a:endParaRPr lang="en-US" altLang="ko-KR" sz="1800" dirty="0"/>
          </a:p>
          <a:p>
            <a:pPr lvl="1"/>
            <a:r>
              <a:rPr lang="ko-KR" altLang="en-US" sz="1600" dirty="0"/>
              <a:t>클래스로 만들어진 객체에서 연산자를 사용하기 위해</a:t>
            </a:r>
            <a:endParaRPr lang="en-US" altLang="ko-KR" sz="1600" dirty="0"/>
          </a:p>
          <a:p>
            <a:pPr lvl="1"/>
            <a:r>
              <a:rPr lang="ko-KR" altLang="en-US" sz="1600" dirty="0"/>
              <a:t>연산자를 만들어 주면 사용자가 편리</a:t>
            </a:r>
            <a:r>
              <a:rPr lang="en-US" altLang="ko-KR" sz="1600" dirty="0"/>
              <a:t>.  </a:t>
            </a:r>
            <a:r>
              <a:rPr lang="ko-KR" altLang="en-US" sz="1600" dirty="0"/>
              <a:t>직관적이고</a:t>
            </a:r>
            <a:r>
              <a:rPr lang="en-US" altLang="ko-KR" sz="1600" dirty="0"/>
              <a:t> </a:t>
            </a:r>
            <a:r>
              <a:rPr lang="ko-KR" altLang="en-US" sz="1600" dirty="0"/>
              <a:t>유지보수 비용이 절감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055556" y="2529280"/>
            <a:ext cx="4298244" cy="35394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a(0);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b(1);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a.Show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c = a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b;   </a:t>
            </a: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b =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a.operator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+(b);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c.Show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 = a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1; </a:t>
            </a:r>
            <a:r>
              <a:rPr lang="en-US" altLang="ko-KR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1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변환생성</a:t>
            </a:r>
            <a:endParaRPr lang="en-US" altLang="ko-KR" sz="11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 =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a.operator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+(1);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59556" y="2529280"/>
            <a:ext cx="5860694" cy="35394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0) :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num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//operator+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라는 이름의 함수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연산자 정의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9112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&lt;&lt; </a:t>
            </a:r>
            <a:r>
              <a:rPr lang="ko-KR" altLang="en-US" dirty="0"/>
              <a:t>연산자 오버로딩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b="1" dirty="0">
                <a:solidFill>
                  <a:srgbClr val="0070C0"/>
                </a:solidFill>
              </a:rPr>
              <a:t>연산자를 </a:t>
            </a:r>
            <a:r>
              <a:rPr lang="ko-KR" altLang="en-US" sz="1600" b="1" dirty="0" err="1">
                <a:solidFill>
                  <a:srgbClr val="0070C0"/>
                </a:solidFill>
              </a:rPr>
              <a:t>오버로딩하는</a:t>
            </a:r>
            <a:r>
              <a:rPr lang="ko-KR" altLang="en-US" sz="1600" b="1" dirty="0">
                <a:solidFill>
                  <a:srgbClr val="0070C0"/>
                </a:solidFill>
              </a:rPr>
              <a:t> 방법</a:t>
            </a:r>
            <a:r>
              <a:rPr lang="ko-KR" altLang="en-US" sz="1600" dirty="0"/>
              <a:t>에는 </a:t>
            </a:r>
            <a:r>
              <a:rPr lang="en-US" altLang="ko-KR" sz="1600" dirty="0"/>
              <a:t>2</a:t>
            </a:r>
            <a:r>
              <a:rPr lang="ko-KR" altLang="en-US" sz="1600" dirty="0"/>
              <a:t>가지가 있다</a:t>
            </a:r>
            <a:r>
              <a:rPr lang="en-US" altLang="ko-KR" sz="1600" dirty="0"/>
              <a:t>. </a:t>
            </a:r>
          </a:p>
          <a:p>
            <a:pPr lvl="1"/>
            <a:r>
              <a:rPr lang="ko-KR" altLang="en-US" sz="1400" b="1" dirty="0">
                <a:solidFill>
                  <a:srgbClr val="C00000"/>
                </a:solidFill>
              </a:rPr>
              <a:t>멤버함수</a:t>
            </a:r>
            <a:r>
              <a:rPr lang="ko-KR" altLang="en-US" sz="1400" dirty="0"/>
              <a:t>를 사용하는 방법과</a:t>
            </a:r>
            <a:r>
              <a:rPr lang="en-US" altLang="ko-KR" sz="1400" dirty="0"/>
              <a:t>  </a:t>
            </a:r>
            <a:r>
              <a:rPr lang="ko-KR" altLang="en-US" sz="1400" b="1" dirty="0">
                <a:solidFill>
                  <a:srgbClr val="C00000"/>
                </a:solidFill>
              </a:rPr>
              <a:t>일반함수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프렌드</a:t>
            </a:r>
            <a:r>
              <a:rPr lang="ko-KR" altLang="en-US" sz="1400" b="1" dirty="0"/>
              <a:t> 함수</a:t>
            </a:r>
            <a:r>
              <a:rPr lang="en-US" altLang="ko-KR" sz="1400" b="1" dirty="0"/>
              <a:t>)</a:t>
            </a:r>
            <a:r>
              <a:rPr lang="ko-KR" altLang="en-US" sz="1400" dirty="0"/>
              <a:t>를 사용하는 방법</a:t>
            </a:r>
            <a:endParaRPr lang="en-US" altLang="ko-KR" sz="1400" dirty="0"/>
          </a:p>
          <a:p>
            <a:r>
              <a:rPr lang="ko-KR" altLang="en-US" sz="1600" b="1" dirty="0"/>
              <a:t>객체를 </a:t>
            </a:r>
            <a:r>
              <a:rPr lang="en-US" altLang="ko-KR" sz="1600" b="1" dirty="0"/>
              <a:t>std::</a:t>
            </a:r>
            <a:r>
              <a:rPr lang="en-US" altLang="ko-KR" sz="1600" b="1" dirty="0" err="1"/>
              <a:t>cout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&lt;&lt; </a:t>
            </a:r>
            <a:r>
              <a:rPr lang="ko-KR" altLang="en-US" sz="1600" b="1" dirty="0"/>
              <a:t>으로 출력하기</a:t>
            </a:r>
            <a:endParaRPr lang="en-US" altLang="ko-KR" sz="1600" b="1" dirty="0"/>
          </a:p>
          <a:p>
            <a:pPr lvl="1"/>
            <a:r>
              <a:rPr lang="ko-KR" altLang="en-US" sz="1400" b="1" dirty="0"/>
              <a:t>객체를 출력</a:t>
            </a:r>
            <a:r>
              <a:rPr lang="ko-KR" altLang="en-US" sz="1400" dirty="0"/>
              <a:t>하는 문장을 연산자 함수 형태로 구현해 봅시다</a:t>
            </a:r>
            <a:r>
              <a:rPr lang="en-US" altLang="ko-KR" sz="1400" dirty="0"/>
              <a:t>.</a:t>
            </a:r>
          </a:p>
          <a:p>
            <a:pPr marL="457200" lvl="1" indent="0">
              <a:buNone/>
            </a:pPr>
            <a:r>
              <a:rPr lang="en-US" altLang="ko-KR" sz="1400" dirty="0" err="1">
                <a:solidFill>
                  <a:schemeClr val="dk1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400" dirty="0">
                <a:solidFill>
                  <a:schemeClr val="dk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1" dirty="0">
                <a:solidFill>
                  <a:schemeClr val="dk1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400" dirty="0">
                <a:solidFill>
                  <a:schemeClr val="dk1"/>
                </a:solidFill>
                <a:latin typeface="Consolas" panose="020B0609020204030204" pitchFamily="49" charset="0"/>
              </a:rPr>
              <a:t> x;          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 &lt;&lt;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는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</a:rPr>
              <a:t>연산자 함수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ko-KR" sz="1400" dirty="0" err="1">
                <a:solidFill>
                  <a:schemeClr val="dk1"/>
                </a:solidFill>
                <a:latin typeface="Consolas" panose="020B0609020204030204" pitchFamily="49" charset="0"/>
              </a:rPr>
              <a:t>cout.</a:t>
            </a:r>
            <a:r>
              <a:rPr lang="en-US" altLang="ko-KR" sz="1400" b="1" dirty="0" err="1">
                <a:solidFill>
                  <a:schemeClr val="dk1"/>
                </a:solidFill>
                <a:latin typeface="Consolas" panose="020B0609020204030204" pitchFamily="49" charset="0"/>
              </a:rPr>
              <a:t>operator</a:t>
            </a:r>
            <a:r>
              <a:rPr lang="en-US" altLang="ko-KR" sz="1400" b="1" dirty="0">
                <a:solidFill>
                  <a:schemeClr val="dk1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400" dirty="0">
                <a:solidFill>
                  <a:schemeClr val="dk1"/>
                </a:solidFill>
                <a:latin typeface="Consolas" panose="020B0609020204030204" pitchFamily="49" charset="0"/>
              </a:rPr>
              <a:t>(x);</a:t>
            </a:r>
          </a:p>
          <a:p>
            <a:pPr lvl="1"/>
            <a:endParaRPr lang="en-US" altLang="ko-KR" sz="1600" b="1" dirty="0"/>
          </a:p>
          <a:p>
            <a:r>
              <a:rPr lang="ko-KR" altLang="en-US" sz="1600" b="1" dirty="0"/>
              <a:t>클래스 </a:t>
            </a:r>
            <a:r>
              <a:rPr lang="ko-KR" altLang="en-US" sz="1600" b="1" dirty="0" err="1"/>
              <a:t>맴버함수로</a:t>
            </a:r>
            <a:r>
              <a:rPr lang="ko-KR" altLang="en-US" sz="1600" b="1" dirty="0"/>
              <a:t> 오버로딩</a:t>
            </a:r>
            <a:r>
              <a:rPr lang="ko-KR" altLang="en-US" sz="1600" dirty="0"/>
              <a:t>하면 연산자 함수를 호출할 때 객체를 연산자 함수 앞에 붙여야 한다</a:t>
            </a:r>
            <a:endParaRPr lang="en-US" altLang="ko-KR" sz="1600" dirty="0"/>
          </a:p>
          <a:p>
            <a:pPr marL="457200" lvl="1" indent="0">
              <a:buNone/>
            </a:pPr>
            <a:r>
              <a:rPr lang="en-US" altLang="ko-KR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x.operator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&lt;&lt;(</a:t>
            </a:r>
            <a:r>
              <a:rPr lang="en-US" altLang="ko-KR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);  	</a:t>
            </a:r>
            <a:r>
              <a:rPr lang="en-US" altLang="ko-KR" sz="1400" dirty="0">
                <a:latin typeface="Consolas" panose="020B0609020204030204" pitchFamily="49" charset="0"/>
              </a:rPr>
              <a:t>// &lt;&lt; </a:t>
            </a:r>
            <a:r>
              <a:rPr lang="ko-KR" altLang="en-US" sz="1400" dirty="0">
                <a:latin typeface="Consolas" panose="020B0609020204030204" pitchFamily="49" charset="0"/>
              </a:rPr>
              <a:t>의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latin typeface="Consolas" panose="020B0609020204030204" pitchFamily="49" charset="0"/>
              </a:rPr>
              <a:t>피연산자는 </a:t>
            </a:r>
            <a:r>
              <a:rPr lang="en-US" altLang="ko-KR" sz="1400" dirty="0">
                <a:latin typeface="Consolas" panose="020B0609020204030204" pitchFamily="49" charset="0"/>
              </a:rPr>
              <a:t>x, </a:t>
            </a:r>
            <a:r>
              <a:rPr lang="en-US" altLang="ko-KR" sz="1400" dirty="0" err="1">
                <a:latin typeface="Consolas" panose="020B0609020204030204" pitchFamily="49" charset="0"/>
              </a:rPr>
              <a:t>cout</a:t>
            </a:r>
            <a:endParaRPr lang="en-US" altLang="ko-KR" sz="1400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x </a:t>
            </a:r>
            <a:r>
              <a:rPr lang="en-US" altLang="ko-KR" sz="1400" b="1" dirty="0">
                <a:latin typeface="Consolas" panose="020B0609020204030204" pitchFamily="49" charset="0"/>
              </a:rPr>
              <a:t>&lt;&lt;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en-US" altLang="ko-KR" sz="1400" dirty="0" err="1">
                <a:latin typeface="Consolas" panose="020B0609020204030204" pitchFamily="49" charset="0"/>
              </a:rPr>
              <a:t>cout</a:t>
            </a:r>
            <a:r>
              <a:rPr lang="en-US" altLang="ko-KR" sz="1400" dirty="0">
                <a:latin typeface="Consolas" panose="020B0609020204030204" pitchFamily="49" charset="0"/>
              </a:rPr>
              <a:t>;         </a:t>
            </a:r>
          </a:p>
          <a:p>
            <a:pPr marL="457200" lvl="1" indent="0">
              <a:buNone/>
            </a:pPr>
            <a:r>
              <a:rPr lang="en-US" altLang="ko-KR" sz="1400" dirty="0"/>
              <a:t>% </a:t>
            </a:r>
            <a:r>
              <a:rPr lang="en-US" altLang="ko-KR" sz="1400" dirty="0" err="1"/>
              <a:t>ostream</a:t>
            </a:r>
            <a:r>
              <a:rPr lang="ko-KR" altLang="en-US" sz="1400" dirty="0"/>
              <a:t>은 기본 클래스이므로 이 클래스를 프로그래머가 함부로 바꾸는 것은 바람직하지 않다</a:t>
            </a:r>
            <a:r>
              <a:rPr lang="en-US" altLang="ko-KR" sz="1400" dirty="0">
                <a:latin typeface="Consolas" panose="020B0609020204030204" pitchFamily="49" charset="0"/>
              </a:rPr>
              <a:t>     </a:t>
            </a:r>
          </a:p>
          <a:p>
            <a:r>
              <a:rPr lang="ko-KR" altLang="en-US" sz="1600" b="1" dirty="0"/>
              <a:t>일반 함수 형태로 정의</a:t>
            </a:r>
            <a:r>
              <a:rPr lang="ko-KR" altLang="en-US" sz="1600" dirty="0"/>
              <a:t>되어 있다면 가능하다</a:t>
            </a:r>
            <a:r>
              <a:rPr lang="en-US" altLang="ko-KR" sz="1600" dirty="0"/>
              <a:t>.</a:t>
            </a:r>
          </a:p>
          <a:p>
            <a:pPr marL="457200" lvl="1" indent="0">
              <a:buNone/>
            </a:pP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operator&lt;&lt;(</a:t>
            </a:r>
            <a:r>
              <a:rPr lang="en-US" altLang="ko-KR" sz="14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, x); 	</a:t>
            </a:r>
            <a:r>
              <a:rPr lang="en-US" altLang="ko-KR" sz="1400" dirty="0">
                <a:latin typeface="Consolas" panose="020B0609020204030204" pitchFamily="49" charset="0"/>
              </a:rPr>
              <a:t>// &lt;&lt; </a:t>
            </a:r>
            <a:r>
              <a:rPr lang="ko-KR" altLang="en-US" sz="1400" dirty="0">
                <a:latin typeface="Consolas" panose="020B0609020204030204" pitchFamily="49" charset="0"/>
              </a:rPr>
              <a:t>의</a:t>
            </a:r>
            <a:r>
              <a:rPr lang="en-US" altLang="ko-KR" sz="1400" dirty="0">
                <a:latin typeface="Consolas" panose="020B0609020204030204" pitchFamily="49" charset="0"/>
              </a:rPr>
              <a:t> </a:t>
            </a:r>
            <a:r>
              <a:rPr lang="ko-KR" altLang="en-US" sz="1400" dirty="0">
                <a:latin typeface="Consolas" panose="020B0609020204030204" pitchFamily="49" charset="0"/>
              </a:rPr>
              <a:t>피연산자는 </a:t>
            </a:r>
            <a:r>
              <a:rPr lang="en-US" altLang="ko-KR" sz="1400" dirty="0" err="1">
                <a:latin typeface="Consolas" panose="020B0609020204030204" pitchFamily="49" charset="0"/>
              </a:rPr>
              <a:t>cout</a:t>
            </a:r>
            <a:r>
              <a:rPr lang="en-US" altLang="ko-KR" sz="1400" dirty="0">
                <a:latin typeface="Consolas" panose="020B0609020204030204" pitchFamily="49" charset="0"/>
              </a:rPr>
              <a:t>, x</a:t>
            </a:r>
            <a:endParaRPr lang="en-US" altLang="ko-KR" sz="1400" b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altLang="ko-KR" sz="1400" dirty="0" err="1">
                <a:solidFill>
                  <a:schemeClr val="dk1"/>
                </a:solidFill>
                <a:latin typeface="Consolas" panose="020B0609020204030204" pitchFamily="49" charset="0"/>
              </a:rPr>
              <a:t>cout</a:t>
            </a:r>
            <a:r>
              <a:rPr lang="en-US" altLang="ko-KR" sz="1400" dirty="0">
                <a:solidFill>
                  <a:schemeClr val="dk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b="1" dirty="0">
                <a:solidFill>
                  <a:schemeClr val="dk1"/>
                </a:solidFill>
                <a:latin typeface="Consolas" panose="020B0609020204030204" pitchFamily="49" charset="0"/>
              </a:rPr>
              <a:t>&lt;&lt;</a:t>
            </a:r>
            <a:r>
              <a:rPr lang="en-US" altLang="ko-KR" sz="1400" dirty="0">
                <a:solidFill>
                  <a:schemeClr val="dk1"/>
                </a:solidFill>
                <a:latin typeface="Consolas" panose="020B0609020204030204" pitchFamily="49" charset="0"/>
              </a:rPr>
              <a:t> x</a:t>
            </a:r>
            <a:endParaRPr lang="ko-KR" altLang="en-US" sz="1600" dirty="0"/>
          </a:p>
          <a:p>
            <a:pPr lvl="1"/>
            <a:endParaRPr lang="ko-KR" altLang="en-US" sz="1100" dirty="0"/>
          </a:p>
          <a:p>
            <a:pPr lvl="1"/>
            <a:endParaRPr lang="ko-KR" altLang="en-US" sz="1400" dirty="0"/>
          </a:p>
          <a:p>
            <a:endParaRPr lang="ko-KR" altLang="en-US" sz="1400" dirty="0">
              <a:latin typeface="+mn-ea"/>
            </a:endParaRPr>
          </a:p>
          <a:p>
            <a:pPr lvl="1"/>
            <a:endParaRPr lang="en-US" altLang="ko-KR" sz="1200" dirty="0"/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3768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&lt;&lt; </a:t>
            </a:r>
            <a:r>
              <a:rPr lang="ko-KR" altLang="en-US" dirty="0"/>
              <a:t>연산자 오버로딩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1600" b="1" dirty="0"/>
              <a:t>일반 함수</a:t>
            </a:r>
            <a:r>
              <a:rPr lang="ko-KR" altLang="en-US" sz="1600" dirty="0"/>
              <a:t> 형태로 정의하고 </a:t>
            </a:r>
            <a:r>
              <a:rPr lang="en-US" altLang="ko-KR" sz="1600" dirty="0">
                <a:solidFill>
                  <a:srgbClr val="0000FF"/>
                </a:solidFill>
              </a:rPr>
              <a:t>friend</a:t>
            </a:r>
            <a:r>
              <a:rPr lang="en-US" altLang="ko-KR" sz="1600" dirty="0"/>
              <a:t> </a:t>
            </a:r>
            <a:r>
              <a:rPr lang="ko-KR" altLang="en-US" sz="1600" dirty="0"/>
              <a:t>선언 추가</a:t>
            </a:r>
            <a:r>
              <a:rPr lang="en-US" altLang="ko-KR" sz="1600" dirty="0"/>
              <a:t>.</a:t>
            </a:r>
            <a:endParaRPr lang="en-US" altLang="ko-KR" sz="14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위의 </a:t>
            </a:r>
            <a:r>
              <a:rPr lang="en-US" altLang="ko-KR" sz="1600" dirty="0"/>
              <a:t>&lt;&lt; </a:t>
            </a:r>
            <a:r>
              <a:rPr lang="ko-KR" altLang="en-US" sz="1600" dirty="0"/>
              <a:t>연산자의 오버로딩은 완벽하지 않다</a:t>
            </a:r>
            <a:r>
              <a:rPr lang="en-US" altLang="ko-KR" sz="1600" dirty="0"/>
              <a:t>. </a:t>
            </a:r>
            <a:r>
              <a:rPr lang="ko-KR" altLang="en-US" sz="1600" dirty="0"/>
              <a:t>왜냐하면 기본 </a:t>
            </a:r>
            <a:r>
              <a:rPr lang="ko-KR" altLang="en-US" sz="1600" dirty="0" err="1"/>
              <a:t>자료형을</a:t>
            </a:r>
            <a:r>
              <a:rPr lang="ko-KR" altLang="en-US" sz="1600" dirty="0"/>
              <a:t> 출력할 때는 </a:t>
            </a:r>
            <a:r>
              <a:rPr lang="en-US" altLang="ko-KR" sz="1600" dirty="0"/>
              <a:t>&lt;&lt; </a:t>
            </a:r>
            <a:r>
              <a:rPr lang="ko-KR" altLang="en-US" sz="1600" dirty="0"/>
              <a:t>연산자가 연속적으로 사용된다</a:t>
            </a:r>
            <a:r>
              <a:rPr lang="en-US" altLang="ko-KR" sz="1600" dirty="0"/>
              <a:t>.</a:t>
            </a:r>
            <a:endParaRPr lang="en-US" altLang="ko-KR" sz="1400" dirty="0"/>
          </a:p>
          <a:p>
            <a:pPr marL="457200" lvl="1" indent="0">
              <a:buNone/>
            </a:pPr>
            <a:r>
              <a:rPr lang="en-US" altLang="ko-KR" sz="1600" dirty="0" err="1"/>
              <a:t>cout</a:t>
            </a:r>
            <a:r>
              <a:rPr lang="en-US" altLang="ko-KR" sz="1600" dirty="0"/>
              <a:t> &lt;&lt; a &lt;&lt; b &lt;&lt; c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r>
              <a:rPr lang="ko-KR" altLang="en-US" sz="1600" dirty="0"/>
              <a:t>참고</a:t>
            </a:r>
            <a:r>
              <a:rPr lang="en-US" altLang="ko-KR" sz="1600" dirty="0"/>
              <a:t>) </a:t>
            </a:r>
            <a:r>
              <a:rPr lang="en-US" altLang="ko-KR" sz="1600" dirty="0" err="1"/>
              <a:t>iostream.h</a:t>
            </a:r>
            <a:r>
              <a:rPr lang="en-US" altLang="ko-KR" sz="1600" dirty="0"/>
              <a:t> </a:t>
            </a:r>
            <a:r>
              <a:rPr lang="ko-KR" altLang="en-US" sz="1600" dirty="0"/>
              <a:t>헤더파일에 기본 자료형을 피연산자로 하는 </a:t>
            </a:r>
            <a:r>
              <a:rPr lang="en-US" altLang="ko-KR" sz="1600" dirty="0"/>
              <a:t>&lt;&lt; </a:t>
            </a:r>
            <a:r>
              <a:rPr lang="ko-KR" altLang="en-US" sz="1600" dirty="0"/>
              <a:t>연산자가 어떻게 기술되어 있을까</a:t>
            </a:r>
            <a:r>
              <a:rPr lang="en-US" altLang="ko-KR" sz="1600" dirty="0"/>
              <a:t>?</a:t>
            </a:r>
            <a:endParaRPr lang="en-US" altLang="ko-KR" sz="1400" dirty="0"/>
          </a:p>
          <a:p>
            <a:pPr marL="457200" lvl="1" indent="0">
              <a:buNone/>
            </a:pPr>
            <a:r>
              <a:rPr lang="en-US" altLang="ko-KR" sz="1600" dirty="0" err="1"/>
              <a:t>ostream</a:t>
            </a:r>
            <a:r>
              <a:rPr lang="en-US" altLang="ko-KR" sz="1600" dirty="0"/>
              <a:t> &amp; operator&lt;&lt;(int);</a:t>
            </a:r>
          </a:p>
          <a:p>
            <a:pPr marL="457200" lvl="1" indent="0">
              <a:buNone/>
            </a:pPr>
            <a:r>
              <a:rPr lang="en-US" altLang="ko-KR" sz="1600" dirty="0" err="1"/>
              <a:t>ostream</a:t>
            </a:r>
            <a:r>
              <a:rPr lang="en-US" altLang="ko-KR" sz="1600" dirty="0"/>
              <a:t> &amp; operator&lt;&lt;(char *);</a:t>
            </a:r>
            <a:endParaRPr lang="ko-KR" altLang="en-US" sz="1600" dirty="0"/>
          </a:p>
          <a:p>
            <a:pPr lvl="1"/>
            <a:endParaRPr lang="ko-KR" altLang="en-US" sz="1400" dirty="0"/>
          </a:p>
          <a:p>
            <a:endParaRPr lang="en-US" altLang="ko-KR" sz="1400" dirty="0"/>
          </a:p>
          <a:p>
            <a:pPr marL="457200" lvl="1" indent="0">
              <a:buNone/>
            </a:pPr>
            <a:r>
              <a:rPr lang="en-US" altLang="ko-KR" sz="1400" dirty="0"/>
              <a:t>	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78BCD-2A83-4A4C-9787-7E821C4375FE}"/>
              </a:ext>
            </a:extLst>
          </p:cNvPr>
          <p:cNvSpPr txBox="1"/>
          <p:nvPr/>
        </p:nvSpPr>
        <p:spPr>
          <a:xfrm>
            <a:off x="1602677" y="1705242"/>
            <a:ext cx="60978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operator&lt;&lt;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sz="18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366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&lt;&lt; </a:t>
            </a:r>
            <a:r>
              <a:rPr lang="ko-KR" altLang="en-US" dirty="0"/>
              <a:t>연산자 오버로딩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결론</a:t>
            </a:r>
            <a:endParaRPr lang="en-US" altLang="ko-KR" sz="1600" dirty="0"/>
          </a:p>
          <a:p>
            <a:r>
              <a:rPr lang="ko-KR" altLang="en-US" sz="1600" b="1" dirty="0"/>
              <a:t>연속적으로 출력</a:t>
            </a:r>
            <a:r>
              <a:rPr lang="ko-KR" altLang="en-US" sz="1600" dirty="0"/>
              <a:t>하려면 </a:t>
            </a:r>
            <a:r>
              <a:rPr lang="ko-KR" altLang="en-US" sz="1600" b="1" dirty="0" err="1"/>
              <a:t>반환값</a:t>
            </a:r>
            <a:r>
              <a:rPr lang="ko-KR" altLang="en-US" sz="1600" dirty="0" err="1"/>
              <a:t>이</a:t>
            </a:r>
            <a:r>
              <a:rPr lang="ko-KR" altLang="en-US" sz="1600" dirty="0"/>
              <a:t> </a:t>
            </a:r>
            <a:r>
              <a:rPr lang="en-US" altLang="ko-KR" sz="1600" dirty="0" err="1"/>
              <a:t>ostream</a:t>
            </a:r>
            <a:r>
              <a:rPr lang="en-US" altLang="ko-KR" sz="1600" dirty="0"/>
              <a:t>&amp; </a:t>
            </a:r>
            <a:r>
              <a:rPr lang="ko-KR" altLang="en-US" sz="1600" dirty="0"/>
              <a:t>로 선언되어야 한다</a:t>
            </a:r>
            <a:r>
              <a:rPr lang="en-US" altLang="ko-KR" sz="1600" dirty="0"/>
              <a:t>. (</a:t>
            </a:r>
            <a:r>
              <a:rPr lang="ko-KR" altLang="en-US" sz="1600" dirty="0"/>
              <a:t>반환이</a:t>
            </a:r>
            <a:r>
              <a:rPr lang="en-US" altLang="ko-KR" sz="1600" dirty="0"/>
              <a:t> </a:t>
            </a:r>
            <a:r>
              <a:rPr lang="ko-KR" altLang="en-US" sz="1600" dirty="0"/>
              <a:t>객체 자신</a:t>
            </a:r>
            <a:r>
              <a:rPr lang="en-US" altLang="ko-KR" sz="1600" dirty="0"/>
              <a:t>)</a:t>
            </a:r>
          </a:p>
          <a:p>
            <a:pPr lvl="1"/>
            <a:endParaRPr lang="pt-BR" altLang="ko-KR" sz="1200" dirty="0"/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en-US" altLang="ko-KR" sz="1400" dirty="0"/>
          </a:p>
          <a:p>
            <a:r>
              <a:rPr lang="en-US" altLang="ko-KR" sz="1600" dirty="0"/>
              <a:t>private </a:t>
            </a:r>
            <a:r>
              <a:rPr lang="ko-KR" altLang="en-US" sz="1600" dirty="0"/>
              <a:t>변수를 사용하려면</a:t>
            </a:r>
            <a:r>
              <a:rPr lang="en-US" altLang="ko-KR" sz="1600" dirty="0"/>
              <a:t>,</a:t>
            </a:r>
            <a:r>
              <a:rPr lang="ko-KR" altLang="en-US" sz="1600" dirty="0"/>
              <a:t> 클래스 내부에 </a:t>
            </a:r>
            <a:r>
              <a:rPr lang="en-US" altLang="ko-KR" sz="1600" dirty="0"/>
              <a:t>&lt;&lt; </a:t>
            </a:r>
            <a:r>
              <a:rPr lang="ko-KR" altLang="en-US" sz="1600" dirty="0"/>
              <a:t>연산자를 </a:t>
            </a:r>
            <a:r>
              <a:rPr lang="ko-KR" altLang="en-US" sz="1600" b="1" dirty="0" err="1"/>
              <a:t>프렌드</a:t>
            </a:r>
            <a:r>
              <a:rPr lang="ko-KR" altLang="en-US" sz="1600" b="1" dirty="0"/>
              <a:t> 함수</a:t>
            </a:r>
            <a:r>
              <a:rPr lang="ko-KR" altLang="en-US" sz="1600" dirty="0"/>
              <a:t>로 선언해야 한다</a:t>
            </a:r>
            <a:r>
              <a:rPr lang="en-US" altLang="ko-KR" sz="1600" dirty="0"/>
              <a:t>.</a:t>
            </a:r>
          </a:p>
          <a:p>
            <a:pPr lvl="1"/>
            <a:endParaRPr lang="en-US" altLang="ko-KR" sz="1200" dirty="0"/>
          </a:p>
          <a:p>
            <a:pPr marL="457200" lvl="1" indent="0">
              <a:buNone/>
            </a:pPr>
            <a:r>
              <a:rPr lang="en-US" altLang="ko-KR" sz="1600" dirty="0">
                <a:solidFill>
                  <a:srgbClr val="0000FF"/>
                </a:solidFill>
              </a:rPr>
              <a:t>friend</a:t>
            </a:r>
            <a:r>
              <a:rPr lang="en-US" altLang="ko-KR" sz="1600" dirty="0"/>
              <a:t> </a:t>
            </a:r>
            <a:r>
              <a:rPr lang="en-US" altLang="ko-KR" sz="1600" dirty="0" err="1"/>
              <a:t>ostream</a:t>
            </a:r>
            <a:r>
              <a:rPr lang="en-US" altLang="ko-KR" sz="1600" dirty="0"/>
              <a:t>&amp; operator&lt;&lt;( </a:t>
            </a:r>
            <a:r>
              <a:rPr lang="en-US" altLang="ko-KR" sz="1600" dirty="0" err="1"/>
              <a:t>ostream</a:t>
            </a:r>
            <a:r>
              <a:rPr lang="en-US" altLang="ko-KR" sz="1600" dirty="0"/>
              <a:t>&amp; </a:t>
            </a:r>
            <a:r>
              <a:rPr lang="en-US" altLang="ko-KR" sz="1600" dirty="0" err="1"/>
              <a:t>os</a:t>
            </a:r>
            <a:r>
              <a:rPr lang="en-US" altLang="ko-KR" sz="1600" dirty="0"/>
              <a:t> , </a:t>
            </a:r>
            <a:r>
              <a:rPr lang="pt-BR" altLang="ko-KR" sz="1600" dirty="0"/>
              <a:t>MyClass</a:t>
            </a:r>
            <a:r>
              <a:rPr lang="en-US" altLang="ko-KR" sz="1600" dirty="0"/>
              <a:t>&amp;</a:t>
            </a:r>
            <a:r>
              <a:rPr lang="pt-BR" altLang="ko-KR" sz="1600" dirty="0"/>
              <a:t> ref</a:t>
            </a:r>
            <a:r>
              <a:rPr lang="en-US" altLang="ko-KR" sz="1600" dirty="0"/>
              <a:t> );</a:t>
            </a:r>
          </a:p>
          <a:p>
            <a:endParaRPr lang="ko-KR" altLang="en-US" sz="1600" dirty="0"/>
          </a:p>
          <a:p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CEBF8-B924-45D3-9F80-3BD33C2E5CA5}"/>
              </a:ext>
            </a:extLst>
          </p:cNvPr>
          <p:cNvSpPr txBox="1"/>
          <p:nvPr/>
        </p:nvSpPr>
        <p:spPr>
          <a:xfrm>
            <a:off x="1693337" y="2230381"/>
            <a:ext cx="78357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operator&lt;&lt;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sz="18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ref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&lt;&lt; 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047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8200" y="1294505"/>
            <a:ext cx="105156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Get(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Set(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friend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연산자 오버로딩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  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연속적으로 출력하려면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반환값이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</a:t>
            </a:r>
            <a:endParaRPr lang="ko-KR" altLang="en-US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ostream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obj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</a:t>
            </a:r>
            <a:r>
              <a:rPr lang="en-US" altLang="ko-KR" sz="16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x.Set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(1);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 "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681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38201" y="1353228"/>
            <a:ext cx="4879554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Get() {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Set(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rh)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x.Set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(1);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z;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z = x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400" dirty="0" err="1">
                <a:latin typeface="Consolas" panose="020B0609020204030204" pitchFamily="49" charset="0"/>
                <a:ea typeface="돋움체" panose="020B0609000101010101" pitchFamily="49" charset="-127"/>
              </a:rPr>
              <a:t>z.Get</a:t>
            </a:r>
            <a:r>
              <a:rPr lang="en-US" altLang="ko-KR" sz="1400" dirty="0"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z = x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400" dirty="0" err="1">
                <a:latin typeface="Consolas" panose="020B0609020204030204" pitchFamily="49" charset="0"/>
                <a:ea typeface="돋움체" panose="020B0609000101010101" pitchFamily="49" charset="-127"/>
              </a:rPr>
              <a:t>z.Get</a:t>
            </a:r>
            <a:r>
              <a:rPr lang="en-US" altLang="ko-KR" sz="1400" dirty="0"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z = y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 </a:t>
            </a:r>
            <a:r>
              <a:rPr lang="en-US" altLang="ko-KR" sz="1400" dirty="0" err="1">
                <a:latin typeface="Consolas" panose="020B0609020204030204" pitchFamily="49" charset="0"/>
                <a:ea typeface="돋움체" panose="020B0609000101010101" pitchFamily="49" charset="-127"/>
              </a:rPr>
              <a:t>z.Get</a:t>
            </a:r>
            <a:r>
              <a:rPr lang="en-US" altLang="ko-KR" sz="1400" dirty="0"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096000" y="1353228"/>
            <a:ext cx="52578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연산자 오버로딩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-&gt;num +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rh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연산자 오버로딩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rh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-&gt;num - </a:t>
            </a:r>
            <a:r>
              <a:rPr lang="en-US" altLang="ko-KR" sz="14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rh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연산자 오버로딩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음수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MyClass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-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num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9752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연산자를 </a:t>
            </a:r>
            <a:r>
              <a:rPr lang="ko-KR" altLang="en-US" dirty="0" err="1"/>
              <a:t>오버로딩할</a:t>
            </a:r>
            <a:r>
              <a:rPr lang="ko-KR" altLang="en-US" dirty="0"/>
              <a:t> 때의 주의사항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"/>
            </a:pPr>
            <a:r>
              <a:rPr lang="en-US" altLang="ko-KR" sz="1600" dirty="0"/>
              <a:t> </a:t>
            </a:r>
            <a:r>
              <a:rPr lang="en-US" altLang="ko-KR" sz="1600" b="1" dirty="0"/>
              <a:t>C++</a:t>
            </a:r>
            <a:r>
              <a:rPr lang="ko-KR" altLang="en-US" sz="1600" b="1" dirty="0"/>
              <a:t>에서 사용하는 연산자만</a:t>
            </a:r>
            <a:r>
              <a:rPr lang="ko-KR" altLang="en-US" sz="1600" dirty="0"/>
              <a:t> 오버로딩 할 수 있다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en-US" altLang="ko-KR" sz="1600" dirty="0"/>
              <a:t>    $ </a:t>
            </a:r>
            <a:r>
              <a:rPr lang="ko-KR" altLang="en-US" sz="1600" dirty="0"/>
              <a:t>기호는 </a:t>
            </a:r>
            <a:r>
              <a:rPr lang="en-US" altLang="ko-KR" sz="1600" dirty="0"/>
              <a:t>C++</a:t>
            </a:r>
            <a:r>
              <a:rPr lang="ko-KR" altLang="en-US" sz="1600" dirty="0"/>
              <a:t>에서 연산자로 사용되지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그러므로 </a:t>
            </a:r>
            <a:r>
              <a:rPr lang="en-US" altLang="ko-KR" sz="1600" dirty="0"/>
              <a:t>operator$( ) </a:t>
            </a:r>
            <a:r>
              <a:rPr lang="ko-KR" altLang="en-US" sz="1600" dirty="0"/>
              <a:t>함수를 정의할 수 없다</a:t>
            </a:r>
            <a:r>
              <a:rPr lang="en-US" altLang="ko-KR" sz="1600" dirty="0"/>
              <a:t>.</a:t>
            </a:r>
          </a:p>
          <a:p>
            <a:pPr>
              <a:buFont typeface="Wingdings" pitchFamily="2" charset="2"/>
              <a:buChar char=""/>
            </a:pPr>
            <a:r>
              <a:rPr lang="ko-KR" altLang="en-US" sz="1600" dirty="0"/>
              <a:t> </a:t>
            </a:r>
            <a:r>
              <a:rPr lang="ko-KR" altLang="en-US" sz="1600" b="1" dirty="0"/>
              <a:t>이항 연산자는 이항 연산자로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단항</a:t>
            </a:r>
            <a:r>
              <a:rPr lang="ko-KR" altLang="en-US" sz="1600" dirty="0"/>
              <a:t> 연산자는 </a:t>
            </a:r>
            <a:r>
              <a:rPr lang="ko-KR" altLang="en-US" sz="1600" dirty="0" err="1"/>
              <a:t>단항</a:t>
            </a:r>
            <a:r>
              <a:rPr lang="ko-KR" altLang="en-US" sz="1600" dirty="0"/>
              <a:t> 연산자로만 </a:t>
            </a:r>
            <a:r>
              <a:rPr lang="ko-KR" altLang="en-US" sz="1600" dirty="0" err="1"/>
              <a:t>오버로딩할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예를 들면 </a:t>
            </a:r>
            <a:r>
              <a:rPr lang="en-US" altLang="ko-KR" sz="1600" dirty="0"/>
              <a:t>10%4</a:t>
            </a:r>
            <a:r>
              <a:rPr lang="ko-KR" altLang="en-US" sz="1600" dirty="0"/>
              <a:t>와 같이 </a:t>
            </a:r>
            <a:r>
              <a:rPr lang="en-US" altLang="ko-KR" sz="1600" dirty="0"/>
              <a:t>% </a:t>
            </a:r>
            <a:r>
              <a:rPr lang="ko-KR" altLang="en-US" sz="1600" dirty="0"/>
              <a:t>연산자는 이항 연산자 형태로 오버로딩해야 한다</a:t>
            </a:r>
            <a:r>
              <a:rPr lang="en-US" altLang="ko-KR" sz="1600" dirty="0"/>
              <a:t>. </a:t>
            </a:r>
          </a:p>
          <a:p>
            <a:pPr>
              <a:buFont typeface="Wingdings" pitchFamily="2" charset="2"/>
              <a:buChar char=""/>
            </a:pPr>
            <a:r>
              <a:rPr lang="ko-KR" altLang="en-US" sz="1600" b="1" dirty="0"/>
              <a:t> 피연산자가 </a:t>
            </a:r>
            <a:r>
              <a:rPr lang="ko-KR" altLang="en-US" sz="1600" dirty="0"/>
              <a:t>적어도 </a:t>
            </a:r>
            <a:r>
              <a:rPr lang="ko-KR" altLang="en-US" sz="1600" b="1" dirty="0"/>
              <a:t>하나</a:t>
            </a:r>
            <a:r>
              <a:rPr lang="ko-KR" altLang="en-US" sz="1600" dirty="0"/>
              <a:t> 이상은 </a:t>
            </a:r>
            <a:r>
              <a:rPr lang="ko-KR" altLang="en-US" sz="1600" b="1" dirty="0"/>
              <a:t>사용자 정의 자료형 </a:t>
            </a:r>
            <a:r>
              <a:rPr lang="ko-KR" altLang="en-US" sz="1600" dirty="0"/>
              <a:t>이어야 한다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이는 기본 자료형에 대한 연산자 오버로딩을 방지하기 위해서다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endParaRPr lang="ko-KR" altLang="en-US" sz="1050" dirty="0"/>
          </a:p>
          <a:p>
            <a:pPr>
              <a:buFont typeface="Wingdings" pitchFamily="2" charset="2"/>
              <a:buChar char=""/>
            </a:pPr>
            <a:r>
              <a:rPr lang="ko-KR" altLang="en-US" sz="1600" dirty="0"/>
              <a:t> </a:t>
            </a:r>
            <a:r>
              <a:rPr lang="ko-KR" altLang="en-US" sz="1600" b="1" dirty="0" err="1">
                <a:solidFill>
                  <a:srgbClr val="0000FF"/>
                </a:solidFill>
              </a:rPr>
              <a:t>오버로딩할</a:t>
            </a:r>
            <a:r>
              <a:rPr lang="ko-KR" altLang="en-US" sz="1600" b="1" dirty="0">
                <a:solidFill>
                  <a:srgbClr val="0000FF"/>
                </a:solidFill>
              </a:rPr>
              <a:t> 수 없는</a:t>
            </a:r>
            <a:r>
              <a:rPr lang="ko-KR" altLang="en-US" sz="1600" b="1" dirty="0"/>
              <a:t> 연산자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en-US" altLang="ko-KR" sz="1600" b="1" dirty="0"/>
              <a:t>. </a:t>
            </a:r>
            <a:r>
              <a:rPr lang="en-US" altLang="ko-KR" sz="1600" dirty="0"/>
              <a:t>(</a:t>
            </a:r>
            <a:r>
              <a:rPr lang="ko-KR" altLang="en-US" sz="1600" dirty="0"/>
              <a:t>멤버 참조 연산자</a:t>
            </a:r>
            <a:r>
              <a:rPr lang="en-US" altLang="ko-KR" sz="1600" dirty="0"/>
              <a:t>), </a:t>
            </a:r>
            <a:r>
              <a:rPr lang="en-US" altLang="ko-KR" sz="1600" b="1" dirty="0"/>
              <a:t>:: 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스코프</a:t>
            </a:r>
            <a:r>
              <a:rPr lang="ko-KR" altLang="en-US" sz="1600" dirty="0"/>
              <a:t> 연산자</a:t>
            </a:r>
            <a:r>
              <a:rPr lang="en-US" altLang="ko-KR" sz="1600" dirty="0"/>
              <a:t>), </a:t>
            </a:r>
            <a:r>
              <a:rPr lang="en-US" altLang="ko-KR" sz="1600" b="1" dirty="0"/>
              <a:t>?: </a:t>
            </a:r>
            <a:r>
              <a:rPr lang="en-US" altLang="ko-KR" sz="1600" dirty="0"/>
              <a:t>(</a:t>
            </a:r>
            <a:r>
              <a:rPr lang="ko-KR" altLang="en-US" sz="1600" dirty="0"/>
              <a:t>조건 연산자 </a:t>
            </a:r>
            <a:r>
              <a:rPr lang="en-US" altLang="ko-KR" sz="1600" dirty="0"/>
              <a:t>), </a:t>
            </a:r>
            <a:r>
              <a:rPr lang="en-US" altLang="ko-KR" sz="1600" b="1" dirty="0" err="1"/>
              <a:t>sizeof</a:t>
            </a:r>
            <a:r>
              <a:rPr lang="en-US" altLang="ko-KR" sz="1600" dirty="0"/>
              <a:t> (</a:t>
            </a:r>
            <a:r>
              <a:rPr lang="en-US" altLang="ko-KR" sz="1600" dirty="0" err="1"/>
              <a:t>sizeof</a:t>
            </a:r>
            <a:r>
              <a:rPr lang="en-US" altLang="ko-KR" sz="1600" dirty="0"/>
              <a:t> </a:t>
            </a:r>
            <a:r>
              <a:rPr lang="ko-KR" altLang="en-US" sz="1600" dirty="0"/>
              <a:t>연산자 </a:t>
            </a:r>
            <a:r>
              <a:rPr lang="en-US" altLang="ko-KR" sz="1600" dirty="0"/>
              <a:t>)</a:t>
            </a:r>
          </a:p>
          <a:p>
            <a:pPr>
              <a:buFont typeface="Wingdings" pitchFamily="2" charset="2"/>
              <a:buChar char=""/>
            </a:pPr>
            <a:r>
              <a:rPr lang="ko-KR" altLang="en-US" sz="1600" dirty="0"/>
              <a:t> 대부분의 연산자는 멤버함수 또는 </a:t>
            </a:r>
            <a:r>
              <a:rPr lang="ko-KR" altLang="en-US" sz="1600" dirty="0" err="1"/>
              <a:t>프렌드</a:t>
            </a:r>
            <a:r>
              <a:rPr lang="ko-KR" altLang="en-US" sz="1600" dirty="0"/>
              <a:t> 함수로 </a:t>
            </a:r>
            <a:r>
              <a:rPr lang="ko-KR" altLang="en-US" sz="1600" dirty="0" err="1"/>
              <a:t>오버로딩할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en-US" altLang="ko-KR" sz="1600" dirty="0"/>
              <a:t>    </a:t>
            </a:r>
            <a:r>
              <a:rPr lang="ko-KR" altLang="en-US" sz="1600" dirty="0"/>
              <a:t>그러나 </a:t>
            </a:r>
            <a:r>
              <a:rPr lang="ko-KR" altLang="en-US" sz="1600" b="1" dirty="0"/>
              <a:t>다음 연산자는</a:t>
            </a:r>
            <a:r>
              <a:rPr lang="ko-KR" altLang="en-US" sz="1600" dirty="0"/>
              <a:t> </a:t>
            </a:r>
            <a:r>
              <a:rPr lang="ko-KR" altLang="en-US" sz="1600" b="1" dirty="0">
                <a:solidFill>
                  <a:srgbClr val="0000FF"/>
                </a:solidFill>
              </a:rPr>
              <a:t>멤버함수로만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오버로딩</a:t>
            </a:r>
            <a:r>
              <a:rPr lang="ko-KR" altLang="en-US" sz="1600" dirty="0" err="1"/>
              <a:t>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</a:t>
            </a:r>
          </a:p>
          <a:p>
            <a:pPr>
              <a:buNone/>
            </a:pPr>
            <a:r>
              <a:rPr lang="en-US" altLang="ko-KR" sz="1600" dirty="0"/>
              <a:t>	</a:t>
            </a:r>
            <a:r>
              <a:rPr lang="en-US" altLang="ko-KR" sz="1600" b="1" dirty="0"/>
              <a:t>= </a:t>
            </a:r>
            <a:r>
              <a:rPr lang="en-US" altLang="ko-KR" sz="1600" dirty="0"/>
              <a:t>(</a:t>
            </a:r>
            <a:r>
              <a:rPr lang="ko-KR" altLang="en-US" sz="1600" dirty="0"/>
              <a:t>대입 연산자 </a:t>
            </a:r>
            <a:r>
              <a:rPr lang="en-US" altLang="ko-KR" sz="1600" dirty="0"/>
              <a:t>), </a:t>
            </a:r>
            <a:r>
              <a:rPr lang="en-US" altLang="ko-KR" sz="1600" b="1" dirty="0"/>
              <a:t>( ) </a:t>
            </a:r>
            <a:r>
              <a:rPr lang="en-US" altLang="ko-KR" sz="1600" dirty="0"/>
              <a:t>(</a:t>
            </a:r>
            <a:r>
              <a:rPr lang="ko-KR" altLang="en-US" sz="1600" dirty="0"/>
              <a:t>함수 호출 연산자</a:t>
            </a:r>
            <a:r>
              <a:rPr lang="en-US" altLang="ko-KR" sz="1600" dirty="0"/>
              <a:t>), </a:t>
            </a:r>
            <a:r>
              <a:rPr lang="en-US" altLang="ko-KR" sz="1600" b="1" dirty="0"/>
              <a:t>[ ] </a:t>
            </a:r>
            <a:r>
              <a:rPr lang="en-US" altLang="ko-KR" sz="1600" dirty="0"/>
              <a:t>(</a:t>
            </a:r>
            <a:r>
              <a:rPr lang="ko-KR" altLang="en-US" sz="1600" dirty="0"/>
              <a:t>첨자 지정 연산자</a:t>
            </a:r>
            <a:r>
              <a:rPr lang="en-US" altLang="ko-KR" sz="1600" dirty="0"/>
              <a:t>), </a:t>
            </a:r>
            <a:r>
              <a:rPr lang="en-US" altLang="ko-KR" sz="1600" b="1" dirty="0"/>
              <a:t>-&gt; </a:t>
            </a:r>
            <a:r>
              <a:rPr lang="en-US" altLang="ko-KR" sz="1600" dirty="0"/>
              <a:t>(</a:t>
            </a:r>
            <a:r>
              <a:rPr lang="ko-KR" altLang="en-US" sz="1600" dirty="0"/>
              <a:t>객체 포인터에 대한 멤버 참조 연산자</a:t>
            </a:r>
            <a:r>
              <a:rPr lang="en-US" altLang="ko-KR" sz="1600" dirty="0"/>
              <a:t>)</a:t>
            </a:r>
            <a:endParaRPr lang="ko-KR" altLang="en-US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4942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A4E6"/>
                </a:solidFill>
                <a:latin typeface="+mj-ea"/>
              </a:rPr>
              <a:t>다양한 연산자 오버로딩</a:t>
            </a:r>
            <a:endParaRPr lang="en-US" altLang="ko-KR" sz="1800" dirty="0">
              <a:solidFill>
                <a:srgbClr val="00A4E6"/>
              </a:solidFill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3FBE6-6827-4BED-A6CD-BA9C404B1E1F}"/>
              </a:ext>
            </a:extLst>
          </p:cNvPr>
          <p:cNvSpPr txBox="1"/>
          <p:nvPr/>
        </p:nvSpPr>
        <p:spPr>
          <a:xfrm>
            <a:off x="838201" y="1668543"/>
            <a:ext cx="504648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real;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image;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: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Complex(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=0,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=0);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ShowComplex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(image&gt;0)    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"("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"+"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image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else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if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(image&lt;0)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"("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image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en-US" altLang="ko-KR" sz="105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05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)"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else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real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::Complex(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real=</a:t>
            </a:r>
            <a:r>
              <a:rPr lang="en-US" altLang="ko-KR" sz="105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image=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05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163DD-61EA-425B-9C74-4259C972E976}"/>
              </a:ext>
            </a:extLst>
          </p:cNvPr>
          <p:cNvSpPr txBox="1"/>
          <p:nvPr/>
        </p:nvSpPr>
        <p:spPr>
          <a:xfrm>
            <a:off x="6096000" y="1283575"/>
            <a:ext cx="5046482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050" b="1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operator+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res.real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-&gt;real +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.real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res.image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-&gt;image +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.image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050" b="1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&amp;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res.real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-&gt;real -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.real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res.image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-&gt;image - </a:t>
            </a:r>
            <a:r>
              <a:rPr lang="en-US" altLang="ko-KR" sz="105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rightHand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.image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050" b="1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operator-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res.real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-real 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res.image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-image 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res;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</a:p>
          <a:p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</a:t>
            </a:r>
          </a:p>
          <a:p>
            <a:r>
              <a:rPr lang="es-E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  <a:r>
              <a:rPr lang="es-ES" altLang="ko-KR" sz="105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Complex</a:t>
            </a:r>
            <a:r>
              <a:rPr lang="es-E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x(10,20), y(20, 40), z; </a:t>
            </a:r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z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</a:t>
            </a:r>
            <a:r>
              <a:rPr lang="ko-KR" altLang="en-US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z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x 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-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y; </a:t>
            </a:r>
            <a:endParaRPr lang="ko-KR" altLang="en-US" sz="105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z</a:t>
            </a:r>
            <a:r>
              <a:rPr lang="en-US" altLang="ko-KR" sz="105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=-</a:t>
            </a:r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x;</a:t>
            </a:r>
          </a:p>
          <a:p>
            <a:r>
              <a:rPr lang="en-US" altLang="ko-KR" sz="105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endParaRPr lang="ko-KR" altLang="en-US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427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AD546-CF86-442F-A31C-B4024536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A3DDC2-9C4B-4136-BC78-E3C0D823E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58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4E584-5AF6-4CD3-B72F-4D30E8A953A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ko-KR" altLang="en-US" dirty="0"/>
              <a:t>배열 연산자 오버로딩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4571A9-782F-4EC5-8B21-8FC28D051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97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DB252-654D-4C6F-8E18-E50F333E075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ko-KR" altLang="en-US" dirty="0"/>
              <a:t>포인터 연산자 오버로딩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83A159-9DEB-44CE-BDF0-33E9FD6DD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113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AF142-9ED3-4498-84D1-7170EDB561A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ko-KR" altLang="en-US" dirty="0"/>
              <a:t>함수 연산자 오버로딩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A2311-C71B-4DE6-8BF7-38BED5B04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665016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2134</TotalTime>
  <Words>1489</Words>
  <Application>Microsoft Office PowerPoint</Application>
  <PresentationFormat>와이드스크린</PresentationFormat>
  <Paragraphs>275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HY헤드라인M</vt:lpstr>
      <vt:lpstr>맑은 고딕</vt:lpstr>
      <vt:lpstr>Arial</vt:lpstr>
      <vt:lpstr>Consolas</vt:lpstr>
      <vt:lpstr>Wingdings</vt:lpstr>
      <vt:lpstr>kdw</vt:lpstr>
      <vt:lpstr>C++ 연산자 오버로딩</vt:lpstr>
      <vt:lpstr>학습목표</vt:lpstr>
      <vt:lpstr>연산자 오버로딩</vt:lpstr>
      <vt:lpstr>연산자 오버로딩하기</vt:lpstr>
      <vt:lpstr>연산자 오버로딩</vt:lpstr>
      <vt:lpstr>&lt;&lt; 연산자 오버로딩</vt:lpstr>
      <vt:lpstr>&lt;&lt; 연산자 오버로딩</vt:lpstr>
      <vt:lpstr>&lt;&lt; 연산자 오버로딩</vt:lpstr>
      <vt:lpstr>예제</vt:lpstr>
      <vt:lpstr>예제</vt:lpstr>
      <vt:lpstr>연산자를 오버로딩할 때의 주의사항</vt:lpstr>
      <vt:lpstr>예제</vt:lpstr>
      <vt:lpstr>예제</vt:lpstr>
      <vt:lpstr>배열 연산자 오버로딩</vt:lpstr>
      <vt:lpstr>포인터 연산자 오버로딩</vt:lpstr>
      <vt:lpstr>함수 연산자 오버로딩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441</cp:revision>
  <dcterms:created xsi:type="dcterms:W3CDTF">2020-02-16T05:20:05Z</dcterms:created>
  <dcterms:modified xsi:type="dcterms:W3CDTF">2024-05-25T02:50:05Z</dcterms:modified>
</cp:coreProperties>
</file>