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6" r:id="rId2"/>
    <p:sldId id="261" r:id="rId3"/>
    <p:sldId id="262" r:id="rId4"/>
    <p:sldId id="263" r:id="rId5"/>
    <p:sldId id="283" r:id="rId6"/>
    <p:sldId id="265" r:id="rId7"/>
    <p:sldId id="284" r:id="rId8"/>
    <p:sldId id="264" r:id="rId9"/>
    <p:sldId id="285" r:id="rId10"/>
    <p:sldId id="268" r:id="rId11"/>
    <p:sldId id="270" r:id="rId12"/>
    <p:sldId id="271" r:id="rId13"/>
    <p:sldId id="269" r:id="rId14"/>
    <p:sldId id="272" r:id="rId15"/>
    <p:sldId id="273" r:id="rId16"/>
    <p:sldId id="274" r:id="rId17"/>
    <p:sldId id="275" r:id="rId18"/>
    <p:sldId id="278" r:id="rId19"/>
    <p:sldId id="276" r:id="rId20"/>
    <p:sldId id="277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1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02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57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988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468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30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23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6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477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497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64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958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82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</a:t>
            </a:r>
            <a:r>
              <a:rPr lang="en-US" altLang="ko-KR" dirty="0"/>
              <a:t>STL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STL</a:t>
            </a:r>
            <a:r>
              <a:rPr lang="ko-KR" altLang="en-US" dirty="0"/>
              <a:t>의 이해</a:t>
            </a:r>
            <a:endParaRPr lang="en-US" altLang="ko-KR" dirty="0"/>
          </a:p>
          <a:p>
            <a:r>
              <a:rPr lang="en-US" altLang="ko-KR" dirty="0"/>
              <a:t>vector </a:t>
            </a:r>
            <a:r>
              <a:rPr lang="ko-KR" altLang="en-US" dirty="0"/>
              <a:t>템플릿 클래스로 이해하는 구성 요소</a:t>
            </a:r>
            <a:endParaRPr lang="en-US" altLang="ko-KR" dirty="0"/>
          </a:p>
          <a:p>
            <a:r>
              <a:rPr lang="ko-KR" altLang="en-US" dirty="0"/>
              <a:t>반복자</a:t>
            </a:r>
            <a:endParaRPr lang="en-US" altLang="ko-KR" dirty="0"/>
          </a:p>
          <a:p>
            <a:r>
              <a:rPr lang="ko-KR" altLang="en-US" dirty="0"/>
              <a:t>컨테이너</a:t>
            </a:r>
            <a:endParaRPr lang="en-US" altLang="ko-KR" dirty="0"/>
          </a:p>
          <a:p>
            <a:r>
              <a:rPr lang="en-US" altLang="ko-KR" dirty="0"/>
              <a:t>STL </a:t>
            </a:r>
            <a:r>
              <a:rPr lang="ko-KR" altLang="en-US" dirty="0"/>
              <a:t>알고리즘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84592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STL</a:t>
            </a:r>
            <a:r>
              <a:rPr lang="ko-KR" altLang="en-US" dirty="0"/>
              <a:t>의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600" dirty="0"/>
              <a:t>STL</a:t>
            </a:r>
            <a:r>
              <a:rPr lang="ko-KR" altLang="en-US" sz="1600" dirty="0"/>
              <a:t>은 </a:t>
            </a:r>
            <a:endParaRPr lang="en-US" altLang="ko-KR" sz="1600" dirty="0"/>
          </a:p>
          <a:p>
            <a:pPr lvl="1"/>
            <a:r>
              <a:rPr lang="ko-KR" altLang="en-US" sz="1600" dirty="0"/>
              <a:t>컨테이너</a:t>
            </a:r>
            <a:r>
              <a:rPr lang="en-US" altLang="ko-KR" sz="1600" dirty="0"/>
              <a:t>(container)</a:t>
            </a:r>
            <a:r>
              <a:rPr lang="ko-KR" altLang="en-US" sz="1600" dirty="0"/>
              <a:t>와 알고리즘</a:t>
            </a:r>
            <a:r>
              <a:rPr lang="en-US" altLang="ko-KR" sz="1600" dirty="0"/>
              <a:t>(algorithm)</a:t>
            </a:r>
            <a:r>
              <a:rPr lang="ko-KR" altLang="en-US" sz="1600" dirty="0"/>
              <a:t>을 일반화한 </a:t>
            </a:r>
            <a:r>
              <a:rPr lang="ko-KR" altLang="en-US" sz="1600" b="1" dirty="0"/>
              <a:t>자료구조 라이브러리</a:t>
            </a:r>
            <a:r>
              <a:rPr lang="ko-KR" altLang="en-US" sz="1600" dirty="0"/>
              <a:t>로서 </a:t>
            </a:r>
            <a:endParaRPr lang="en-US" altLang="ko-KR" sz="1600" dirty="0"/>
          </a:p>
          <a:p>
            <a:pPr lvl="1"/>
            <a:r>
              <a:rPr lang="ko-KR" altLang="en-US" sz="1600" dirty="0"/>
              <a:t>일반화된 라이브러리</a:t>
            </a:r>
            <a:r>
              <a:rPr lang="en-US" altLang="ko-KR" sz="1600" dirty="0"/>
              <a:t>(generic library)</a:t>
            </a:r>
            <a:r>
              <a:rPr lang="ko-KR" altLang="en-US" sz="1600" dirty="0"/>
              <a:t>의 사용을 위해서 </a:t>
            </a:r>
            <a:r>
              <a:rPr lang="en-US" altLang="ko-KR" sz="1600" dirty="0"/>
              <a:t>Template(</a:t>
            </a:r>
            <a:r>
              <a:rPr lang="ko-KR" altLang="en-US" sz="1600" dirty="0"/>
              <a:t>템플릿</a:t>
            </a:r>
            <a:r>
              <a:rPr lang="en-US" altLang="ko-KR" sz="1600" dirty="0"/>
              <a:t>)</a:t>
            </a:r>
            <a:r>
              <a:rPr lang="ko-KR" altLang="en-US" sz="1600" dirty="0"/>
              <a:t>을 제공한다</a:t>
            </a:r>
            <a:r>
              <a:rPr lang="en-US" altLang="ko-KR" sz="1600" dirty="0"/>
              <a:t>.</a:t>
            </a:r>
          </a:p>
          <a:p>
            <a:r>
              <a:rPr lang="en-US" altLang="ko-KR" sz="1600" b="1" dirty="0"/>
              <a:t>STL</a:t>
            </a:r>
            <a:r>
              <a:rPr lang="ko-KR" altLang="en-US" sz="1600" b="1" dirty="0"/>
              <a:t>의 핵심 구성요소</a:t>
            </a:r>
            <a:r>
              <a:rPr lang="ko-KR" altLang="en-US" sz="1600" dirty="0"/>
              <a:t>는 컨테이너</a:t>
            </a:r>
            <a:r>
              <a:rPr lang="en-US" altLang="ko-KR" sz="1600" dirty="0"/>
              <a:t>, </a:t>
            </a:r>
            <a:r>
              <a:rPr lang="ko-KR" altLang="en-US" sz="1600" dirty="0"/>
              <a:t>알고리즘</a:t>
            </a:r>
            <a:r>
              <a:rPr lang="en-US" altLang="ko-KR" sz="1600" dirty="0"/>
              <a:t>, </a:t>
            </a:r>
            <a:r>
              <a:rPr lang="ko-KR" altLang="en-US" sz="1600" dirty="0"/>
              <a:t>반복자</a:t>
            </a:r>
            <a:r>
              <a:rPr lang="en-US" altLang="ko-KR" sz="1600" dirty="0"/>
              <a:t>, 3</a:t>
            </a:r>
            <a:r>
              <a:rPr lang="ko-KR" altLang="en-US" sz="1600" dirty="0"/>
              <a:t>가지로 대표된다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600" b="1" dirty="0"/>
              <a:t>컨테이너</a:t>
            </a:r>
            <a:r>
              <a:rPr lang="en-US" altLang="ko-KR" sz="1600" dirty="0"/>
              <a:t>(</a:t>
            </a:r>
            <a:r>
              <a:rPr lang="en-US" altLang="ko-KR" sz="1600" b="1" dirty="0">
                <a:solidFill>
                  <a:srgbClr val="FF0000"/>
                </a:solidFill>
              </a:rPr>
              <a:t>container</a:t>
            </a:r>
            <a:r>
              <a:rPr lang="en-US" altLang="ko-KR" sz="1600" dirty="0"/>
              <a:t>) : </a:t>
            </a:r>
            <a:r>
              <a:rPr lang="ko-KR" altLang="en-US" sz="1600" dirty="0"/>
              <a:t>객체들을 </a:t>
            </a:r>
            <a:r>
              <a:rPr lang="ko-KR" altLang="en-US" sz="1600" b="1" dirty="0">
                <a:solidFill>
                  <a:schemeClr val="accent2">
                    <a:lumMod val="75000"/>
                  </a:schemeClr>
                </a:solidFill>
              </a:rPr>
              <a:t>담아둘 수 있는 객체</a:t>
            </a:r>
            <a:r>
              <a:rPr lang="ko-KR" altLang="en-US" sz="1600" dirty="0"/>
              <a:t>를 말한다</a:t>
            </a:r>
            <a:r>
              <a:rPr lang="en-US" altLang="ko-KR" sz="1600" dirty="0"/>
              <a:t>. </a:t>
            </a:r>
            <a:r>
              <a:rPr lang="ko-KR" altLang="en-US" sz="1600" dirty="0"/>
              <a:t>예를 들면 배열과 유사한 </a:t>
            </a:r>
            <a:r>
              <a:rPr lang="en-US" altLang="ko-KR" sz="1600" dirty="0"/>
              <a:t>vector</a:t>
            </a:r>
            <a:r>
              <a:rPr lang="ko-KR" altLang="en-US" sz="1600" dirty="0"/>
              <a:t>를 들 수 </a:t>
            </a:r>
            <a:r>
              <a:rPr lang="ko-KR" altLang="en-US" sz="1600" dirty="0" smtClean="0"/>
              <a:t>있</a:t>
            </a:r>
            <a:r>
              <a:rPr lang="en-US" altLang="ko-KR" sz="1600" dirty="0"/>
              <a:t>	</a:t>
            </a:r>
            <a:r>
              <a:rPr lang="ko-KR" altLang="en-US" sz="1600" dirty="0"/>
              <a:t>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b="1" dirty="0"/>
              <a:t>반복자</a:t>
            </a:r>
            <a:r>
              <a:rPr lang="en-US" altLang="ko-KR" sz="1600" dirty="0"/>
              <a:t>(</a:t>
            </a:r>
            <a:r>
              <a:rPr lang="en-US" altLang="ko-KR" sz="1600" b="1" dirty="0">
                <a:solidFill>
                  <a:srgbClr val="FF0000"/>
                </a:solidFill>
              </a:rPr>
              <a:t>iterator</a:t>
            </a:r>
            <a:r>
              <a:rPr lang="en-US" altLang="ko-KR" sz="1600" dirty="0"/>
              <a:t>) :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컨테이너와 알고리즘 사이에서</a:t>
            </a:r>
            <a:r>
              <a:rPr lang="ko-KR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이를</a:t>
            </a:r>
            <a:r>
              <a:rPr lang="ko-KR" altLang="en-US" sz="1600" b="1" dirty="0">
                <a:solidFill>
                  <a:schemeClr val="accent2">
                    <a:lumMod val="75000"/>
                  </a:schemeClr>
                </a:solidFill>
              </a:rPr>
              <a:t> 연결</a:t>
            </a:r>
            <a:r>
              <a:rPr lang="ko-KR" altLang="en-US" sz="1600" dirty="0"/>
              <a:t>해 주는 역할을 한다</a:t>
            </a:r>
            <a:r>
              <a:rPr lang="en-US" altLang="ko-KR" sz="1600" dirty="0"/>
              <a:t>. </a:t>
            </a:r>
            <a:r>
              <a:rPr lang="ko-KR" altLang="en-US" sz="1600" dirty="0"/>
              <a:t>반복자는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컨테이너가 관리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하는 </a:t>
            </a:r>
            <a:r>
              <a:rPr lang="ko-KR" altLang="en-US" sz="1600" b="1" dirty="0">
                <a:solidFill>
                  <a:schemeClr val="accent2">
                    <a:lumMod val="75000"/>
                  </a:schemeClr>
                </a:solidFill>
              </a:rPr>
              <a:t>요소에 접근</a:t>
            </a:r>
            <a:r>
              <a:rPr lang="ko-KR" altLang="en-US" sz="1600" dirty="0"/>
              <a:t>할 수 있게 해 주는 추상화된 개념으로서</a:t>
            </a:r>
            <a:r>
              <a:rPr lang="en-US" altLang="ko-KR" sz="1600" dirty="0"/>
              <a:t>, </a:t>
            </a:r>
            <a:r>
              <a:rPr lang="ko-KR" altLang="en-US" sz="1600" dirty="0"/>
              <a:t>프로그램을 하는 데 있어 </a:t>
            </a:r>
            <a:r>
              <a:rPr lang="ko-KR" altLang="en-US" sz="1600" b="1" dirty="0"/>
              <a:t>반복적인 작업</a:t>
            </a:r>
            <a:r>
              <a:rPr lang="ko-KR" altLang="en-US" sz="1600" dirty="0"/>
              <a:t>에 이름을 붙여서 프로그래머가 반복적인 작업을 할 때 사용하는 패턴 중 하나다</a:t>
            </a:r>
            <a:r>
              <a:rPr lang="en-US" altLang="ko-KR" sz="1600" dirty="0"/>
              <a:t>. </a:t>
            </a:r>
            <a:r>
              <a:rPr lang="ko-KR" altLang="en-US" sz="1600" dirty="0"/>
              <a:t>반복자를 통해 컨테이너 내의 요소들을 다양한 방법으로 다룰 수 있기 때문에 알고리즘과 컨테이너를 연결하는 매체가 된다</a:t>
            </a:r>
            <a:r>
              <a:rPr lang="en-US" altLang="ko-KR" sz="1600" dirty="0"/>
              <a:t>. </a:t>
            </a:r>
            <a:r>
              <a:rPr lang="ko-KR" altLang="en-US" sz="1600" dirty="0"/>
              <a:t>컨테이너에 </a:t>
            </a:r>
            <a:r>
              <a:rPr lang="ko-KR" altLang="en-US" sz="1600" b="1" dirty="0"/>
              <a:t>알고리즘을 적용하려면 반복자가 꼭 필요</a:t>
            </a:r>
            <a:r>
              <a:rPr lang="ko-KR" altLang="en-US" sz="1600" dirty="0"/>
              <a:t>하다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b="1" dirty="0"/>
              <a:t>알고리즘</a:t>
            </a:r>
            <a:r>
              <a:rPr lang="en-US" altLang="ko-KR" sz="1600" dirty="0"/>
              <a:t>(</a:t>
            </a:r>
            <a:r>
              <a:rPr lang="en-US" altLang="ko-KR" sz="1600" b="1" dirty="0">
                <a:solidFill>
                  <a:srgbClr val="FF0000"/>
                </a:solidFill>
              </a:rPr>
              <a:t>algorithm</a:t>
            </a:r>
            <a:r>
              <a:rPr lang="en-US" altLang="ko-KR" sz="1600" dirty="0"/>
              <a:t>) :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자료들을 </a:t>
            </a:r>
            <a:r>
              <a:rPr lang="ko-KR" altLang="en-US" sz="1600" b="1" dirty="0">
                <a:solidFill>
                  <a:schemeClr val="accent2">
                    <a:lumMod val="75000"/>
                  </a:schemeClr>
                </a:solidFill>
              </a:rPr>
              <a:t>가공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하고 적절히 </a:t>
            </a:r>
            <a:r>
              <a:rPr lang="ko-KR" altLang="en-US" sz="1600" b="1" dirty="0">
                <a:solidFill>
                  <a:schemeClr val="accent2">
                    <a:lumMod val="75000"/>
                  </a:schemeClr>
                </a:solidFill>
              </a:rPr>
              <a:t>사용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할 수 있는 방법</a:t>
            </a:r>
            <a:r>
              <a:rPr lang="ko-KR" altLang="en-US" sz="1600" dirty="0"/>
              <a:t>을 말한다</a:t>
            </a:r>
            <a:r>
              <a:rPr lang="en-US" altLang="ko-KR" sz="1600" dirty="0"/>
              <a:t>. </a:t>
            </a:r>
            <a:r>
              <a:rPr lang="ko-KR" altLang="en-US" sz="1600" dirty="0"/>
              <a:t>예를 들면 컨테이너를 정</a:t>
            </a:r>
            <a:endParaRPr lang="en-US" altLang="ko-KR" sz="1600" dirty="0"/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ko-KR" altLang="en-US" sz="1600" dirty="0" err="1"/>
              <a:t>렬하기</a:t>
            </a:r>
            <a:r>
              <a:rPr lang="ko-KR" altLang="en-US" sz="1600" dirty="0"/>
              <a:t> 위한 </a:t>
            </a:r>
            <a:r>
              <a:rPr lang="en-US" altLang="ko-KR" sz="1600" dirty="0"/>
              <a:t>sort</a:t>
            </a:r>
            <a:r>
              <a:rPr lang="ko-KR" altLang="en-US" sz="1600" dirty="0"/>
              <a:t>를 들 수 있다</a:t>
            </a:r>
            <a:r>
              <a:rPr lang="en-US" altLang="ko-KR" sz="1600" dirty="0"/>
              <a:t>. STL</a:t>
            </a:r>
            <a:r>
              <a:rPr lang="ko-KR" altLang="en-US" sz="1600" dirty="0"/>
              <a:t>에서는 알고리즘을 컨테이너에서 완전히 분리시켜 컨테이너 종류와는 </a:t>
            </a:r>
            <a:endParaRPr lang="en-US" altLang="ko-KR" sz="1600" dirty="0"/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ko-KR" altLang="en-US" sz="1600" dirty="0"/>
              <a:t>무관하게 어떤 컨테이너에도 적용할 수 있도록 </a:t>
            </a:r>
            <a:r>
              <a:rPr lang="ko-KR" altLang="en-US" sz="1600" dirty="0" err="1"/>
              <a:t>이식성을</a:t>
            </a:r>
            <a:r>
              <a:rPr lang="ko-KR" altLang="en-US" sz="1600" dirty="0"/>
              <a:t> 높였다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1144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</a:t>
            </a:r>
            <a:r>
              <a:rPr lang="ko-KR" altLang="en-US" dirty="0"/>
              <a:t>템플릿 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600" dirty="0"/>
              <a:t>STL </a:t>
            </a:r>
            <a:r>
              <a:rPr lang="ko-KR" altLang="en-US" sz="1600" dirty="0"/>
              <a:t>컨테이너</a:t>
            </a:r>
            <a:endParaRPr lang="en-US" altLang="ko-KR" sz="1600" dirty="0"/>
          </a:p>
          <a:p>
            <a:pPr lvl="1"/>
            <a:r>
              <a:rPr lang="ko-KR" altLang="en-US" sz="1400" dirty="0"/>
              <a:t>벡터</a:t>
            </a:r>
            <a:r>
              <a:rPr lang="en-US" altLang="ko-KR" sz="1400" dirty="0"/>
              <a:t>(vector)</a:t>
            </a:r>
            <a:r>
              <a:rPr lang="ko-KR" altLang="en-US" sz="1400" dirty="0"/>
              <a:t>는 배열처럼 유사한 값들의 집합으로 임의 접근할 수 있는 자료형이다</a:t>
            </a:r>
            <a:r>
              <a:rPr lang="en-US" altLang="ko-KR" sz="1400" dirty="0"/>
              <a:t>. </a:t>
            </a:r>
            <a:r>
              <a:rPr lang="ko-KR" altLang="en-US" sz="1400" dirty="0"/>
              <a:t>동적 배열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400" dirty="0"/>
          </a:p>
          <a:p>
            <a:pPr lvl="1"/>
            <a:r>
              <a:rPr lang="en-US" altLang="ko-KR" sz="1400" dirty="0"/>
              <a:t>vector </a:t>
            </a:r>
            <a:r>
              <a:rPr lang="ko-KR" altLang="en-US" sz="1400" dirty="0" err="1"/>
              <a:t>클래스명</a:t>
            </a:r>
            <a:r>
              <a:rPr lang="ko-KR" altLang="en-US" sz="1400" dirty="0"/>
              <a:t> 다음에 기술한 </a:t>
            </a:r>
            <a:r>
              <a:rPr lang="en-US" altLang="ko-KR" sz="1400" dirty="0"/>
              <a:t>&lt;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&gt;</a:t>
            </a:r>
            <a:r>
              <a:rPr lang="ko-KR" altLang="en-US" sz="1400" dirty="0"/>
              <a:t>는 벡터 객체가 갖는 요소의 </a:t>
            </a:r>
            <a:r>
              <a:rPr lang="ko-KR" altLang="en-US" sz="1400" dirty="0" err="1"/>
              <a:t>자료형이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정수형이라는</a:t>
            </a:r>
            <a:r>
              <a:rPr lang="ko-KR" altLang="en-US" sz="1400" dirty="0"/>
              <a:t> 의미다</a:t>
            </a:r>
            <a:r>
              <a:rPr lang="en-US" altLang="ko-KR" sz="1400" dirty="0"/>
              <a:t>. vector </a:t>
            </a:r>
            <a:r>
              <a:rPr lang="ko-KR" altLang="en-US" sz="1400" dirty="0"/>
              <a:t>객체를 생성할 때 호출되는 </a:t>
            </a:r>
            <a:r>
              <a:rPr lang="ko-KR" altLang="en-US" sz="1400" dirty="0" err="1"/>
              <a:t>생성자는</a:t>
            </a:r>
            <a:r>
              <a:rPr lang="ko-KR" altLang="en-US" sz="1400" dirty="0"/>
              <a:t> 첫 번째 매개변수가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벡터의 크기</a:t>
            </a:r>
            <a:r>
              <a:rPr lang="ko-KR" altLang="en-US" sz="1400" dirty="0"/>
              <a:t>가 되며</a:t>
            </a:r>
            <a:r>
              <a:rPr lang="en-US" altLang="ko-KR" sz="1400" dirty="0"/>
              <a:t>, </a:t>
            </a:r>
            <a:r>
              <a:rPr lang="ko-KR" altLang="en-US" sz="1400" dirty="0"/>
              <a:t>두 번째 매개변수는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벡터의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초깃값</a:t>
            </a:r>
            <a:r>
              <a:rPr lang="ko-KR" altLang="en-US" sz="1400" dirty="0" err="1"/>
              <a:t>이다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다음은 벡터 클래스의 </a:t>
            </a:r>
            <a:r>
              <a:rPr lang="ko-KR" altLang="en-US" sz="1400" dirty="0" err="1"/>
              <a:t>생성자다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400" dirty="0"/>
          </a:p>
          <a:p>
            <a:pPr lvl="1"/>
            <a:r>
              <a:rPr lang="ko-KR" altLang="en-US" sz="1400" dirty="0"/>
              <a:t>벡터는 요소의 개수를 알려주는 </a:t>
            </a:r>
            <a:r>
              <a:rPr lang="en-US" altLang="ko-KR" sz="1400" dirty="0"/>
              <a:t>size</a:t>
            </a:r>
            <a:r>
              <a:rPr lang="ko-KR" altLang="en-US" sz="1400" dirty="0"/>
              <a:t>라는 멤버함수를 제공한다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r>
              <a:rPr lang="en-US" altLang="ko-KR" sz="1400" dirty="0"/>
              <a:t>STL </a:t>
            </a:r>
            <a:r>
              <a:rPr lang="ko-KR" altLang="en-US" sz="1400" dirty="0"/>
              <a:t>컨테이너에서 공통적으로 사용할 수 있는 함수로 </a:t>
            </a:r>
            <a:r>
              <a:rPr lang="en-US" altLang="ko-KR" sz="1400" dirty="0" err="1"/>
              <a:t>push_back</a:t>
            </a:r>
            <a:r>
              <a:rPr lang="en-US" altLang="ko-KR" sz="1400" dirty="0"/>
              <a:t>( )</a:t>
            </a:r>
            <a:r>
              <a:rPr lang="ko-KR" altLang="en-US" sz="1400" dirty="0"/>
              <a:t>이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요소를 벡터 끝에 추가한다</a:t>
            </a:r>
            <a:r>
              <a:rPr lang="en-US" altLang="ko-KR" sz="1400" dirty="0"/>
              <a:t>.</a:t>
            </a:r>
            <a:endParaRPr lang="ko-KR" altLang="en-US" sz="1600" dirty="0"/>
          </a:p>
          <a:p>
            <a:pPr lvl="1"/>
            <a:endParaRPr lang="en-US" altLang="ko-KR" sz="1400" dirty="0"/>
          </a:p>
          <a:p>
            <a:endParaRPr lang="en-US" altLang="ko-KR" sz="1600" dirty="0"/>
          </a:p>
          <a:p>
            <a:pPr>
              <a:buNone/>
            </a:pPr>
            <a:endParaRPr lang="en-US" altLang="ko-KR" sz="400" dirty="0"/>
          </a:p>
          <a:p>
            <a:pPr lvl="1">
              <a:buNone/>
            </a:pPr>
            <a:endParaRPr lang="ko-KR" altLang="en-US" sz="1400" dirty="0"/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543237" y="1983033"/>
            <a:ext cx="4552762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vector &lt;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&gt; v2(10, 2);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1543236" y="3300521"/>
            <a:ext cx="7528183" cy="8679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err="1">
                <a:latin typeface="+mn-ea"/>
              </a:rPr>
              <a:t>vecor</a:t>
            </a:r>
            <a:r>
              <a:rPr lang="en-US" altLang="ko-KR" sz="1400" dirty="0">
                <a:latin typeface="+mn-ea"/>
              </a:rPr>
              <a:t>(); 				// </a:t>
            </a:r>
            <a:r>
              <a:rPr lang="ko-KR" altLang="en-US" sz="1400" dirty="0">
                <a:latin typeface="+mn-ea"/>
              </a:rPr>
              <a:t>빈 벡터</a:t>
            </a:r>
            <a:r>
              <a:rPr lang="en-US" altLang="ko-KR" sz="1400" dirty="0">
                <a:latin typeface="+mn-ea"/>
              </a:rPr>
              <a:t>(empty vector)</a:t>
            </a:r>
            <a:r>
              <a:rPr lang="ko-KR" altLang="en-US" sz="1400" dirty="0">
                <a:latin typeface="+mn-ea"/>
              </a:rPr>
              <a:t>를 생성한다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+mn-ea"/>
              </a:rPr>
              <a:t>vector(</a:t>
            </a:r>
            <a:r>
              <a:rPr lang="en-US" altLang="ko-KR" sz="1400" dirty="0" err="1">
                <a:latin typeface="+mn-ea"/>
              </a:rPr>
              <a:t>size_type</a:t>
            </a:r>
            <a:r>
              <a:rPr lang="en-US" altLang="ko-KR" sz="1400" dirty="0">
                <a:latin typeface="+mn-ea"/>
              </a:rPr>
              <a:t> _Count); 		// </a:t>
            </a:r>
            <a:r>
              <a:rPr lang="ko-KR" altLang="en-US" sz="1400" dirty="0">
                <a:latin typeface="+mn-ea"/>
              </a:rPr>
              <a:t>벡터의 크기만 지정한다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+mn-ea"/>
              </a:rPr>
              <a:t>vector(</a:t>
            </a:r>
            <a:r>
              <a:rPr lang="en-US" altLang="ko-KR" sz="1400" dirty="0" err="1">
                <a:latin typeface="+mn-ea"/>
              </a:rPr>
              <a:t>size_type</a:t>
            </a:r>
            <a:r>
              <a:rPr lang="en-US" altLang="ko-KR" sz="1400" dirty="0">
                <a:latin typeface="+mn-ea"/>
              </a:rPr>
              <a:t> _Count, const Type&amp; _Val); 	// </a:t>
            </a:r>
            <a:r>
              <a:rPr lang="ko-KR" altLang="en-US" sz="1400" dirty="0">
                <a:latin typeface="+mn-ea"/>
              </a:rPr>
              <a:t>벡터의 크기와 요소의 </a:t>
            </a:r>
            <a:r>
              <a:rPr lang="ko-KR" altLang="en-US" sz="1400" dirty="0" err="1">
                <a:latin typeface="+mn-ea"/>
              </a:rPr>
              <a:t>초깃값을</a:t>
            </a:r>
            <a:r>
              <a:rPr lang="ko-KR" altLang="en-US" sz="1400" dirty="0">
                <a:latin typeface="+mn-ea"/>
              </a:rPr>
              <a:t> 지정한다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43236" y="4658622"/>
            <a:ext cx="4552763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size_type</a:t>
            </a:r>
            <a:r>
              <a:rPr lang="en-US" altLang="ko-KR" sz="1400" dirty="0"/>
              <a:t> size() const;</a:t>
            </a:r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8AD296-0A4E-4BBA-9940-D664314BE4EA}"/>
              </a:ext>
            </a:extLst>
          </p:cNvPr>
          <p:cNvSpPr/>
          <p:nvPr/>
        </p:nvSpPr>
        <p:spPr>
          <a:xfrm>
            <a:off x="1543236" y="5405770"/>
            <a:ext cx="5442408" cy="5136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>
                <a:latin typeface="+mn-ea"/>
                <a:ea typeface="+mn-ea"/>
              </a:rPr>
              <a:t>vector &lt;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&gt; v; // </a:t>
            </a:r>
            <a:r>
              <a:rPr lang="ko-KR" altLang="en-US" sz="1200" dirty="0">
                <a:latin typeface="+mn-ea"/>
                <a:ea typeface="+mn-ea"/>
              </a:rPr>
              <a:t>빈 벡터가 생성된다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200" dirty="0" err="1">
                <a:latin typeface="+mn-ea"/>
                <a:ea typeface="+mn-ea"/>
              </a:rPr>
              <a:t>v.push_back</a:t>
            </a:r>
            <a:r>
              <a:rPr lang="en-US" altLang="ko-KR" sz="1200" dirty="0">
                <a:latin typeface="+mn-ea"/>
                <a:ea typeface="+mn-ea"/>
              </a:rPr>
              <a:t>( 10 ); // </a:t>
            </a:r>
            <a:r>
              <a:rPr lang="ko-KR" altLang="en-US" sz="1200" dirty="0">
                <a:latin typeface="+mn-ea"/>
                <a:ea typeface="+mn-ea"/>
              </a:rPr>
              <a:t>요소가 추가되어 크기가 </a:t>
            </a:r>
            <a:r>
              <a:rPr lang="en-US" altLang="ko-KR" sz="1200" dirty="0">
                <a:latin typeface="+mn-ea"/>
                <a:ea typeface="+mn-ea"/>
              </a:rPr>
              <a:t>1</a:t>
            </a:r>
            <a:r>
              <a:rPr lang="ko-KR" altLang="en-US" sz="1200" dirty="0">
                <a:latin typeface="+mn-ea"/>
                <a:ea typeface="+mn-ea"/>
              </a:rPr>
              <a:t>인 벡터가 된다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422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861DB-A247-495B-A578-0A617EA6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99C4BC-C17D-4D3F-9874-6A535A617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03CA3-D6CF-483A-8A95-D02F0B2C7DB1}"/>
              </a:ext>
            </a:extLst>
          </p:cNvPr>
          <p:cNvSpPr txBox="1"/>
          <p:nvPr/>
        </p:nvSpPr>
        <p:spPr>
          <a:xfrm>
            <a:off x="838201" y="1235676"/>
            <a:ext cx="10515599" cy="452431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altLang="ko-KR" sz="1600" dirty="0" smtClean="0">
              <a:solidFill>
                <a:srgbClr val="2B91A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smtClean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vector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v0;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//int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형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백터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생성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//int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동적배열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추가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삭제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v0.push_back(1);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추가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v0.pop_back(); 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삭제</a:t>
            </a:r>
          </a:p>
          <a:p>
            <a:endParaRPr lang="ko-KR" altLang="en-US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vector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v1(3);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//int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형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백터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크기를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3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로 할당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모든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백터요소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0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으로 초기화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endParaRPr lang="ko-KR" altLang="en-US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vector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v2(5, 2);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//int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형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백터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size 5,  2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로 초기화</a:t>
            </a:r>
          </a:p>
          <a:p>
            <a:endParaRPr lang="ko-KR" altLang="en-US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vector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v3 = { 1, 2, 3 };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//int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형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백터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생성 후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1, 2, 3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으로 초기화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벡터의 크기는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v0.size()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nn-NO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nn-NO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for</a:t>
            </a:r>
            <a:r>
              <a:rPr lang="nn-NO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nn-NO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nn-NO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 = 0; i &lt; v1.size(); i++)</a:t>
            </a:r>
          </a:p>
          <a:p>
            <a:r>
              <a:rPr lang="nn-NO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 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v1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배열처럼 접근 가능</a:t>
            </a:r>
            <a:endParaRPr lang="en-US" altLang="ko-KR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}</a:t>
            </a:r>
            <a:endParaRPr lang="ko-KR" altLang="en-US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37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</a:t>
            </a:r>
            <a:r>
              <a:rPr lang="ko-KR" altLang="en-US" dirty="0"/>
              <a:t>템플릿 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dirty="0"/>
              <a:t>반복자</a:t>
            </a:r>
            <a:endParaRPr lang="en-US" altLang="ko-KR" sz="1600" dirty="0"/>
          </a:p>
          <a:p>
            <a:pPr lvl="1"/>
            <a:r>
              <a:rPr lang="ko-KR" altLang="en-US" sz="1400" dirty="0"/>
              <a:t>자주 사용하는 함수로 </a:t>
            </a:r>
            <a:r>
              <a:rPr lang="en-US" altLang="ko-KR" sz="1400" dirty="0"/>
              <a:t>begin( )</a:t>
            </a:r>
            <a:r>
              <a:rPr lang="ko-KR" altLang="en-US" sz="1400" dirty="0"/>
              <a:t>과 </a:t>
            </a:r>
            <a:r>
              <a:rPr lang="en-US" altLang="ko-KR" sz="1400" dirty="0"/>
              <a:t>end( )</a:t>
            </a:r>
            <a:r>
              <a:rPr lang="ko-KR" altLang="en-US" sz="1400" dirty="0"/>
              <a:t>가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이 두 함수는 반복자와 관련된 함수이다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컨테이너 종류에 따라서 접근 방식이 다른데</a:t>
            </a:r>
            <a:r>
              <a:rPr lang="en-US" altLang="ko-KR" sz="1400" dirty="0"/>
              <a:t>, </a:t>
            </a:r>
            <a:r>
              <a:rPr lang="ko-KR" altLang="en-US" sz="1400" dirty="0"/>
              <a:t>이를 모두 익혀서 사용하는 불편함을 해소하고자 나온 개념이 반복자다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반복자를 사용하려면 </a:t>
            </a:r>
            <a:r>
              <a:rPr lang="en-US" altLang="ko-KR" sz="1400" dirty="0">
                <a:solidFill>
                  <a:srgbClr val="C00000"/>
                </a:solidFill>
              </a:rPr>
              <a:t>iterator </a:t>
            </a:r>
            <a:r>
              <a:rPr lang="ko-KR" altLang="en-US" sz="1400" dirty="0">
                <a:solidFill>
                  <a:srgbClr val="C00000"/>
                </a:solidFill>
              </a:rPr>
              <a:t>클래스</a:t>
            </a:r>
            <a:r>
              <a:rPr lang="ko-KR" altLang="en-US" sz="1400" dirty="0"/>
              <a:t>로 객체 선언을 해야 한다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800" dirty="0"/>
          </a:p>
          <a:p>
            <a:pPr lvl="1"/>
            <a:r>
              <a:rPr lang="en-US" altLang="ko-KR" sz="1400" dirty="0" err="1"/>
              <a:t>iter</a:t>
            </a:r>
            <a:r>
              <a:rPr lang="ko-KR" altLang="en-US" sz="1400" dirty="0"/>
              <a:t>가 반복자이며 이는 </a:t>
            </a:r>
            <a:r>
              <a:rPr lang="en-US" altLang="ko-KR" sz="1400" dirty="0" err="1"/>
              <a:t>int</a:t>
            </a:r>
            <a:r>
              <a:rPr lang="ko-KR" altLang="en-US" sz="1400" dirty="0"/>
              <a:t>형 요소를 저장하고 있는 </a:t>
            </a:r>
            <a:r>
              <a:rPr lang="en-US" altLang="ko-KR" sz="1400" dirty="0"/>
              <a:t>vector</a:t>
            </a:r>
            <a:r>
              <a:rPr lang="ko-KR" altLang="en-US" sz="1400" dirty="0"/>
              <a:t>의 요소를 지시할 수 있다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r>
              <a:rPr lang="ko-KR" altLang="en-US" sz="1400" dirty="0"/>
              <a:t>반복자는 </a:t>
            </a:r>
            <a:r>
              <a:rPr lang="ko-KR" altLang="en-US" sz="1400" b="1" dirty="0"/>
              <a:t>포인터를 일반화</a:t>
            </a:r>
            <a:r>
              <a:rPr lang="ko-KR" altLang="en-US" sz="1400" dirty="0"/>
              <a:t>했다고 생각할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특정 위치를 지시하고 있는 반복자는 요소의 값을 참조하려면 </a:t>
            </a:r>
            <a:r>
              <a:rPr lang="ko-KR" altLang="en-US" sz="1400" dirty="0">
                <a:solidFill>
                  <a:srgbClr val="C00000"/>
                </a:solidFill>
              </a:rPr>
              <a:t>* 연산자</a:t>
            </a:r>
            <a:r>
              <a:rPr lang="ko-KR" altLang="en-US" sz="1400" dirty="0"/>
              <a:t>를 사용하고 다음 요소를 지시하려고 이동하려면 </a:t>
            </a:r>
            <a:r>
              <a:rPr lang="en-US" altLang="ko-KR" sz="1400" dirty="0">
                <a:solidFill>
                  <a:srgbClr val="C00000"/>
                </a:solidFill>
              </a:rPr>
              <a:t>++ </a:t>
            </a:r>
            <a:r>
              <a:rPr lang="ko-KR" altLang="en-US" sz="1400" dirty="0">
                <a:solidFill>
                  <a:srgbClr val="C00000"/>
                </a:solidFill>
              </a:rPr>
              <a:t>연산자</a:t>
            </a:r>
            <a:r>
              <a:rPr lang="ko-KR" altLang="en-US" sz="1400" dirty="0"/>
              <a:t>를 사용한다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  <a:p>
            <a:pPr lvl="1"/>
            <a:endParaRPr lang="en-US" altLang="ko-KR" sz="800" dirty="0"/>
          </a:p>
        </p:txBody>
      </p:sp>
      <p:sp>
        <p:nvSpPr>
          <p:cNvPr id="4" name="직사각형 3"/>
          <p:cNvSpPr/>
          <p:nvPr/>
        </p:nvSpPr>
        <p:spPr>
          <a:xfrm>
            <a:off x="1694772" y="2610156"/>
            <a:ext cx="5365904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vector&lt;int&gt;::</a:t>
            </a:r>
            <a:r>
              <a:rPr lang="en-US" altLang="ko-KR" sz="1400" b="1" dirty="0"/>
              <a:t>iterator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iter</a:t>
            </a:r>
            <a:r>
              <a:rPr lang="en-US" altLang="ko-KR" sz="1400" dirty="0"/>
              <a:t>;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1694771" y="3458135"/>
            <a:ext cx="5365905" cy="7352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>
                <a:latin typeface="+mn-ea"/>
                <a:ea typeface="+mn-ea"/>
              </a:rPr>
              <a:t>vector&lt;int&gt; v;      // int</a:t>
            </a:r>
            <a:r>
              <a:rPr lang="ko-KR" altLang="en-US" sz="1200" dirty="0">
                <a:latin typeface="+mn-ea"/>
                <a:ea typeface="+mn-ea"/>
              </a:rPr>
              <a:t>형 요소를 저장하는 벡터 객체 </a:t>
            </a:r>
            <a:r>
              <a:rPr lang="en-US" altLang="ko-KR" sz="1200" dirty="0">
                <a:latin typeface="+mn-ea"/>
                <a:ea typeface="+mn-ea"/>
              </a:rPr>
              <a:t>v</a:t>
            </a:r>
            <a:r>
              <a:rPr lang="ko-KR" altLang="en-US" sz="1200" dirty="0">
                <a:latin typeface="+mn-ea"/>
                <a:ea typeface="+mn-ea"/>
              </a:rPr>
              <a:t>를 선언한다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200" dirty="0" err="1">
                <a:latin typeface="+mn-ea"/>
                <a:ea typeface="+mn-ea"/>
              </a:rPr>
              <a:t>iter</a:t>
            </a:r>
            <a:r>
              <a:rPr lang="en-US" altLang="ko-KR" sz="1200" dirty="0">
                <a:latin typeface="+mn-ea"/>
                <a:ea typeface="+mn-ea"/>
              </a:rPr>
              <a:t> = </a:t>
            </a:r>
            <a:r>
              <a:rPr lang="en-US" altLang="ko-KR" sz="1200" dirty="0" err="1">
                <a:latin typeface="+mn-ea"/>
                <a:ea typeface="+mn-ea"/>
              </a:rPr>
              <a:t>v.begin</a:t>
            </a:r>
            <a:r>
              <a:rPr lang="en-US" altLang="ko-KR" sz="1200" dirty="0">
                <a:latin typeface="+mn-ea"/>
                <a:ea typeface="+mn-ea"/>
              </a:rPr>
              <a:t>();     // </a:t>
            </a:r>
            <a:r>
              <a:rPr lang="ko-KR" altLang="en-US" sz="1200" dirty="0">
                <a:latin typeface="+mn-ea"/>
                <a:ea typeface="+mn-ea"/>
              </a:rPr>
              <a:t>첫 번째 요소를 지시한다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200" dirty="0" err="1">
                <a:latin typeface="+mn-ea"/>
                <a:ea typeface="+mn-ea"/>
              </a:rPr>
              <a:t>iter</a:t>
            </a:r>
            <a:r>
              <a:rPr lang="en-US" altLang="ko-KR" sz="1200" dirty="0">
                <a:latin typeface="+mn-ea"/>
                <a:ea typeface="+mn-ea"/>
              </a:rPr>
              <a:t> = </a:t>
            </a:r>
            <a:r>
              <a:rPr lang="en-US" altLang="ko-KR" sz="1200" dirty="0" err="1">
                <a:latin typeface="+mn-ea"/>
                <a:ea typeface="+mn-ea"/>
              </a:rPr>
              <a:t>v.end</a:t>
            </a:r>
            <a:r>
              <a:rPr lang="en-US" altLang="ko-KR" sz="1200" dirty="0">
                <a:latin typeface="+mn-ea"/>
                <a:ea typeface="+mn-ea"/>
              </a:rPr>
              <a:t>();       // </a:t>
            </a:r>
            <a:r>
              <a:rPr lang="ko-KR" altLang="en-US" sz="1200" dirty="0">
                <a:latin typeface="+mn-ea"/>
                <a:ea typeface="+mn-ea"/>
              </a:rPr>
              <a:t>마지막 요소를 통과하고 난 다음 요소를 지시한다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694772" y="4994310"/>
            <a:ext cx="5365906" cy="9568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>
                <a:latin typeface="+mn-ea"/>
                <a:ea typeface="+mn-ea"/>
              </a:rPr>
              <a:t>vector &lt;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&gt; v;      // 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ko-KR" altLang="en-US" sz="1200" dirty="0">
                <a:latin typeface="+mn-ea"/>
                <a:ea typeface="+mn-ea"/>
              </a:rPr>
              <a:t>형 요소를 저장하는 벡터 객체 </a:t>
            </a:r>
            <a:r>
              <a:rPr lang="en-US" altLang="ko-KR" sz="1200" dirty="0">
                <a:latin typeface="+mn-ea"/>
                <a:ea typeface="+mn-ea"/>
              </a:rPr>
              <a:t>v</a:t>
            </a:r>
            <a:r>
              <a:rPr lang="ko-KR" altLang="en-US" sz="1200" dirty="0">
                <a:latin typeface="+mn-ea"/>
                <a:ea typeface="+mn-ea"/>
              </a:rPr>
              <a:t>를 선언한다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200" dirty="0" err="1">
                <a:latin typeface="+mn-ea"/>
                <a:ea typeface="+mn-ea"/>
              </a:rPr>
              <a:t>iter</a:t>
            </a:r>
            <a:r>
              <a:rPr lang="en-US" altLang="ko-KR" sz="1200" dirty="0">
                <a:latin typeface="+mn-ea"/>
                <a:ea typeface="+mn-ea"/>
              </a:rPr>
              <a:t> = </a:t>
            </a:r>
            <a:r>
              <a:rPr lang="en-US" altLang="ko-KR" sz="1200" dirty="0" err="1">
                <a:latin typeface="+mn-ea"/>
                <a:ea typeface="+mn-ea"/>
              </a:rPr>
              <a:t>v.begin</a:t>
            </a:r>
            <a:r>
              <a:rPr lang="en-US" altLang="ko-KR" sz="1200" dirty="0">
                <a:latin typeface="+mn-ea"/>
                <a:ea typeface="+mn-ea"/>
              </a:rPr>
              <a:t>();     // </a:t>
            </a:r>
            <a:r>
              <a:rPr lang="ko-KR" altLang="en-US" sz="1200" dirty="0">
                <a:latin typeface="+mn-ea"/>
                <a:ea typeface="+mn-ea"/>
              </a:rPr>
              <a:t>첫 번째 요소를 지시한다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  <a:ea typeface="+mn-ea"/>
              </a:rPr>
              <a:t>*</a:t>
            </a:r>
            <a:r>
              <a:rPr lang="en-US" altLang="ko-KR" sz="1200" dirty="0" err="1">
                <a:latin typeface="+mn-ea"/>
                <a:ea typeface="+mn-ea"/>
              </a:rPr>
              <a:t>iter</a:t>
            </a:r>
            <a:r>
              <a:rPr lang="en-US" altLang="ko-KR" sz="1200" dirty="0">
                <a:latin typeface="+mn-ea"/>
                <a:ea typeface="+mn-ea"/>
              </a:rPr>
              <a:t> = 80; 	        // </a:t>
            </a:r>
            <a:r>
              <a:rPr lang="en-US" altLang="ko-KR" sz="1200" dirty="0" err="1">
                <a:latin typeface="+mn-ea"/>
                <a:ea typeface="+mn-ea"/>
              </a:rPr>
              <a:t>iter</a:t>
            </a:r>
            <a:r>
              <a:rPr lang="ko-KR" altLang="en-US" sz="1200" dirty="0">
                <a:latin typeface="+mn-ea"/>
                <a:ea typeface="+mn-ea"/>
              </a:rPr>
              <a:t>가 참조하는 요소에 특정 값을 대입한다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200" dirty="0" err="1">
                <a:latin typeface="+mn-ea"/>
                <a:ea typeface="+mn-ea"/>
              </a:rPr>
              <a:t>iter</a:t>
            </a:r>
            <a:r>
              <a:rPr lang="en-US" altLang="ko-KR" sz="1200" dirty="0">
                <a:latin typeface="+mn-ea"/>
                <a:ea typeface="+mn-ea"/>
              </a:rPr>
              <a:t>++; 	        // </a:t>
            </a:r>
            <a:r>
              <a:rPr lang="ko-KR" altLang="en-US" sz="1200" dirty="0">
                <a:latin typeface="+mn-ea"/>
                <a:ea typeface="+mn-ea"/>
              </a:rPr>
              <a:t>다음 요소를 지시한다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119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32CF3-0DB3-43E2-B665-148C64CD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1E4BB0-32C8-4835-BFA3-C3EC322A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375A7-D554-48A6-A7DC-5A60FDA8B551}"/>
              </a:ext>
            </a:extLst>
          </p:cNvPr>
          <p:cNvSpPr txBox="1"/>
          <p:nvPr/>
        </p:nvSpPr>
        <p:spPr>
          <a:xfrm>
            <a:off x="838200" y="1235676"/>
            <a:ext cx="9882930" cy="47705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vector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v;         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컨테이너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vector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&gt;::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iterator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반복자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컨테이너 접근하는 포인터</a:t>
            </a:r>
          </a:p>
          <a:p>
            <a:endParaRPr lang="ko-KR" altLang="en-US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v.push_back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(10);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v.push_back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(20);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v.push_back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(30);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v.begin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첫 번째 요소를 참조함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20;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첫 번째 요소의 값이 변경되었음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0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첫 번째 요소의 값이 변경되었음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++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첫 번째 요소의 다음 요소를 참조함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v.begin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!=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v.end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++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 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063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</a:t>
            </a:r>
            <a:r>
              <a:rPr lang="ko-KR" altLang="en-US" dirty="0"/>
              <a:t>템플릿 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알고리즘</a:t>
            </a:r>
            <a:endParaRPr lang="en-US" altLang="ko-KR" sz="1600" dirty="0"/>
          </a:p>
          <a:p>
            <a:pPr lvl="1"/>
            <a:r>
              <a:rPr lang="ko-KR" altLang="en-US" sz="1400" dirty="0"/>
              <a:t>알고리즘은 이 </a:t>
            </a:r>
            <a:r>
              <a:rPr lang="ko-KR" altLang="en-US" sz="1400" b="1" dirty="0"/>
              <a:t>자료들을 가공하고 적절하게 사용할 수 있는 방법</a:t>
            </a:r>
            <a:r>
              <a:rPr lang="ko-KR" altLang="en-US" sz="1400" dirty="0"/>
              <a:t>을 말한다</a:t>
            </a:r>
            <a:r>
              <a:rPr lang="en-US" altLang="ko-KR" sz="1400" dirty="0"/>
              <a:t>. </a:t>
            </a:r>
            <a:r>
              <a:rPr lang="ko-KR" altLang="en-US" sz="1400" dirty="0"/>
              <a:t>알고리즘의 예로 지정된 범위 내</a:t>
            </a:r>
            <a:endParaRPr lang="en-US" altLang="ko-KR" sz="1400" dirty="0"/>
          </a:p>
          <a:p>
            <a:pPr lvl="1">
              <a:buNone/>
            </a:pPr>
            <a:r>
              <a:rPr lang="en-US" altLang="ko-KR" sz="1400" dirty="0"/>
              <a:t>	</a:t>
            </a:r>
            <a:r>
              <a:rPr lang="ko-KR" altLang="en-US" sz="1400" dirty="0"/>
              <a:t>의 요소들을 오름차순으로 정렬하는 </a:t>
            </a:r>
            <a:r>
              <a:rPr lang="en-US" altLang="ko-KR" sz="1400" dirty="0"/>
              <a:t>sort( ) </a:t>
            </a:r>
            <a:r>
              <a:rPr lang="ko-KR" altLang="en-US" sz="1400" dirty="0"/>
              <a:t>함수를 사용해 보자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r>
              <a:rPr lang="ko-KR" altLang="en-US" sz="1400" dirty="0" smtClean="0"/>
              <a:t>만일 </a:t>
            </a:r>
            <a:r>
              <a:rPr lang="ko-KR" altLang="en-US" sz="1400" dirty="0"/>
              <a:t>내림차순으로 정렬하려면 </a:t>
            </a:r>
            <a:r>
              <a:rPr lang="en-US" altLang="ko-KR" sz="1400" dirty="0"/>
              <a:t>greater&lt;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&gt;( ) </a:t>
            </a:r>
            <a:r>
              <a:rPr lang="ko-KR" altLang="en-US" sz="1400" dirty="0"/>
              <a:t>함수를 </a:t>
            </a:r>
            <a:r>
              <a:rPr lang="en-US" altLang="ko-KR" sz="1400" dirty="0"/>
              <a:t>sort( ) </a:t>
            </a:r>
            <a:r>
              <a:rPr lang="ko-KR" altLang="en-US" sz="1400" dirty="0"/>
              <a:t>함수의 마지막 매개변수에 기술해 주어야 한다</a:t>
            </a:r>
            <a:r>
              <a:rPr lang="en-US" altLang="ko-KR" sz="1400" dirty="0"/>
              <a:t>. </a:t>
            </a:r>
          </a:p>
          <a:p>
            <a:pPr lvl="1">
              <a:buNone/>
            </a:pPr>
            <a:r>
              <a:rPr lang="en-US" altLang="ko-KR" sz="1400" dirty="0"/>
              <a:t>	</a:t>
            </a:r>
            <a:r>
              <a:rPr lang="ko-KR" altLang="en-US" sz="1400" dirty="0"/>
              <a:t>주의할 점은 </a:t>
            </a:r>
            <a:r>
              <a:rPr lang="en-US" altLang="ko-KR" sz="1400" dirty="0"/>
              <a:t>greater&lt;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&gt;( ) </a:t>
            </a:r>
            <a:r>
              <a:rPr lang="ko-KR" altLang="en-US" sz="1400" dirty="0"/>
              <a:t>함수를 사용하려면 </a:t>
            </a:r>
            <a:r>
              <a:rPr lang="en-US" altLang="ko-KR" sz="1400" b="1" dirty="0"/>
              <a:t>#include &lt;functional&gt;</a:t>
            </a:r>
            <a:r>
              <a:rPr lang="ko-KR" altLang="en-US" sz="1400" dirty="0"/>
              <a:t>을 프로그램 </a:t>
            </a:r>
            <a:r>
              <a:rPr lang="ko-KR" altLang="en-US" sz="1400" dirty="0" err="1"/>
              <a:t>문두에</a:t>
            </a:r>
            <a:r>
              <a:rPr lang="ko-KR" altLang="en-US" sz="1400" dirty="0"/>
              <a:t> 기술해야 한다는 </a:t>
            </a:r>
            <a:endParaRPr lang="en-US" altLang="ko-KR" sz="1400" dirty="0"/>
          </a:p>
          <a:p>
            <a:pPr lvl="1">
              <a:buNone/>
            </a:pPr>
            <a:r>
              <a:rPr lang="en-US" altLang="ko-KR" sz="1400" dirty="0"/>
              <a:t>	</a:t>
            </a:r>
            <a:r>
              <a:rPr lang="ko-KR" altLang="en-US" sz="1400" dirty="0"/>
              <a:t>것이다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2607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32CF3-0DB3-43E2-B665-148C64CD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1E4BB0-32C8-4835-BFA3-C3EC322A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375A7-D554-48A6-A7DC-5A60FDA8B551}"/>
              </a:ext>
            </a:extLst>
          </p:cNvPr>
          <p:cNvSpPr txBox="1"/>
          <p:nvPr/>
        </p:nvSpPr>
        <p:spPr>
          <a:xfrm>
            <a:off x="838200" y="1235676"/>
            <a:ext cx="9882930" cy="50475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&lt;vector&gt;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&lt;algorithm&gt;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algorithm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을 위한 라이브러리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&lt;functional&gt;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functor(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함수객체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를 위한 라이브러리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//greater&lt;int&gt;()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vector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  v(8);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vector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&gt;::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iterator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start, end,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nn-NO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nn-NO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for</a:t>
            </a:r>
            <a:r>
              <a:rPr lang="nn-NO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nn-NO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nn-NO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 = 0; i &lt; v.size(); i++)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v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+ 1;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start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v.begin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end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v.end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"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벡터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내용 출력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오름차순 정렬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)---------------" &lt;&lt; 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da-DK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sort(start, end);                       </a:t>
            </a:r>
            <a:r>
              <a:rPr lang="da-DK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//sort //algorithm</a:t>
            </a:r>
            <a:endParaRPr lang="da-DK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v.begin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!=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v.end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++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4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반복자는 동작 방식에 따라 </a:t>
            </a:r>
            <a:r>
              <a:rPr lang="en-US" altLang="ko-KR" sz="1600" dirty="0"/>
              <a:t>5</a:t>
            </a:r>
            <a:r>
              <a:rPr lang="ko-KR" altLang="en-US" sz="1600" dirty="0"/>
              <a:t>가지로 분류할 수 있다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298849"/>
              </p:ext>
            </p:extLst>
          </p:nvPr>
        </p:nvGraphicFramePr>
        <p:xfrm>
          <a:off x="1145362" y="1878786"/>
          <a:ext cx="9733495" cy="3100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70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반복자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234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입력 반복자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(input </a:t>
                      </a:r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iterator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반복자가 가리키는 위치의 데이터를 읽기만 가능한 반복자다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다음 위치로 이동할 수 있다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1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출력 반복자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(output </a:t>
                      </a:r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iterator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반복자가 가리키는 위치의 데이터를 쓰기만 가능한 반복자다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다음 위치로 이동할 수 있다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573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순방향 반복자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(forward </a:t>
                      </a:r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iterator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입력 반복자 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출력 반복자다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 +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가 가리키는 위치의 데이터를 여러번 읽거나 쓸 수 있고 현재의 위치를 저장해서 동일한 위치에서 순회를 다시 시작할 수 있다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88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양방향 반복자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(bidirectional </a:t>
                      </a:r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iterator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순방향 반복자 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반대 방향으로 이동 가능한 반복자다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259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임의 접근 반복자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(random access </a:t>
                      </a:r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iterator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양방향 반복자 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임의의 위치로 상수 시간에 이동할 수 있도록 산술연산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(+, -)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이 가능하다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813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 err="1"/>
              <a:t>비상수</a:t>
            </a:r>
            <a:r>
              <a:rPr lang="ko-KR" altLang="en-US" sz="1600" dirty="0"/>
              <a:t> 반복자와 상수 반복자</a:t>
            </a:r>
            <a:endParaRPr lang="en-US" altLang="ko-KR" sz="1600" dirty="0"/>
          </a:p>
          <a:p>
            <a:pPr lvl="1"/>
            <a:r>
              <a:rPr lang="ko-KR" altLang="en-US" sz="1400" dirty="0"/>
              <a:t>반복자는 반복자의 동작 방식으로 반복자를 분류하는 것 </a:t>
            </a:r>
            <a:r>
              <a:rPr lang="ko-KR" altLang="en-US" sz="1400" dirty="0" smtClean="0"/>
              <a:t>외에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 반복자가 </a:t>
            </a:r>
            <a:r>
              <a:rPr lang="ko-KR" altLang="en-US" sz="1400" dirty="0"/>
              <a:t>가리키는 값을 변경할 수 있는지 없는지에 따라 ‘</a:t>
            </a:r>
            <a:r>
              <a:rPr lang="ko-KR" altLang="en-US" sz="1400" dirty="0" err="1"/>
              <a:t>비상수</a:t>
            </a:r>
            <a:r>
              <a:rPr lang="ko-KR" altLang="en-US" sz="1400" dirty="0"/>
              <a:t> 반복자</a:t>
            </a:r>
            <a:r>
              <a:rPr lang="en-US" altLang="ko-KR" sz="1400" dirty="0"/>
              <a:t>(mutable)’</a:t>
            </a:r>
            <a:r>
              <a:rPr lang="ko-KR" altLang="en-US" sz="1400" dirty="0"/>
              <a:t>와 ‘상수 반복자</a:t>
            </a:r>
            <a:r>
              <a:rPr lang="en-US" altLang="ko-KR" sz="1400" dirty="0"/>
              <a:t>(constant)’</a:t>
            </a:r>
            <a:r>
              <a:rPr lang="ko-KR" altLang="en-US" sz="1400" dirty="0"/>
              <a:t>로 분류 할 수 있다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 err="1"/>
              <a:t>비상수</a:t>
            </a:r>
            <a:r>
              <a:rPr lang="ko-KR" altLang="en-US" sz="1400" dirty="0"/>
              <a:t> 반복자는 </a:t>
            </a:r>
            <a:r>
              <a:rPr lang="en-US" altLang="ko-KR" sz="1400" dirty="0"/>
              <a:t>operator </a:t>
            </a:r>
            <a:r>
              <a:rPr lang="ko-KR" altLang="en-US" sz="1400" dirty="0"/>
              <a:t>* 연산자에 의해서 </a:t>
            </a:r>
            <a:r>
              <a:rPr lang="ko-KR" altLang="en-US" sz="1400" dirty="0" err="1"/>
              <a:t>참조값을</a:t>
            </a:r>
            <a:r>
              <a:rPr lang="ko-KR" altLang="en-US" sz="1400" dirty="0"/>
              <a:t> 상수 반복자는 상수 </a:t>
            </a:r>
            <a:r>
              <a:rPr lang="ko-KR" altLang="en-US" sz="1400" dirty="0" err="1"/>
              <a:t>참조값을</a:t>
            </a:r>
            <a:r>
              <a:rPr lang="ko-KR" altLang="en-US" sz="1400" dirty="0"/>
              <a:t> 결과값으로 반환한다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상수 컨테이너의 요소는 상수 반복자로만 접근할 수 있다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en-US" altLang="ko-KR" sz="1600" dirty="0"/>
          </a:p>
          <a:p>
            <a:r>
              <a:rPr lang="ko-KR" altLang="en-US" sz="1600" dirty="0"/>
              <a:t>역방향 반복자</a:t>
            </a:r>
            <a:endParaRPr lang="en-US" altLang="ko-KR" sz="1600" dirty="0"/>
          </a:p>
          <a:p>
            <a:pPr lvl="1"/>
            <a:r>
              <a:rPr lang="en-US" altLang="ko-KR" sz="1400" dirty="0"/>
              <a:t>STL </a:t>
            </a:r>
            <a:r>
              <a:rPr lang="ko-KR" altLang="en-US" sz="1400" dirty="0"/>
              <a:t>컨테이너는 모두 사용 편의성과 효율성이 좋도록 역방향 반복자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reverse_iterator</a:t>
            </a:r>
            <a:r>
              <a:rPr lang="en-US" altLang="ko-KR" sz="1400" dirty="0"/>
              <a:t>)</a:t>
            </a:r>
            <a:r>
              <a:rPr lang="ko-KR" altLang="en-US" sz="1400" dirty="0"/>
              <a:t>를 제공한다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역방향 반복자를 사용하면 순방향 반복자</a:t>
            </a:r>
            <a:r>
              <a:rPr lang="en-US" altLang="ko-KR" sz="1400" dirty="0"/>
              <a:t>(iterator)</a:t>
            </a:r>
            <a:r>
              <a:rPr lang="ko-KR" altLang="en-US" sz="1400" dirty="0"/>
              <a:t>와 반대로 동작시킬 수 있다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STL </a:t>
            </a:r>
            <a:r>
              <a:rPr lang="ko-KR" altLang="en-US" sz="1400" dirty="0"/>
              <a:t>컨테이너는 역방향 반복자의 상수 역방향 반복자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const_reverse_iterator</a:t>
            </a:r>
            <a:r>
              <a:rPr lang="en-US" altLang="ko-KR" sz="1400" dirty="0"/>
              <a:t>)</a:t>
            </a:r>
            <a:r>
              <a:rPr lang="ko-KR" altLang="en-US" sz="1400" dirty="0"/>
              <a:t>도 제공한다</a:t>
            </a:r>
            <a:r>
              <a:rPr lang="en-US" altLang="ko-KR" sz="1400" dirty="0"/>
              <a:t>.</a:t>
            </a:r>
          </a:p>
          <a:p>
            <a:pPr lvl="1"/>
            <a:endParaRPr lang="ko-KR" altLang="en-US" sz="14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62519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비상수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 반복자와 상수 반복자 사용하기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(15_04.cpp)</a:t>
            </a: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비상수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방복자와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 상수 반복자의 차이점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(15_05.cpp)</a:t>
            </a: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예제 상수 컨테이너와 상수 반복자 사용하기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(15_06.cpp</a:t>
            </a:r>
            <a:endParaRPr lang="ko-KR" altLang="en-US" sz="1600" dirty="0"/>
          </a:p>
          <a:p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예제 역방향 반복자 사용하기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(15_07.cpp)</a:t>
            </a: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예제 역방향 반복자와 상수 역방향 반복자 사용하기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(15_08.cpp)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13786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컨테이너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STL</a:t>
            </a:r>
            <a:r>
              <a:rPr lang="ko-KR" altLang="en-US" sz="1600" dirty="0"/>
              <a:t>의 컨테이너는 형식이 같은 즉</a:t>
            </a:r>
            <a:r>
              <a:rPr lang="en-US" altLang="ko-KR" sz="1600" dirty="0"/>
              <a:t>, </a:t>
            </a:r>
            <a:r>
              <a:rPr lang="ko-KR" altLang="en-US" sz="1600" dirty="0"/>
              <a:t>동질적인 객체의 집합을 </a:t>
            </a:r>
            <a:r>
              <a:rPr lang="ko-KR" altLang="en-US" sz="1600" b="1" dirty="0"/>
              <a:t>저장하고 관리하는 역할</a:t>
            </a:r>
            <a:r>
              <a:rPr lang="ko-KR" altLang="en-US" sz="1600" dirty="0"/>
              <a:t>을 한다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200" dirty="0"/>
          </a:p>
          <a:p>
            <a:r>
              <a:rPr lang="en-US" altLang="ko-KR" sz="1600" dirty="0"/>
              <a:t>STL </a:t>
            </a:r>
            <a:r>
              <a:rPr lang="ko-KR" altLang="en-US" sz="1600" dirty="0"/>
              <a:t>컨테이너는 크게 </a:t>
            </a:r>
            <a:r>
              <a:rPr lang="en-US" altLang="ko-KR" sz="1600" dirty="0"/>
              <a:t>3</a:t>
            </a:r>
            <a:r>
              <a:rPr lang="ko-KR" altLang="en-US" sz="1600" dirty="0"/>
              <a:t>가지로 분류할 수 있다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30000"/>
              </a:lnSpc>
              <a:buFont typeface="Wingdings" pitchFamily="2" charset="2"/>
              <a:buChar char=""/>
            </a:pPr>
            <a:r>
              <a:rPr lang="ko-KR" altLang="en-US" sz="1600" b="1" dirty="0"/>
              <a:t>시퀀스 컨테이너</a:t>
            </a:r>
            <a:r>
              <a:rPr lang="en-US" altLang="ko-KR" sz="1600" dirty="0"/>
              <a:t>(sequence container) : </a:t>
            </a:r>
          </a:p>
          <a:p>
            <a:pPr marL="914400" lvl="2" indent="0">
              <a:lnSpc>
                <a:spcPct val="130000"/>
              </a:lnSpc>
              <a:buNone/>
            </a:pPr>
            <a:r>
              <a:rPr lang="ko-KR" altLang="en-US" sz="1400" dirty="0"/>
              <a:t>자료의 </a:t>
            </a:r>
            <a:r>
              <a:rPr lang="ko-KR" altLang="en-US" sz="1400" b="1" dirty="0">
                <a:solidFill>
                  <a:srgbClr val="0070C0"/>
                </a:solidFill>
              </a:rPr>
              <a:t>선형적인 집합</a:t>
            </a:r>
            <a:r>
              <a:rPr lang="ko-KR" altLang="en-US" sz="1400" dirty="0"/>
              <a:t>이며 자료를 저장하는 기본 임무에 충실한 가장 일반적인 컨테이너다</a:t>
            </a:r>
            <a:r>
              <a:rPr lang="en-US" altLang="ko-KR" sz="1400" dirty="0"/>
              <a:t>. </a:t>
            </a:r>
            <a:r>
              <a:rPr lang="ko-KR" altLang="en-US" sz="1400" dirty="0"/>
              <a:t>삽입된 자료를 무조건 저장하며 입력되는 자료에 특별한 제약이나 관리 규칙은 없다</a:t>
            </a:r>
            <a:r>
              <a:rPr lang="en-US" altLang="ko-KR" sz="1400" dirty="0"/>
              <a:t>. </a:t>
            </a:r>
            <a:r>
              <a:rPr lang="ko-KR" altLang="en-US" sz="1400" dirty="0"/>
              <a:t>사용자는 시퀀스의 임의 위치에 원하는 요소를 마음대로 삽입</a:t>
            </a:r>
            <a:r>
              <a:rPr lang="en-US" altLang="ko-KR" sz="1400" dirty="0"/>
              <a:t>, </a:t>
            </a:r>
            <a:r>
              <a:rPr lang="ko-KR" altLang="en-US" sz="1400" dirty="0"/>
              <a:t>삭제할 수 있다</a:t>
            </a:r>
            <a:r>
              <a:rPr lang="en-US" altLang="ko-KR" sz="1400" dirty="0"/>
              <a:t>. STL</a:t>
            </a:r>
            <a:r>
              <a:rPr lang="ko-KR" altLang="en-US" sz="1400" dirty="0"/>
              <a:t>에는 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벡터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리스트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b="1" dirty="0" err="1">
                <a:solidFill>
                  <a:schemeClr val="accent2">
                    <a:lumMod val="75000"/>
                  </a:schemeClr>
                </a:solidFill>
              </a:rPr>
              <a:t>데크</a:t>
            </a:r>
            <a:r>
              <a:rPr lang="en-US" altLang="ko-KR" sz="1400" dirty="0"/>
              <a:t>, 3</a:t>
            </a:r>
            <a:r>
              <a:rPr lang="ko-KR" altLang="en-US" sz="1400" dirty="0"/>
              <a:t>가지의 시퀀스 컨테이너가 제공된다</a:t>
            </a:r>
            <a:r>
              <a:rPr lang="en-US" altLang="ko-KR" sz="1400" dirty="0"/>
              <a:t>.</a:t>
            </a:r>
            <a:endParaRPr lang="en-US" altLang="ko-KR" dirty="0"/>
          </a:p>
          <a:p>
            <a:pPr lvl="1">
              <a:lnSpc>
                <a:spcPct val="130000"/>
              </a:lnSpc>
              <a:buFont typeface="Wingdings" pitchFamily="2" charset="2"/>
              <a:buChar char=""/>
            </a:pPr>
            <a:r>
              <a:rPr lang="ko-KR" altLang="en-US" sz="1600" b="1" dirty="0"/>
              <a:t>연관 컨테이너</a:t>
            </a:r>
            <a:r>
              <a:rPr lang="en-US" altLang="ko-KR" sz="1600" dirty="0"/>
              <a:t>(associative </a:t>
            </a:r>
            <a:r>
              <a:rPr lang="en-US" altLang="ko-KR" sz="1600" dirty="0" err="1"/>
              <a:t>ontainer</a:t>
            </a:r>
            <a:r>
              <a:rPr lang="en-US" altLang="ko-KR" sz="1600" dirty="0"/>
              <a:t>) : </a:t>
            </a:r>
          </a:p>
          <a:p>
            <a:pPr marL="914400" lvl="2" indent="0">
              <a:lnSpc>
                <a:spcPct val="130000"/>
              </a:lnSpc>
              <a:buNone/>
            </a:pPr>
            <a:r>
              <a:rPr lang="ko-KR" altLang="en-US" sz="1400" dirty="0"/>
              <a:t>자료를 무조건 저장하기만 하는 것이 아니라 </a:t>
            </a:r>
            <a:r>
              <a:rPr lang="ko-KR" altLang="en-US" sz="1400" b="1" dirty="0">
                <a:solidFill>
                  <a:srgbClr val="0070C0"/>
                </a:solidFill>
              </a:rPr>
              <a:t>일정한 규칙에 따라</a:t>
            </a:r>
            <a:r>
              <a:rPr lang="ko-KR" altLang="en-US" sz="1400" dirty="0">
                <a:solidFill>
                  <a:srgbClr val="0070C0"/>
                </a:solidFill>
              </a:rPr>
              <a:t> </a:t>
            </a:r>
            <a:r>
              <a:rPr lang="ko-KR" altLang="en-US" sz="1400" dirty="0"/>
              <a:t>자료를 조직화해서 관리하는 컨테이너다</a:t>
            </a:r>
            <a:r>
              <a:rPr lang="en-US" altLang="ko-KR" sz="1400" dirty="0"/>
              <a:t>. </a:t>
            </a:r>
            <a:r>
              <a:rPr lang="ko-KR" altLang="en-US" sz="1400" dirty="0"/>
              <a:t>정렬이나 해시 등의 방법을 통해 삽입되는 자료를 항상 일정한 기준</a:t>
            </a:r>
            <a:r>
              <a:rPr lang="en-US" altLang="ko-KR" sz="1400" dirty="0"/>
              <a:t>(</a:t>
            </a:r>
            <a:r>
              <a:rPr lang="ko-KR" altLang="en-US" sz="1400" dirty="0"/>
              <a:t>오름차순</a:t>
            </a:r>
            <a:r>
              <a:rPr lang="en-US" altLang="ko-KR" sz="1400" dirty="0"/>
              <a:t>, </a:t>
            </a:r>
            <a:r>
              <a:rPr lang="ko-KR" altLang="en-US" sz="1400" dirty="0"/>
              <a:t>해시 함수</a:t>
            </a:r>
            <a:r>
              <a:rPr lang="en-US" altLang="ko-KR" sz="1400" dirty="0"/>
              <a:t>)</a:t>
            </a:r>
            <a:r>
              <a:rPr lang="ko-KR" altLang="en-US" sz="1400" dirty="0"/>
              <a:t>에 맞는 위치에 저장해 놓으므로 검색 속도가 빠른 것이 장점이다</a:t>
            </a:r>
            <a:r>
              <a:rPr lang="en-US" altLang="ko-KR" sz="1400" dirty="0"/>
              <a:t>. </a:t>
            </a:r>
            <a:r>
              <a:rPr lang="ko-KR" altLang="en-US" sz="1400" dirty="0"/>
              <a:t>표준 </a:t>
            </a:r>
            <a:r>
              <a:rPr lang="en-US" altLang="ko-KR" sz="1400" dirty="0"/>
              <a:t>STL</a:t>
            </a:r>
            <a:r>
              <a:rPr lang="ko-KR" altLang="en-US" sz="1400" dirty="0"/>
              <a:t>에는 정렬 연관 컨테이너인 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셋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맵 </a:t>
            </a:r>
            <a:r>
              <a:rPr lang="ko-KR" altLang="en-US" sz="1400" dirty="0"/>
              <a:t>등의 컨테이너가 제공된다</a:t>
            </a:r>
            <a:r>
              <a:rPr lang="en-US" altLang="ko-KR" sz="1400" dirty="0"/>
              <a:t>.</a:t>
            </a:r>
          </a:p>
          <a:p>
            <a:pPr lvl="1">
              <a:lnSpc>
                <a:spcPct val="130000"/>
              </a:lnSpc>
              <a:buFont typeface="Wingdings" pitchFamily="2" charset="2"/>
              <a:buChar char=""/>
            </a:pPr>
            <a:r>
              <a:rPr lang="ko-KR" altLang="en-US" sz="1600" b="1" dirty="0"/>
              <a:t>어댑터 컨테이너</a:t>
            </a:r>
            <a:r>
              <a:rPr lang="en-US" altLang="ko-KR" sz="1600" dirty="0"/>
              <a:t>(adapter container) : </a:t>
            </a:r>
          </a:p>
          <a:p>
            <a:pPr marL="914400" lvl="2" indent="0">
              <a:lnSpc>
                <a:spcPct val="130000"/>
              </a:lnSpc>
              <a:buNone/>
            </a:pPr>
            <a:r>
              <a:rPr lang="ko-KR" altLang="en-US" sz="1400" dirty="0"/>
              <a:t>시퀀스 컨테이너를 변형해서 자료를 미리 </a:t>
            </a:r>
            <a:r>
              <a:rPr lang="ko-KR" altLang="en-US" sz="1400" b="1" dirty="0">
                <a:solidFill>
                  <a:srgbClr val="0070C0"/>
                </a:solidFill>
              </a:rPr>
              <a:t>정해진 일정한 방식</a:t>
            </a:r>
            <a:r>
              <a:rPr lang="ko-KR" altLang="en-US" sz="1400" dirty="0"/>
              <a:t>에 따라 관리하는 것이 특징이다</a:t>
            </a:r>
            <a:r>
              <a:rPr lang="en-US" altLang="ko-KR" sz="1400" dirty="0"/>
              <a:t>. 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스택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큐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우선순위 큐</a:t>
            </a:r>
            <a:r>
              <a:rPr lang="en-US" altLang="ko-KR" sz="1400" dirty="0"/>
              <a:t>, 3</a:t>
            </a:r>
            <a:r>
              <a:rPr lang="ko-KR" altLang="en-US" sz="1400" dirty="0"/>
              <a:t>가지가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스택은 항상 </a:t>
            </a:r>
            <a:r>
              <a:rPr lang="en-US" altLang="ko-KR" sz="1400" dirty="0"/>
              <a:t>LIFO</a:t>
            </a:r>
            <a:r>
              <a:rPr lang="ko-KR" altLang="en-US" sz="1400" dirty="0"/>
              <a:t>의 원리로 동작하며 큐는 항상 </a:t>
            </a:r>
            <a:r>
              <a:rPr lang="en-US" altLang="ko-KR" sz="1400" dirty="0"/>
              <a:t>FIFO</a:t>
            </a:r>
            <a:r>
              <a:rPr lang="ko-KR" altLang="en-US" sz="1400" dirty="0"/>
              <a:t>의 원리로 동작한다</a:t>
            </a:r>
            <a:r>
              <a:rPr lang="en-US" altLang="ko-KR" sz="1400" dirty="0"/>
              <a:t>. </a:t>
            </a:r>
            <a:r>
              <a:rPr lang="ko-KR" altLang="en-US" sz="1400" dirty="0"/>
              <a:t>자료를 넣고 빼는 순서를 외부에서 마음대로 조작할 수 없으며 컨테이너의 규칙대로 조작해야 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68201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컨테이너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800" b="1" dirty="0"/>
              <a:t>list</a:t>
            </a:r>
          </a:p>
          <a:p>
            <a:pPr lvl="1"/>
            <a:r>
              <a:rPr lang="ko-KR" altLang="en-US" sz="1600" dirty="0"/>
              <a:t>리스트는 </a:t>
            </a:r>
            <a:r>
              <a:rPr lang="en-US" altLang="ko-KR" sz="1600" dirty="0"/>
              <a:t>vector </a:t>
            </a:r>
            <a:r>
              <a:rPr lang="ko-KR" altLang="en-US" sz="1600" dirty="0"/>
              <a:t>클래스와 마찬가지로 템플릿 클래스이므로 객체를 생성할 때 요소로 저장할 </a:t>
            </a:r>
            <a:r>
              <a:rPr lang="ko-KR" altLang="en-US" sz="1600" dirty="0" err="1"/>
              <a:t>자료형을</a:t>
            </a:r>
            <a:r>
              <a:rPr lang="ko-KR" altLang="en-US" sz="1600" dirty="0"/>
              <a:t> 언급해서 다음과 같이 생성한다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 list&lt;int&gt; li;</a:t>
            </a:r>
          </a:p>
          <a:p>
            <a:pPr lvl="1"/>
            <a:r>
              <a:rPr lang="ko-KR" altLang="en-US" sz="1600" dirty="0"/>
              <a:t>리스트는 벡터와 같이 동일한 자료의 집합을 관리한다</a:t>
            </a:r>
            <a:r>
              <a:rPr lang="en-US" altLang="ko-KR" sz="1600" dirty="0"/>
              <a:t>. </a:t>
            </a:r>
            <a:r>
              <a:rPr lang="ko-KR" altLang="en-US" sz="1600" dirty="0"/>
              <a:t>하지만 내부적인 구조가 다르기 때문에 특징이 서로 다르다</a:t>
            </a:r>
            <a:r>
              <a:rPr lang="en-US" altLang="ko-KR" sz="1600" dirty="0"/>
              <a:t>. </a:t>
            </a:r>
            <a:r>
              <a:rPr lang="ko-KR" altLang="en-US" sz="1600" b="1" dirty="0"/>
              <a:t>벡터</a:t>
            </a:r>
            <a:r>
              <a:rPr lang="ko-KR" altLang="en-US" sz="1600" dirty="0"/>
              <a:t>가 </a:t>
            </a:r>
            <a:r>
              <a:rPr lang="ko-KR" altLang="en-US" sz="1600" b="1" dirty="0"/>
              <a:t>읽고 쓰기</a:t>
            </a:r>
            <a:r>
              <a:rPr lang="ko-KR" altLang="en-US" sz="1600" dirty="0"/>
              <a:t>에 강한 컨테이너라면 리스트는 </a:t>
            </a:r>
            <a:r>
              <a:rPr lang="ko-KR" altLang="en-US" sz="1600" b="1" dirty="0">
                <a:solidFill>
                  <a:srgbClr val="0070C0"/>
                </a:solidFill>
              </a:rPr>
              <a:t>삽입</a:t>
            </a:r>
            <a:r>
              <a:rPr lang="en-US" altLang="ko-KR" sz="1600" b="1" dirty="0">
                <a:solidFill>
                  <a:srgbClr val="0070C0"/>
                </a:solidFill>
              </a:rPr>
              <a:t>, </a:t>
            </a:r>
            <a:r>
              <a:rPr lang="ko-KR" altLang="en-US" sz="1600" b="1" dirty="0">
                <a:solidFill>
                  <a:srgbClr val="0070C0"/>
                </a:solidFill>
              </a:rPr>
              <a:t>삭제</a:t>
            </a:r>
            <a:r>
              <a:rPr lang="ko-KR" altLang="en-US" sz="1600" dirty="0"/>
              <a:t>에 강한 컨테이너다</a:t>
            </a:r>
            <a:r>
              <a:rPr lang="en-US" altLang="ko-KR" sz="1600" dirty="0"/>
              <a:t>.</a:t>
            </a:r>
            <a:endParaRPr lang="en-US" altLang="ko-KR" sz="1800" dirty="0"/>
          </a:p>
          <a:p>
            <a:pPr lvl="1"/>
            <a:r>
              <a:rPr lang="ko-KR" altLang="en-US" sz="1600" dirty="0"/>
              <a:t>리스트</a:t>
            </a:r>
            <a:r>
              <a:rPr lang="en-US" altLang="ko-KR" sz="1600" dirty="0"/>
              <a:t> </a:t>
            </a:r>
            <a:r>
              <a:rPr lang="ko-KR" altLang="en-US" sz="1600" dirty="0"/>
              <a:t>함수 </a:t>
            </a:r>
            <a:r>
              <a:rPr lang="en-US" altLang="ko-KR" sz="1600" dirty="0" err="1"/>
              <a:t>push_front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push_back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pop_front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pop_back</a:t>
            </a:r>
            <a:endParaRPr lang="en-US" altLang="ko-KR" sz="1600" dirty="0"/>
          </a:p>
          <a:p>
            <a:r>
              <a:rPr lang="en-US" altLang="ko-KR" sz="1800" b="1" dirty="0"/>
              <a:t>map</a:t>
            </a:r>
            <a:endParaRPr lang="en-US" altLang="ko-KR" sz="1600" b="1" dirty="0"/>
          </a:p>
          <a:p>
            <a:pPr lvl="1"/>
            <a:r>
              <a:rPr lang="ko-KR" altLang="en-US" sz="1600" dirty="0" err="1"/>
              <a:t>맵은</a:t>
            </a:r>
            <a:r>
              <a:rPr lang="ko-KR" altLang="en-US" sz="1600" dirty="0"/>
              <a:t> 키</a:t>
            </a:r>
            <a:r>
              <a:rPr lang="en-US" altLang="ko-KR" sz="1600" dirty="0"/>
              <a:t>(key), </a:t>
            </a:r>
            <a:r>
              <a:rPr lang="ko-KR" altLang="en-US" sz="1600" dirty="0"/>
              <a:t>값</a:t>
            </a:r>
            <a:r>
              <a:rPr lang="en-US" altLang="ko-KR" sz="1600" dirty="0"/>
              <a:t>(value)</a:t>
            </a:r>
            <a:r>
              <a:rPr lang="ko-KR" altLang="en-US" sz="1600" dirty="0"/>
              <a:t>의 쌍으로 데이터를 저장하므로 키를 이용해서 값을 찾을 때 유용하게 사용한다</a:t>
            </a:r>
            <a:r>
              <a:rPr lang="en-US" altLang="ko-KR" sz="1600" dirty="0"/>
              <a:t>. </a:t>
            </a:r>
            <a:r>
              <a:rPr lang="ko-KR" altLang="en-US" sz="1600" dirty="0"/>
              <a:t>그리고 키로 원하는 항목을 검색하기 때문에 </a:t>
            </a:r>
            <a:r>
              <a:rPr lang="ko-KR" altLang="en-US" sz="1600" b="1" dirty="0">
                <a:solidFill>
                  <a:srgbClr val="0070C0"/>
                </a:solidFill>
              </a:rPr>
              <a:t>검색 속도</a:t>
            </a:r>
            <a:r>
              <a:rPr lang="ko-KR" altLang="en-US" sz="1600" b="1" dirty="0"/>
              <a:t>가 빠르다</a:t>
            </a:r>
            <a:r>
              <a:rPr lang="ko-KR" altLang="en-US" sz="1600" dirty="0"/>
              <a:t>는 장점이 있다</a:t>
            </a:r>
            <a:r>
              <a:rPr lang="en-US" altLang="ko-KR" sz="1600" dirty="0"/>
              <a:t>.</a:t>
            </a:r>
          </a:p>
          <a:p>
            <a:r>
              <a:rPr lang="en-US" altLang="ko-KR" sz="1800" b="1" dirty="0"/>
              <a:t>set</a:t>
            </a:r>
          </a:p>
          <a:p>
            <a:pPr lvl="1"/>
            <a:r>
              <a:rPr lang="en-US" altLang="ko-KR" sz="1600" dirty="0"/>
              <a:t>set</a:t>
            </a:r>
            <a:r>
              <a:rPr lang="ko-KR" altLang="en-US" sz="1600" dirty="0"/>
              <a:t>은 </a:t>
            </a:r>
            <a:r>
              <a:rPr lang="ko-KR" altLang="en-US" sz="1600" b="1" dirty="0">
                <a:solidFill>
                  <a:srgbClr val="0070C0"/>
                </a:solidFill>
              </a:rPr>
              <a:t>중복되지 않는 요소</a:t>
            </a:r>
            <a:r>
              <a:rPr lang="ko-KR" altLang="en-US" sz="1600" dirty="0"/>
              <a:t>들을 관리한다</a:t>
            </a:r>
            <a:r>
              <a:rPr lang="en-US" altLang="ko-KR" sz="1600" dirty="0"/>
              <a:t>. </a:t>
            </a:r>
            <a:r>
              <a:rPr lang="ko-KR" altLang="en-US" sz="1600" dirty="0"/>
              <a:t>동일한 요소의 </a:t>
            </a:r>
            <a:r>
              <a:rPr lang="ko-KR" altLang="en-US" sz="1600" b="1" dirty="0"/>
              <a:t>중복을 허용하지 않기 </a:t>
            </a:r>
            <a:r>
              <a:rPr lang="ko-KR" altLang="en-US" sz="1600" dirty="0"/>
              <a:t>때문에 이미 저장된 객체를 또 다시 저장하면 추가되지 않는다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69190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list 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컨테이너 사용하기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(15_09.cpp)</a:t>
            </a: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map 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컨테이너 사용하기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(15_10.cpp)</a:t>
            </a: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set 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컨테이너 사용하기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(15_11.cpp)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00343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STL </a:t>
            </a:r>
            <a:r>
              <a:rPr lang="ko-KR" altLang="en-US" dirty="0"/>
              <a:t>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STL </a:t>
            </a:r>
            <a:r>
              <a:rPr lang="ko-KR" altLang="en-US" sz="1800" dirty="0"/>
              <a:t>알고리즘은 문제 해결을 위해서 제공되는 </a:t>
            </a:r>
            <a:r>
              <a:rPr lang="en-US" altLang="ko-KR" sz="1800" dirty="0"/>
              <a:t>STL </a:t>
            </a:r>
            <a:r>
              <a:rPr lang="ko-KR" altLang="en-US" sz="1800" dirty="0"/>
              <a:t>함수로 크게 </a:t>
            </a:r>
            <a:r>
              <a:rPr lang="en-US" altLang="ko-KR" sz="1800" dirty="0"/>
              <a:t>4</a:t>
            </a:r>
            <a:r>
              <a:rPr lang="ko-KR" altLang="en-US" sz="1800" dirty="0"/>
              <a:t>가지로 분류한다</a:t>
            </a:r>
            <a:r>
              <a:rPr lang="en-US" altLang="ko-KR" sz="1800" dirty="0"/>
              <a:t>.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변경 불가 시퀀스 알고리즘</a:t>
            </a:r>
            <a:r>
              <a:rPr lang="en-US" altLang="ko-KR" sz="1600" dirty="0"/>
              <a:t>(</a:t>
            </a:r>
            <a:r>
              <a:rPr lang="en-US" altLang="ko-KR" sz="1600" dirty="0" err="1"/>
              <a:t>nonmutating</a:t>
            </a:r>
            <a:r>
              <a:rPr lang="en-US" altLang="ko-KR" sz="1600" dirty="0"/>
              <a:t> sequence algorithm)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변경 가능 시퀀스 알고리즘</a:t>
            </a:r>
            <a:r>
              <a:rPr lang="en-US" altLang="ko-KR" sz="1600" dirty="0"/>
              <a:t>(</a:t>
            </a:r>
            <a:r>
              <a:rPr lang="en-US" altLang="ko-KR" sz="1600" dirty="0" err="1"/>
              <a:t>mutaing</a:t>
            </a:r>
            <a:r>
              <a:rPr lang="en-US" altLang="ko-KR" sz="1600" dirty="0"/>
              <a:t> sequence algorithm)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/>
              <a:t>정렬 관련 알고리즘</a:t>
            </a:r>
            <a:r>
              <a:rPr lang="en-US" altLang="ko-KR" sz="1600" dirty="0"/>
              <a:t>(sorting-related algorithm)</a:t>
            </a:r>
          </a:p>
          <a:p>
            <a:pPr lvl="1">
              <a:buFont typeface="Wingdings" pitchFamily="2" charset="2"/>
              <a:buChar char=""/>
            </a:pPr>
            <a:r>
              <a:rPr lang="ko-KR" altLang="en-US" sz="1600" dirty="0"/>
              <a:t>범용 수치 알고리즘</a:t>
            </a:r>
            <a:r>
              <a:rPr lang="en-US" altLang="ko-KR" sz="1600" dirty="0"/>
              <a:t>(generalized numeric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24340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변경 불가 시퀀스 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36566"/>
              </p:ext>
            </p:extLst>
          </p:nvPr>
        </p:nvGraphicFramePr>
        <p:xfrm>
          <a:off x="838200" y="1235676"/>
          <a:ext cx="10515600" cy="4177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</a:t>
                      </a:r>
                    </a:p>
                  </a:txBody>
                  <a:tcPr marL="128941" marR="128941" marT="64470" marB="6447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128941" marR="128941" marT="64470" marB="644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2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for_each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주어진 함수를 모든 원소에 적용한다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2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find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선형 검색한다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52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find_first_of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주어진 집합에 속하는 값들을 찾아낸다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52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adjacent_find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동일한 원소가 서로 이웃한 부분을 찾아낸다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52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count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주어진 값의 개수를 계산한다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52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mismatch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두 시퀀스를 </a:t>
                      </a:r>
                      <a:r>
                        <a:rPr lang="ko-KR" altLang="en-US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스캔해서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달라지는 원소의 위치를 찾아낸다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52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equal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두 시퀀스를 </a:t>
                      </a:r>
                      <a:r>
                        <a:rPr lang="ko-KR" altLang="en-US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스캔해서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모든 원소가 같은지를 검사한다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52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원하는 시퀀스를 찾아낸다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521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search_n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시퀀스에 주어진 값과 동일한 원소가 연속적으로 이어진 시퀀스를 찾아낸다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126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find_end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주어진 시퀀스와 일치하는 맨 마지막 부분을 찾아낸다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8941" marR="128941" marT="64470" marB="644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191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변경 가능 시퀀스 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599457"/>
              </p:ext>
            </p:extLst>
          </p:nvPr>
        </p:nvGraphicFramePr>
        <p:xfrm>
          <a:off x="838199" y="1235676"/>
          <a:ext cx="10515601" cy="4862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3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</a:t>
                      </a:r>
                    </a:p>
                  </a:txBody>
                  <a:tcPr marL="130162" marR="130162" marT="65081" marB="6508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130162" marR="130162" marT="65081" marB="6508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copy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원소들을 복사한다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swap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시퀀스의 원소를 맞바꾼다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transform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주어진 함수를 원소에 적용하고 얻은 리턴 값으로 원소를 교체한다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replace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주어진 값과 동일한 원소들을 다른 값으로 교체한다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fill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원소들을 주어진 값으로 교체한다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generate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원소들을 함수 호출을 통해 얻은 리턴 값으로 교체한다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remove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주어진 값과 동일한 원소들을 제거한다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unique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연속적으로 동일한 원소들을 제거한다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reverse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원소들을 뒤집는다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rotate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원소들을 회전한다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random_shuffle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원소들의 순서를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랜덤시킨다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3313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partition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조건을 만족하는 원소들을 앞 쪽으로 재배치한다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162" marR="130162" marT="65081" marB="65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76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정렬</a:t>
            </a:r>
            <a:r>
              <a:rPr lang="en-US" altLang="ko-KR" dirty="0"/>
              <a:t> </a:t>
            </a:r>
            <a:r>
              <a:rPr lang="ko-KR" altLang="en-US" dirty="0"/>
              <a:t>관련 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506440"/>
              </p:ext>
            </p:extLst>
          </p:nvPr>
        </p:nvGraphicFramePr>
        <p:xfrm>
          <a:off x="838200" y="1235676"/>
          <a:ext cx="10515600" cy="5108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8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6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</a:t>
                      </a:r>
                    </a:p>
                  </a:txBody>
                  <a:tcPr marL="130502" marR="130502" marT="65251" marB="6525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130502" marR="130502" marT="65251" marB="6525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0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sort,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stable_sort_partial_sort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원소들을 오름차순으로 정렬한다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60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nth_element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번째로 작은 원소를 찾아낸다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binary_search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lower_bound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upper_bound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equal_range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정렬 시퀀스를 분할하며 검색한다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60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merge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두 정렬 시퀀스를 하나로 합친다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includes,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set_union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set_intersection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set_difference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set_symmetric_difference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정렬 구조에 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set 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연산을 수행한다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4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push_heap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pop_heap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make_heap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sort_heap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힙으로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구성된 시퀀스에 정렬을 수행한다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60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min, max,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min_element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max_element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시퀀스나 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pair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의 최솟값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최댓값을 찾아낸다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60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lexicographical_compare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두 시퀀스를 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operator &lt;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operator &gt;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를 사용해서 비교한다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60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next_permutation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prev_permutation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순열을 생성한다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30502" marR="130502" marT="65251" marB="652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739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범용 수치 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079081"/>
              </p:ext>
            </p:extLst>
          </p:nvPr>
        </p:nvGraphicFramePr>
        <p:xfrm>
          <a:off x="838200" y="1235676"/>
          <a:ext cx="10515600" cy="2325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2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</a:t>
                      </a:r>
                    </a:p>
                  </a:txBody>
                  <a:tcPr marL="172531" marR="172531" marT="86265" marB="86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172531" marR="172531" marT="86265" marB="862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15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accumulate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72531" marR="172531" marT="86265" marB="862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원소들의 합을 계산한다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72531" marR="172531" marT="86265" marB="862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115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inner_product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72531" marR="172531" marT="86265" marB="862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두 시퀀스의 원소 쌍을 곱해서 더한 값을 계산한다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72531" marR="172531" marT="86265" marB="862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115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partial_sum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72531" marR="172531" marT="86265" marB="862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원소들의 부분합을 계산한다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72531" marR="172531" marT="86265" marB="862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115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6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adjacent_difference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72531" marR="172531" marT="86265" marB="862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인접 원소들의 차를 계산한다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72531" marR="172531" marT="86265" marB="862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259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STL </a:t>
            </a:r>
            <a:r>
              <a:rPr lang="ko-KR" altLang="en-US" dirty="0"/>
              <a:t>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600" dirty="0" err="1"/>
              <a:t>for_each</a:t>
            </a:r>
            <a:endParaRPr lang="en-US" altLang="ko-KR" sz="1600" dirty="0"/>
          </a:p>
          <a:p>
            <a:pPr lvl="1"/>
            <a:r>
              <a:rPr lang="en-US" altLang="ko-KR" sz="1400" dirty="0" err="1"/>
              <a:t>for_each</a:t>
            </a:r>
            <a:r>
              <a:rPr lang="ko-KR" altLang="en-US" sz="1400" dirty="0"/>
              <a:t>는 컨테이너 클래스에서 공통적으로 사용할 수 있는 함수다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for_each</a:t>
            </a:r>
            <a:r>
              <a:rPr lang="ko-KR" altLang="en-US" sz="1400" dirty="0"/>
              <a:t>는 일정 범위 안에 있는 모든 요소들에 대해서 함수를 호출한다</a:t>
            </a:r>
            <a:r>
              <a:rPr lang="en-US" altLang="ko-KR" sz="1400" dirty="0"/>
              <a:t>. </a:t>
            </a:r>
            <a:r>
              <a:rPr lang="ko-KR" altLang="en-US" sz="1400" dirty="0"/>
              <a:t>아래의 </a:t>
            </a:r>
            <a:r>
              <a:rPr lang="en-US" altLang="ko-KR" sz="1400" dirty="0" err="1"/>
              <a:t>PrintElement</a:t>
            </a:r>
            <a:r>
              <a:rPr lang="ko-KR" altLang="en-US" sz="1400" dirty="0"/>
              <a:t>는 요소의 값을 출력하는 함수다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600" dirty="0"/>
          </a:p>
          <a:p>
            <a:pPr lvl="1"/>
            <a:r>
              <a:rPr lang="en-US" altLang="ko-KR" sz="1400" dirty="0" err="1"/>
              <a:t>for_each</a:t>
            </a:r>
            <a:r>
              <a:rPr lang="ko-KR" altLang="en-US" sz="1400" dirty="0"/>
              <a:t>는 매개변수 </a:t>
            </a:r>
            <a:r>
              <a:rPr lang="en-US" altLang="ko-KR" sz="1400" dirty="0"/>
              <a:t>3</a:t>
            </a:r>
            <a:r>
              <a:rPr lang="ko-KR" altLang="en-US" sz="1400" dirty="0"/>
              <a:t>개를 사용한다</a:t>
            </a:r>
            <a:r>
              <a:rPr lang="en-US" altLang="ko-KR" sz="1400" dirty="0"/>
              <a:t>. </a:t>
            </a:r>
            <a:r>
              <a:rPr lang="ko-KR" altLang="en-US" sz="1400" dirty="0"/>
              <a:t>첫 번째와 두 번째 매개변수에 의해서 컨테이너의 범위가 지정되고 마지막 매개변수로 지정된 함수가 지정된 범위 내의 모든 요소에 의해서 적용된다</a:t>
            </a:r>
            <a:r>
              <a:rPr lang="en-US" altLang="ko-KR" sz="1400" dirty="0"/>
              <a:t>.</a:t>
            </a:r>
            <a:endParaRPr lang="en-US" altLang="ko-KR" sz="600" dirty="0"/>
          </a:p>
          <a:p>
            <a:r>
              <a:rPr lang="en-US" altLang="ko-KR" sz="1600" dirty="0"/>
              <a:t>find, </a:t>
            </a:r>
            <a:r>
              <a:rPr lang="en-US" altLang="ko-KR" sz="1600" dirty="0" err="1"/>
              <a:t>find_if</a:t>
            </a:r>
            <a:endParaRPr lang="en-US" altLang="ko-KR" sz="1600" dirty="0"/>
          </a:p>
          <a:p>
            <a:pPr lvl="1"/>
            <a:r>
              <a:rPr lang="en-US" altLang="ko-KR" sz="1400" dirty="0"/>
              <a:t>find</a:t>
            </a:r>
            <a:r>
              <a:rPr lang="ko-KR" altLang="en-US" sz="1400" dirty="0"/>
              <a:t>는 주어진 구간 내에서 주어진 값과 동일한 값을 찾아서 그 위치를 반복자 형태로 알려준다</a:t>
            </a:r>
            <a:r>
              <a:rPr lang="en-US" altLang="ko-KR" sz="1400" dirty="0"/>
              <a:t>. </a:t>
            </a:r>
            <a:r>
              <a:rPr lang="ko-KR" altLang="en-US" sz="1400" dirty="0"/>
              <a:t>만일 검색에 실패하면 </a:t>
            </a:r>
            <a:r>
              <a:rPr lang="en-US" altLang="ko-KR" sz="1400" dirty="0"/>
              <a:t>end</a:t>
            </a:r>
            <a:r>
              <a:rPr lang="ko-KR" altLang="en-US" sz="1400" dirty="0"/>
              <a:t>를 반환한다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 err="1"/>
              <a:t>find_if</a:t>
            </a:r>
            <a:r>
              <a:rPr lang="ko-KR" altLang="en-US" sz="1400" dirty="0"/>
              <a:t>는 마지막 매개변수로 </a:t>
            </a:r>
            <a:r>
              <a:rPr lang="ko-KR" altLang="en-US" sz="1400" dirty="0" err="1"/>
              <a:t>조건자</a:t>
            </a:r>
            <a:r>
              <a:rPr lang="ko-KR" altLang="en-US" sz="1400" dirty="0"/>
              <a:t> 함수를 넘겨주고 반복자들의 구간 내에서 함수에 제시한 조건을 만족하는 요소를 찾는다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구간 내 요소에 대해서 </a:t>
            </a:r>
            <a:r>
              <a:rPr lang="ko-KR" altLang="en-US" sz="1400" dirty="0" err="1"/>
              <a:t>조건자</a:t>
            </a:r>
            <a:r>
              <a:rPr lang="ko-KR" altLang="en-US" sz="1400" dirty="0"/>
              <a:t> 함수를 적용해서 결과값으로 </a:t>
            </a:r>
            <a:r>
              <a:rPr lang="en-US" altLang="ko-KR" sz="1400" dirty="0"/>
              <a:t>true</a:t>
            </a:r>
            <a:r>
              <a:rPr lang="ko-KR" altLang="en-US" sz="1400" dirty="0"/>
              <a:t>를 반환되는 위치를 반복자 형태로 알려주며 조건에 만족하는 요소를 찾지 못하면 </a:t>
            </a:r>
            <a:r>
              <a:rPr lang="en-US" altLang="ko-KR" sz="1400" dirty="0"/>
              <a:t>end</a:t>
            </a:r>
            <a:r>
              <a:rPr lang="ko-KR" altLang="en-US" sz="1400" dirty="0"/>
              <a:t>를 반환한다</a:t>
            </a:r>
            <a:r>
              <a:rPr lang="en-US" altLang="ko-KR" sz="1400" dirty="0"/>
              <a:t>.</a:t>
            </a:r>
            <a:endParaRPr lang="en-US" altLang="ko-KR" sz="600" dirty="0"/>
          </a:p>
          <a:p>
            <a:r>
              <a:rPr lang="en-US" altLang="ko-KR" sz="1600" dirty="0"/>
              <a:t>count, </a:t>
            </a:r>
            <a:r>
              <a:rPr lang="en-US" altLang="ko-KR" sz="1600" dirty="0" err="1"/>
              <a:t>count_if</a:t>
            </a:r>
            <a:endParaRPr lang="en-US" altLang="ko-KR" sz="1600" dirty="0"/>
          </a:p>
          <a:p>
            <a:pPr lvl="1"/>
            <a:r>
              <a:rPr lang="en-US" altLang="ko-KR" sz="1400" dirty="0"/>
              <a:t>count</a:t>
            </a:r>
            <a:r>
              <a:rPr lang="ko-KR" altLang="en-US" sz="1400" dirty="0"/>
              <a:t>는 주어진 구간 내에서 주어진 값과 동일한 값을 찾는 요소의 개수를 알려준다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count_if</a:t>
            </a:r>
            <a:r>
              <a:rPr lang="ko-KR" altLang="en-US" sz="1400" dirty="0"/>
              <a:t>는 마지막 매개변수로 </a:t>
            </a:r>
            <a:r>
              <a:rPr lang="ko-KR" altLang="en-US" sz="1400" dirty="0" err="1"/>
              <a:t>조건자</a:t>
            </a:r>
            <a:r>
              <a:rPr lang="ko-KR" altLang="en-US" sz="1400" dirty="0"/>
              <a:t> 함수를 넘겨준다</a:t>
            </a:r>
            <a:r>
              <a:rPr lang="en-US" altLang="ko-KR" sz="1400" dirty="0"/>
              <a:t>.</a:t>
            </a:r>
          </a:p>
          <a:p>
            <a:endParaRPr lang="ko-KR" altLang="en-US" sz="1600" dirty="0"/>
          </a:p>
        </p:txBody>
      </p:sp>
      <p:sp>
        <p:nvSpPr>
          <p:cNvPr id="5" name="직사각형 4"/>
          <p:cNvSpPr/>
          <p:nvPr/>
        </p:nvSpPr>
        <p:spPr>
          <a:xfrm>
            <a:off x="1524000" y="2235977"/>
            <a:ext cx="4572000" cy="3139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vector&lt;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&gt; v(8) ;  </a:t>
            </a:r>
            <a:r>
              <a:rPr lang="en-US" altLang="ko-KR" sz="1200" dirty="0" err="1"/>
              <a:t>for_each</a:t>
            </a:r>
            <a:r>
              <a:rPr lang="en-US" altLang="ko-KR" sz="1200" dirty="0"/>
              <a:t>(</a:t>
            </a:r>
            <a:r>
              <a:rPr lang="en-US" altLang="ko-KR" sz="1200" dirty="0" err="1"/>
              <a:t>v.begin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v.end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PrintElement</a:t>
            </a:r>
            <a:r>
              <a:rPr lang="en-US" altLang="ko-KR" sz="1200" dirty="0"/>
              <a:t>);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7584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STL </a:t>
            </a:r>
            <a:r>
              <a:rPr lang="ko-KR" altLang="en-US" dirty="0"/>
              <a:t>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copy</a:t>
            </a:r>
            <a:endParaRPr lang="en-US" altLang="ko-KR" sz="1400" dirty="0"/>
          </a:p>
          <a:p>
            <a:pPr lvl="1"/>
            <a:r>
              <a:rPr lang="en-US" altLang="ko-KR" sz="1400" dirty="0"/>
              <a:t>copy</a:t>
            </a:r>
            <a:r>
              <a:rPr lang="ko-KR" altLang="en-US" sz="1400" dirty="0"/>
              <a:t>는 한 컨테이너에서 다른 컨테이너로 데이터를 복사한다</a:t>
            </a:r>
            <a:r>
              <a:rPr lang="en-US" altLang="ko-KR" sz="1400" dirty="0"/>
              <a:t>. </a:t>
            </a:r>
            <a:r>
              <a:rPr lang="ko-KR" altLang="en-US" sz="1400" dirty="0"/>
              <a:t>다음은 배열을 벡터 객체에 복사하는 예다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r>
              <a:rPr lang="en-US" altLang="ko-KR" sz="1400" dirty="0"/>
              <a:t>copy</a:t>
            </a:r>
            <a:r>
              <a:rPr lang="ko-KR" altLang="en-US" sz="1400" dirty="0"/>
              <a:t>는 정보를 출력할 목적으로 출력스트림을 대상으로 복사한다</a:t>
            </a:r>
            <a:r>
              <a:rPr lang="en-US" altLang="ko-KR" sz="1400" dirty="0"/>
              <a:t>. STL</a:t>
            </a:r>
            <a:r>
              <a:rPr lang="ko-KR" altLang="en-US" sz="1400" dirty="0"/>
              <a:t>은 출력 스트림을 나타내는 반복자로 </a:t>
            </a:r>
            <a:r>
              <a:rPr lang="en-US" altLang="ko-KR" sz="1400" dirty="0" err="1"/>
              <a:t>ostream_iterator</a:t>
            </a:r>
            <a:r>
              <a:rPr lang="ko-KR" altLang="en-US" sz="1400" dirty="0"/>
              <a:t>를 제공한다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r>
              <a:rPr lang="en-US" altLang="ko-KR" sz="1400" dirty="0"/>
              <a:t>copy</a:t>
            </a:r>
            <a:r>
              <a:rPr lang="ko-KR" altLang="en-US" sz="1400" dirty="0"/>
              <a:t>에 출력 반복자를 다음과 같이 사용해서 컨테이너의 내용을 출력할 수 있다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>
              <a:buNone/>
            </a:pPr>
            <a:endParaRPr lang="en-US" altLang="ko-KR" sz="1400" dirty="0"/>
          </a:p>
          <a:p>
            <a:pPr lvl="1"/>
            <a:r>
              <a:rPr lang="ko-KR" altLang="en-US" sz="1400" dirty="0"/>
              <a:t>만일 역순으로 출력하려면 역방향 반복자를</a:t>
            </a:r>
            <a:r>
              <a:rPr lang="en-US" altLang="ko-KR" sz="1400" dirty="0"/>
              <a:t> </a:t>
            </a:r>
            <a:r>
              <a:rPr lang="ko-KR" altLang="en-US" sz="1400" dirty="0"/>
              <a:t>사용한다</a:t>
            </a:r>
            <a:r>
              <a:rPr lang="en-US" altLang="ko-KR" sz="1400" dirty="0"/>
              <a:t>. </a:t>
            </a:r>
            <a:r>
              <a:rPr lang="ko-KR" altLang="en-US" sz="1400" dirty="0"/>
              <a:t>역방향 반복자로는 </a:t>
            </a:r>
            <a:r>
              <a:rPr lang="en-US" altLang="ko-KR" sz="1400" dirty="0" err="1"/>
              <a:t>rbegin</a:t>
            </a:r>
            <a:r>
              <a:rPr lang="ko-KR" altLang="en-US" sz="1400" dirty="0"/>
              <a:t>과 </a:t>
            </a:r>
            <a:r>
              <a:rPr lang="en-US" altLang="ko-KR" sz="1400" dirty="0"/>
              <a:t>rend</a:t>
            </a:r>
            <a:r>
              <a:rPr lang="ko-KR" altLang="en-US" sz="1400" dirty="0"/>
              <a:t>가 있는데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rbegin</a:t>
            </a:r>
            <a:r>
              <a:rPr lang="ko-KR" altLang="en-US" sz="1400" dirty="0"/>
              <a:t>은 맨 마지막 요소 다음을 지시하고</a:t>
            </a:r>
            <a:r>
              <a:rPr lang="en-US" altLang="ko-KR" sz="1400" dirty="0"/>
              <a:t>, rend</a:t>
            </a:r>
            <a:r>
              <a:rPr lang="ko-KR" altLang="en-US" sz="1400" dirty="0"/>
              <a:t>는 첫 번째 요소를 지시한다</a:t>
            </a:r>
            <a:r>
              <a:rPr lang="en-US" altLang="ko-KR" sz="1400" dirty="0"/>
              <a:t>.</a:t>
            </a:r>
          </a:p>
          <a:p>
            <a:pPr lvl="1"/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1648506" y="1997974"/>
            <a:ext cx="6264696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err="1">
                <a:latin typeface="+mn-ea"/>
                <a:ea typeface="+mn-ea"/>
              </a:rPr>
              <a:t>arr</a:t>
            </a:r>
            <a:r>
              <a:rPr lang="en-US" altLang="ko-KR" sz="1200" dirty="0">
                <a:latin typeface="+mn-ea"/>
                <a:ea typeface="+mn-ea"/>
              </a:rPr>
              <a:t>[10]={3, 5, 1, 4, 8, 7, 0, 9, 2, 6}; 	// </a:t>
            </a:r>
            <a:r>
              <a:rPr lang="ko-KR" altLang="en-US" sz="1200" dirty="0">
                <a:latin typeface="+mn-ea"/>
                <a:ea typeface="+mn-ea"/>
              </a:rPr>
              <a:t>배열 선언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latin typeface="+mn-ea"/>
                <a:ea typeface="+mn-ea"/>
              </a:rPr>
              <a:t>vector&lt;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&gt; </a:t>
            </a:r>
            <a:r>
              <a:rPr lang="en-US" altLang="ko-KR" sz="1200" dirty="0" err="1">
                <a:latin typeface="+mn-ea"/>
                <a:ea typeface="+mn-ea"/>
              </a:rPr>
              <a:t>vec</a:t>
            </a:r>
            <a:r>
              <a:rPr lang="en-US" altLang="ko-KR" sz="1200" dirty="0">
                <a:latin typeface="+mn-ea"/>
                <a:ea typeface="+mn-ea"/>
              </a:rPr>
              <a:t>(10); 		// </a:t>
            </a:r>
            <a:r>
              <a:rPr lang="ko-KR" altLang="en-US" sz="1200" dirty="0">
                <a:latin typeface="+mn-ea"/>
                <a:ea typeface="+mn-ea"/>
              </a:rPr>
              <a:t>정수형 요소 </a:t>
            </a:r>
            <a:r>
              <a:rPr lang="en-US" altLang="ko-KR" sz="1200" dirty="0">
                <a:latin typeface="+mn-ea"/>
                <a:ea typeface="+mn-ea"/>
              </a:rPr>
              <a:t>10</a:t>
            </a:r>
            <a:r>
              <a:rPr lang="ko-KR" altLang="en-US" sz="1200" dirty="0">
                <a:latin typeface="+mn-ea"/>
                <a:ea typeface="+mn-ea"/>
              </a:rPr>
              <a:t>개를 갖는 벡터 객체 선언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latin typeface="+mn-ea"/>
                <a:ea typeface="+mn-ea"/>
              </a:rPr>
              <a:t>copy(</a:t>
            </a:r>
            <a:r>
              <a:rPr lang="en-US" altLang="ko-KR" sz="1200" dirty="0" err="1">
                <a:latin typeface="+mn-ea"/>
                <a:ea typeface="+mn-ea"/>
              </a:rPr>
              <a:t>arr</a:t>
            </a:r>
            <a:r>
              <a:rPr lang="en-US" altLang="ko-KR" sz="1200" dirty="0">
                <a:latin typeface="+mn-ea"/>
                <a:ea typeface="+mn-ea"/>
              </a:rPr>
              <a:t>, arr+10, </a:t>
            </a:r>
            <a:r>
              <a:rPr lang="en-US" altLang="ko-KR" sz="1200" dirty="0" err="1">
                <a:latin typeface="+mn-ea"/>
                <a:ea typeface="+mn-ea"/>
              </a:rPr>
              <a:t>v.begin</a:t>
            </a:r>
            <a:r>
              <a:rPr lang="en-US" altLang="ko-KR" sz="1200" dirty="0">
                <a:latin typeface="+mn-ea"/>
                <a:ea typeface="+mn-ea"/>
              </a:rPr>
              <a:t>()); 	// </a:t>
            </a:r>
            <a:r>
              <a:rPr lang="ko-KR" altLang="en-US" sz="1200" dirty="0">
                <a:latin typeface="+mn-ea"/>
                <a:ea typeface="+mn-ea"/>
              </a:rPr>
              <a:t>배열을 벡터로 복사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48506" y="3537852"/>
            <a:ext cx="4572000" cy="5136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#include &lt;</a:t>
            </a:r>
            <a:r>
              <a:rPr lang="en-US" altLang="ko-KR" sz="1200" dirty="0" err="1"/>
              <a:t>iterator</a:t>
            </a:r>
            <a:r>
              <a:rPr lang="en-US" altLang="ko-KR" sz="1200" dirty="0"/>
              <a:t>&gt;</a:t>
            </a:r>
          </a:p>
          <a:p>
            <a:pPr>
              <a:lnSpc>
                <a:spcPct val="120000"/>
              </a:lnSpc>
            </a:pPr>
            <a:r>
              <a:rPr lang="en-US" altLang="ko-KR" sz="1200" dirty="0" err="1"/>
              <a:t>ostream_iterator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&gt; </a:t>
            </a:r>
            <a:r>
              <a:rPr lang="en-US" altLang="ko-KR" sz="1200" dirty="0" err="1"/>
              <a:t>out_iter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cout</a:t>
            </a:r>
            <a:r>
              <a:rPr lang="en-US" altLang="ko-KR" sz="1200" dirty="0"/>
              <a:t>, " : ");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1648505" y="4557268"/>
            <a:ext cx="45720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copy(</a:t>
            </a:r>
            <a:r>
              <a:rPr lang="en-US" altLang="ko-KR" sz="1200" dirty="0" err="1"/>
              <a:t>v.begin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v.end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out_iter</a:t>
            </a:r>
            <a:r>
              <a:rPr lang="en-US" altLang="ko-KR" sz="1200" dirty="0"/>
              <a:t>);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1672889" y="5705612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copy(</a:t>
            </a:r>
            <a:r>
              <a:rPr lang="en-US" altLang="ko-KR" sz="1200" dirty="0" err="1"/>
              <a:t>v.rbegin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v.rend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out_iter</a:t>
            </a:r>
            <a:r>
              <a:rPr lang="en-US" altLang="ko-KR" sz="1200" dirty="0"/>
              <a:t>);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73383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STL </a:t>
            </a:r>
            <a:r>
              <a:rPr lang="ko-KR" altLang="en-US" dirty="0"/>
              <a:t>알고리즘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/>
              <a:t>equal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ko-KR" altLang="en-US" sz="1400" dirty="0"/>
              <a:t>두</a:t>
            </a:r>
            <a:r>
              <a:rPr lang="en-US" altLang="ko-KR" sz="1400" dirty="0"/>
              <a:t> </a:t>
            </a:r>
            <a:r>
              <a:rPr lang="ko-KR" altLang="en-US" sz="1400" dirty="0"/>
              <a:t>구간</a:t>
            </a:r>
            <a:r>
              <a:rPr lang="en-US" altLang="ko-KR" sz="1400" dirty="0"/>
              <a:t> </a:t>
            </a:r>
            <a:r>
              <a:rPr lang="ko-KR" altLang="en-US" sz="1400" dirty="0"/>
              <a:t>내의 요소들이 일치하는지 조사한다</a:t>
            </a:r>
            <a:r>
              <a:rPr lang="en-US" altLang="ko-KR" sz="1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600" dirty="0"/>
              <a:t>search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en-US" altLang="ko-KR" sz="1400" dirty="0"/>
              <a:t>find</a:t>
            </a:r>
            <a:r>
              <a:rPr lang="ko-KR" altLang="en-US" sz="1400" dirty="0"/>
              <a:t>는 일정 구간 내에서 특정한 값 하나에 대해서 일치되는 위치를 찾는다</a:t>
            </a:r>
            <a:r>
              <a:rPr lang="en-US" altLang="ko-KR" sz="1400" dirty="0"/>
              <a:t>. </a:t>
            </a:r>
            <a:r>
              <a:rPr lang="ko-KR" altLang="en-US" sz="1400" dirty="0"/>
              <a:t>반면 </a:t>
            </a:r>
            <a:r>
              <a:rPr lang="en-US" altLang="ko-KR" sz="1400" dirty="0"/>
              <a:t>search</a:t>
            </a:r>
            <a:r>
              <a:rPr lang="ko-KR" altLang="en-US" sz="1400" dirty="0"/>
              <a:t>는 연속적인 값들을 탐색할 경우 사용한다</a:t>
            </a:r>
            <a:r>
              <a:rPr lang="en-US" altLang="ko-KR" sz="1400" dirty="0"/>
              <a:t>. </a:t>
            </a:r>
            <a:r>
              <a:rPr lang="ko-KR" altLang="en-US" sz="1400" dirty="0"/>
              <a:t>전체 구간 안</a:t>
            </a:r>
            <a:r>
              <a:rPr lang="en-US" altLang="ko-KR" sz="1400" dirty="0"/>
              <a:t>(v1)</a:t>
            </a:r>
            <a:r>
              <a:rPr lang="ko-KR" altLang="en-US" sz="1400" dirty="0"/>
              <a:t>에 부분 구간</a:t>
            </a:r>
            <a:r>
              <a:rPr lang="en-US" altLang="ko-KR" sz="1400" dirty="0"/>
              <a:t>(v2)</a:t>
            </a:r>
            <a:r>
              <a:rPr lang="ko-KR" altLang="en-US" sz="1400" dirty="0"/>
              <a:t>을 찾아 그 위치를 반환한다</a:t>
            </a:r>
            <a:r>
              <a:rPr lang="en-US" altLang="ko-KR" sz="1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600" dirty="0"/>
              <a:t>transform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en-US" altLang="ko-KR" sz="1400" dirty="0"/>
              <a:t>transform</a:t>
            </a:r>
            <a:r>
              <a:rPr lang="ko-KR" altLang="en-US" sz="1400" dirty="0"/>
              <a:t>은 주어진 구간 내의 요소들을 매개변수로 전달한 함수를 적용해서 변경한다</a:t>
            </a:r>
            <a:r>
              <a:rPr lang="en-US" altLang="ko-KR" sz="1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600" dirty="0"/>
              <a:t>replace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en-US" altLang="ko-KR" sz="1400" dirty="0"/>
              <a:t>replace</a:t>
            </a:r>
            <a:r>
              <a:rPr lang="ko-KR" altLang="en-US" sz="1400" dirty="0"/>
              <a:t>는 주어진 구간 내의 요소들의 값을 매개변수로 전달한 값으로 대체한다</a:t>
            </a:r>
            <a:r>
              <a:rPr lang="en-US" altLang="ko-KR" sz="1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600" dirty="0"/>
              <a:t>fill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en-US" altLang="ko-KR" sz="1400" dirty="0"/>
              <a:t>fill</a:t>
            </a:r>
            <a:r>
              <a:rPr lang="ko-KR" altLang="en-US" sz="1400" dirty="0"/>
              <a:t>은 주어진 구간 내의 요소들을 값을 매개변수로 전달한 값으로 할당한다</a:t>
            </a:r>
            <a:r>
              <a:rPr lang="en-US" altLang="ko-KR" sz="1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600" dirty="0"/>
              <a:t>reverse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en-US" altLang="ko-KR" sz="1400" dirty="0"/>
              <a:t>reverse</a:t>
            </a:r>
            <a:r>
              <a:rPr lang="ko-KR" altLang="en-US" sz="1400" dirty="0"/>
              <a:t>는 주어진 구간 내의 요소들을 역순으로 배치한다</a:t>
            </a:r>
            <a:r>
              <a:rPr lang="en-US" altLang="ko-KR" sz="1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600" dirty="0" err="1"/>
              <a:t>random_shuffle</a:t>
            </a:r>
            <a:endParaRPr lang="en-US" altLang="ko-KR" sz="1400" dirty="0"/>
          </a:p>
          <a:p>
            <a:pPr lvl="1">
              <a:lnSpc>
                <a:spcPct val="100000"/>
              </a:lnSpc>
            </a:pPr>
            <a:r>
              <a:rPr lang="en-US" altLang="ko-KR" sz="1400" dirty="0" err="1"/>
              <a:t>random_shuffle</a:t>
            </a:r>
            <a:r>
              <a:rPr lang="ko-KR" altLang="en-US" sz="1400" dirty="0"/>
              <a:t>은 주어진 구간 내의 요소들의 위치를 무작위로 재배치한다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06917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15-12. </a:t>
            </a:r>
            <a:r>
              <a:rPr lang="en-US" altLang="ko-KR" dirty="0" err="1">
                <a:solidFill>
                  <a:srgbClr val="00A4E6"/>
                </a:solidFill>
                <a:latin typeface="+mj-ea"/>
              </a:rPr>
              <a:t>for_each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(15_12.cpp)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15-13. find(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(15_13.cpp)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15-14. </a:t>
            </a:r>
            <a:r>
              <a:rPr lang="en-US" altLang="ko-KR" dirty="0" err="1">
                <a:solidFill>
                  <a:srgbClr val="00A4E6"/>
                </a:solidFill>
                <a:latin typeface="+mj-ea"/>
              </a:rPr>
              <a:t>find_if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(15_14.cpp)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15-15. count( ), </a:t>
            </a:r>
            <a:r>
              <a:rPr lang="en-US" altLang="ko-KR" dirty="0" err="1">
                <a:solidFill>
                  <a:srgbClr val="00A4E6"/>
                </a:solidFill>
                <a:latin typeface="+mj-ea"/>
              </a:rPr>
              <a:t>count_if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(15_15.cpp)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15-16. equal(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(15_16.cpp)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15-17. search(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(15_17.cpp)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15-18. copy(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(15_18.cpp)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15-19. transform(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(15_19.cpp)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15-20. replace(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(15_20.cpp)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15-21. fill(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(15_21.cpp)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15-22. reverse(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(15_22.cpp)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15-23. </a:t>
            </a:r>
            <a:r>
              <a:rPr lang="en-US" altLang="ko-KR" dirty="0" err="1">
                <a:solidFill>
                  <a:srgbClr val="00A4E6"/>
                </a:solidFill>
                <a:latin typeface="+mj-ea"/>
              </a:rPr>
              <a:t>random_shuffle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(15_23.cpp)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15-24. </a:t>
            </a:r>
            <a:r>
              <a:rPr lang="en-US" altLang="ko-KR" dirty="0" err="1">
                <a:solidFill>
                  <a:srgbClr val="00A4E6"/>
                </a:solidFill>
                <a:latin typeface="+mj-ea"/>
              </a:rPr>
              <a:t>binary_search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(15_24.cpp)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15-25. </a:t>
            </a:r>
            <a:r>
              <a:rPr lang="en-US" altLang="ko-KR" dirty="0" err="1">
                <a:solidFill>
                  <a:srgbClr val="00A4E6"/>
                </a:solidFill>
                <a:latin typeface="+mj-ea"/>
              </a:rPr>
              <a:t>lower_bound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(15_25.cpp)</a:t>
            </a:r>
          </a:p>
          <a:p>
            <a:r>
              <a:rPr lang="ko-KR" altLang="en-US" dirty="0">
                <a:solidFill>
                  <a:srgbClr val="00A4E6"/>
                </a:solidFill>
                <a:latin typeface="+mj-ea"/>
              </a:rPr>
              <a:t>예제 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15-26. accumulate( ) </a:t>
            </a:r>
            <a:r>
              <a:rPr lang="ko-KR" altLang="en-US" dirty="0">
                <a:solidFill>
                  <a:srgbClr val="00A4E6"/>
                </a:solidFill>
                <a:latin typeface="+mj-ea"/>
              </a:rPr>
              <a:t>사용하기</a:t>
            </a:r>
            <a:r>
              <a:rPr lang="en-US" altLang="ko-KR" dirty="0">
                <a:solidFill>
                  <a:srgbClr val="00A4E6"/>
                </a:solidFill>
                <a:latin typeface="+mj-ea"/>
              </a:rPr>
              <a:t>(15_26.cpp)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999598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194D78BC-44B7-4AC2-8C06-579B655FF330}" vid="{2AAC0CCA-5385-4D55-8E98-229E12908A3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2465</TotalTime>
  <Words>2601</Words>
  <Application>Microsoft Office PowerPoint</Application>
  <PresentationFormat>와이드스크린</PresentationFormat>
  <Paragraphs>354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HY헤드라인M</vt:lpstr>
      <vt:lpstr>돋움체</vt:lpstr>
      <vt:lpstr>맑은 고딕</vt:lpstr>
      <vt:lpstr>Arial</vt:lpstr>
      <vt:lpstr>Consolas</vt:lpstr>
      <vt:lpstr>Wingdings</vt:lpstr>
      <vt:lpstr>kdw</vt:lpstr>
      <vt:lpstr>C++ STL</vt:lpstr>
      <vt:lpstr>학습목표</vt:lpstr>
      <vt:lpstr>STL의 이해</vt:lpstr>
      <vt:lpstr>vector 템플릿 클래스</vt:lpstr>
      <vt:lpstr>예시</vt:lpstr>
      <vt:lpstr>vector 템플릿 클래스</vt:lpstr>
      <vt:lpstr>예시</vt:lpstr>
      <vt:lpstr>vector 템플릿 클래스</vt:lpstr>
      <vt:lpstr>예시</vt:lpstr>
      <vt:lpstr>반복자</vt:lpstr>
      <vt:lpstr>반복자</vt:lpstr>
      <vt:lpstr>예제</vt:lpstr>
      <vt:lpstr>컨테이너</vt:lpstr>
      <vt:lpstr>컨테이너</vt:lpstr>
      <vt:lpstr>예제</vt:lpstr>
      <vt:lpstr>STL 알고리즘</vt:lpstr>
      <vt:lpstr>변경 불가 시퀀스 알고리즘</vt:lpstr>
      <vt:lpstr>변경 가능 시퀀스 알고리즘</vt:lpstr>
      <vt:lpstr>정렬 관련 알고리즘</vt:lpstr>
      <vt:lpstr>범용 수치 알고리즘</vt:lpstr>
      <vt:lpstr>STL 알고리즘</vt:lpstr>
      <vt:lpstr>STL 알고리즘</vt:lpstr>
      <vt:lpstr>STL 알고리즘</vt:lpstr>
      <vt:lpstr>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jcs66</cp:lastModifiedBy>
  <cp:revision>496</cp:revision>
  <dcterms:created xsi:type="dcterms:W3CDTF">2020-02-16T05:20:05Z</dcterms:created>
  <dcterms:modified xsi:type="dcterms:W3CDTF">2025-06-10T07:36:35Z</dcterms:modified>
</cp:coreProperties>
</file>