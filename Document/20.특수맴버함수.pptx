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256" r:id="rId2"/>
    <p:sldId id="261" r:id="rId3"/>
    <p:sldId id="265" r:id="rId4"/>
    <p:sldId id="268" r:id="rId5"/>
    <p:sldId id="269" r:id="rId6"/>
    <p:sldId id="279" r:id="rId7"/>
    <p:sldId id="280" r:id="rId8"/>
    <p:sldId id="267" r:id="rId9"/>
    <p:sldId id="274" r:id="rId10"/>
    <p:sldId id="275" r:id="rId11"/>
    <p:sldId id="281" r:id="rId12"/>
    <p:sldId id="276" r:id="rId13"/>
    <p:sldId id="277" r:id="rId14"/>
    <p:sldId id="278" r:id="rId15"/>
    <p:sldId id="266" r:id="rId16"/>
    <p:sldId id="282" r:id="rId17"/>
    <p:sldId id="270" r:id="rId18"/>
    <p:sldId id="272" r:id="rId19"/>
    <p:sldId id="271" r:id="rId20"/>
    <p:sldId id="273" r:id="rId21"/>
    <p:sldId id="283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37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06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592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4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0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689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824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84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496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2023-07-29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211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45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객체의 활용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특수 </a:t>
            </a:r>
            <a:r>
              <a:rPr lang="ko-KR" altLang="en-US" dirty="0" err="1"/>
              <a:t>맴버</a:t>
            </a:r>
            <a:r>
              <a:rPr lang="ko-KR" altLang="en-US" dirty="0"/>
              <a:t> 함수</a:t>
            </a:r>
            <a:endParaRPr lang="en-US" altLang="ko-KR" dirty="0"/>
          </a:p>
          <a:p>
            <a:pPr lvl="1"/>
            <a:r>
              <a:rPr lang="ko-KR" altLang="en-US" dirty="0"/>
              <a:t>생성자</a:t>
            </a:r>
            <a:r>
              <a:rPr lang="en-US" altLang="ko-KR" dirty="0"/>
              <a:t>, </a:t>
            </a:r>
            <a:r>
              <a:rPr lang="ko-KR" altLang="en-US" dirty="0" err="1"/>
              <a:t>소멸자</a:t>
            </a:r>
            <a:r>
              <a:rPr lang="en-US" altLang="ko-KR" dirty="0"/>
              <a:t>, </a:t>
            </a:r>
            <a:r>
              <a:rPr lang="ko-KR" altLang="en-US" dirty="0"/>
              <a:t>복사 생성자</a:t>
            </a:r>
            <a:r>
              <a:rPr lang="en-US" altLang="ko-KR" dirty="0"/>
              <a:t>, </a:t>
            </a:r>
            <a:r>
              <a:rPr lang="ko-KR" altLang="en-US" dirty="0"/>
              <a:t>이동 생성자</a:t>
            </a:r>
            <a:r>
              <a:rPr lang="en-US" altLang="ko-KR" dirty="0"/>
              <a:t>, </a:t>
            </a:r>
            <a:r>
              <a:rPr lang="ko-KR" altLang="en-US" dirty="0"/>
              <a:t>복사 대입연산자</a:t>
            </a:r>
            <a:r>
              <a:rPr lang="en-US" altLang="ko-KR" dirty="0"/>
              <a:t>, </a:t>
            </a:r>
            <a:r>
              <a:rPr lang="ko-KR" altLang="en-US" dirty="0"/>
              <a:t>이동 대입 연산자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복사생성자 </a:t>
            </a:r>
            <a:r>
              <a:rPr lang="en-US" altLang="ko-KR" dirty="0"/>
              <a:t>– </a:t>
            </a:r>
            <a:r>
              <a:rPr lang="ko-KR" altLang="en-US" dirty="0"/>
              <a:t>객체로</a:t>
            </a:r>
            <a:r>
              <a:rPr lang="en-US" altLang="ko-KR" dirty="0"/>
              <a:t> </a:t>
            </a:r>
            <a:r>
              <a:rPr lang="ko-KR" altLang="en-US" dirty="0"/>
              <a:t>객체를 만들기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이동생성자</a:t>
            </a:r>
            <a:r>
              <a:rPr lang="en-US" altLang="ko-KR" dirty="0"/>
              <a:t> – </a:t>
            </a:r>
            <a:r>
              <a:rPr lang="ko-KR" altLang="en-US" dirty="0"/>
              <a:t>복사생성을 빠르게 하기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변환생성자와 변환함수 </a:t>
            </a:r>
            <a:r>
              <a:rPr lang="en-US" altLang="ko-KR" dirty="0"/>
              <a:t>– </a:t>
            </a:r>
            <a:r>
              <a:rPr lang="ko-KR" altLang="en-US" dirty="0"/>
              <a:t>객체의 형 변환 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64293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복사생성자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복사 생성자</a:t>
            </a:r>
            <a:r>
              <a:rPr lang="en-US" altLang="ko-KR" sz="1800" dirty="0"/>
              <a:t>(Copy Constructor)</a:t>
            </a:r>
          </a:p>
          <a:p>
            <a:r>
              <a:rPr lang="ko-KR" altLang="en-US" sz="1800" dirty="0"/>
              <a:t>복사 생성자의 원형</a:t>
            </a:r>
          </a:p>
          <a:p>
            <a:pPr lvl="1"/>
            <a:r>
              <a:rPr lang="en-US" altLang="ko-KR" sz="1600" dirty="0" err="1">
                <a:latin typeface="Consolas" panose="020B0609020204030204" pitchFamily="49" charset="0"/>
              </a:rPr>
              <a:t>ClassName</a:t>
            </a:r>
            <a:r>
              <a:rPr lang="en-US" altLang="ko-KR" sz="1600" dirty="0">
                <a:latin typeface="Consolas" panose="020B0609020204030204" pitchFamily="49" charset="0"/>
              </a:rPr>
              <a:t> (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1600" dirty="0"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latin typeface="Consolas" panose="020B0609020204030204" pitchFamily="49" charset="0"/>
              </a:rPr>
              <a:t>ClassName</a:t>
            </a:r>
            <a:r>
              <a:rPr lang="en-US" altLang="ko-KR" sz="1600" dirty="0"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altLang="ko-KR" sz="1600" dirty="0">
                <a:latin typeface="Consolas" panose="020B0609020204030204" pitchFamily="49" charset="0"/>
              </a:rPr>
              <a:t> );</a:t>
            </a:r>
          </a:p>
          <a:p>
            <a:pPr lvl="1"/>
            <a:endParaRPr lang="en-US" altLang="ko-KR" dirty="0"/>
          </a:p>
          <a:p>
            <a:r>
              <a:rPr lang="ko-KR" altLang="en-US" sz="1800" dirty="0"/>
              <a:t>복사 생성자의 호출 시기</a:t>
            </a:r>
          </a:p>
          <a:p>
            <a:pPr lvl="1"/>
            <a:r>
              <a:rPr lang="ko-KR" altLang="en-US" sz="1600" dirty="0"/>
              <a:t>복사 생성자는 새로운 객체가 생성되어 같은 종류의 </a:t>
            </a:r>
            <a:r>
              <a:rPr lang="ko-KR" altLang="en-US" sz="1600" dirty="0">
                <a:solidFill>
                  <a:srgbClr val="FF0000"/>
                </a:solidFill>
              </a:rPr>
              <a:t>기존 객체로 초기화될</a:t>
            </a:r>
            <a:r>
              <a:rPr lang="ko-KR" altLang="en-US" sz="1600" dirty="0"/>
              <a:t> 때마다 호출됩니다</a:t>
            </a:r>
            <a:r>
              <a:rPr lang="en-US" altLang="ko-KR" sz="1600" dirty="0"/>
              <a:t>. </a:t>
            </a:r>
            <a:endParaRPr lang="en-US" altLang="ko-KR" dirty="0"/>
          </a:p>
          <a:p>
            <a:r>
              <a:rPr lang="ko-KR" altLang="en-US" sz="1800" dirty="0"/>
              <a:t>복사 생성자의 호출 시기</a:t>
            </a:r>
            <a:endParaRPr lang="en-US" altLang="ko-KR" sz="1800" dirty="0"/>
          </a:p>
          <a:p>
            <a:pPr lvl="1"/>
            <a:r>
              <a:rPr lang="en-US" altLang="ko-KR" sz="1600" dirty="0"/>
              <a:t>Person A;</a:t>
            </a:r>
          </a:p>
          <a:p>
            <a:pPr lvl="1"/>
            <a:r>
              <a:rPr lang="en-US" altLang="ko-KR" sz="1600" dirty="0"/>
              <a:t>Person B(A); 		//</a:t>
            </a:r>
            <a:r>
              <a:rPr lang="ko-KR" altLang="en-US" sz="1600" dirty="0"/>
              <a:t>복사 생성자 호출</a:t>
            </a:r>
          </a:p>
          <a:p>
            <a:pPr lvl="1"/>
            <a:r>
              <a:rPr lang="en-US" altLang="ko-KR" sz="1600" dirty="0"/>
              <a:t>Person B = A; 		//</a:t>
            </a:r>
            <a:r>
              <a:rPr lang="ko-KR" altLang="en-US" sz="1600" dirty="0"/>
              <a:t>복사 생성자 호출</a:t>
            </a:r>
          </a:p>
          <a:p>
            <a:pPr lvl="1"/>
            <a:r>
              <a:rPr lang="en-US" altLang="ko-KR" sz="1600" dirty="0"/>
              <a:t>Person B = Person(A); 	//</a:t>
            </a:r>
            <a:r>
              <a:rPr lang="ko-KR" altLang="en-US" sz="1600" dirty="0"/>
              <a:t>복사 생성자 호출</a:t>
            </a:r>
          </a:p>
          <a:p>
            <a:pPr lvl="1"/>
            <a:r>
              <a:rPr lang="en-US" altLang="ko-KR" sz="1600" dirty="0"/>
              <a:t>Person* B = new Person(A); 	//</a:t>
            </a:r>
            <a:r>
              <a:rPr lang="ko-KR" altLang="en-US" sz="1600" dirty="0"/>
              <a:t>복사 생성자 호출</a:t>
            </a:r>
          </a:p>
        </p:txBody>
      </p:sp>
    </p:spTree>
    <p:extLst>
      <p:ext uri="{BB962C8B-B14F-4D97-AF65-F5344CB8AC3E}">
        <p14:creationId xmlns:p14="http://schemas.microsoft.com/office/powerpoint/2010/main" val="427881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8F3B7B-7F34-44FF-AFA5-E4D2D83C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얕은 복사</a:t>
            </a:r>
            <a:r>
              <a:rPr lang="en-US" altLang="ko-KR" dirty="0"/>
              <a:t>, </a:t>
            </a:r>
            <a:r>
              <a:rPr lang="ko-KR" altLang="en-US" dirty="0"/>
              <a:t>깊은 복사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9909F3-ECDA-47F6-880F-017F1DBCB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복사 생성자가 하는 일</a:t>
            </a:r>
            <a:endParaRPr lang="en-US" altLang="ko-KR" sz="1800" dirty="0"/>
          </a:p>
          <a:p>
            <a:pPr lvl="1"/>
            <a:r>
              <a:rPr lang="ko-KR" altLang="en-US" sz="1600" dirty="0"/>
              <a:t>디폴트 복사 생성자는 </a:t>
            </a:r>
            <a:r>
              <a:rPr lang="en-US" altLang="ko-KR" sz="1600" dirty="0"/>
              <a:t>static </a:t>
            </a:r>
            <a:r>
              <a:rPr lang="ko-KR" altLang="en-US" sz="1600" dirty="0"/>
              <a:t>멤버를 제외한 멤버들을 </a:t>
            </a:r>
            <a:r>
              <a:rPr lang="ko-KR" altLang="en-US" sz="1600" b="1" dirty="0"/>
              <a:t>멤버별로 복사</a:t>
            </a:r>
            <a:r>
              <a:rPr lang="ko-KR" altLang="en-US" sz="1600" dirty="0"/>
              <a:t>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 </a:t>
            </a:r>
            <a:r>
              <a:rPr lang="ko-KR" altLang="en-US" sz="1600" dirty="0">
                <a:solidFill>
                  <a:srgbClr val="C00000"/>
                </a:solidFill>
              </a:rPr>
              <a:t>얕은 복사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복사 생성자로 멤버들을 멤버별로 </a:t>
            </a:r>
            <a:r>
              <a:rPr lang="ko-KR" altLang="en-US" sz="1600" dirty="0" err="1"/>
              <a:t>실제데이타를</a:t>
            </a:r>
            <a:r>
              <a:rPr lang="ko-KR" altLang="en-US" sz="1600" dirty="0"/>
              <a:t> 복사했을 때를 </a:t>
            </a:r>
            <a:r>
              <a:rPr lang="ko-KR" altLang="en-US" sz="1600" dirty="0">
                <a:solidFill>
                  <a:srgbClr val="C00000"/>
                </a:solidFill>
              </a:rPr>
              <a:t>깊은 복사</a:t>
            </a:r>
            <a:r>
              <a:rPr lang="ko-KR" altLang="en-US" sz="1600" dirty="0"/>
              <a:t>라고 부릅니다</a:t>
            </a:r>
            <a:r>
              <a:rPr lang="en-US" altLang="ko-KR" sz="1600" dirty="0"/>
              <a:t>.</a:t>
            </a:r>
          </a:p>
          <a:p>
            <a:pPr lvl="1"/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C15597-ADCC-43AD-8FDD-B98A9777DD9C}"/>
              </a:ext>
            </a:extLst>
          </p:cNvPr>
          <p:cNvSpPr txBox="1"/>
          <p:nvPr/>
        </p:nvSpPr>
        <p:spPr>
          <a:xfrm>
            <a:off x="1233182" y="2546058"/>
            <a:ext cx="6862194" cy="329320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Person() { age = 0;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p_age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 age =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p_age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per =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(15);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per2 = per; 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기본 복사생성자 호출</a:t>
            </a:r>
            <a:endParaRPr lang="en-US" altLang="ko-KR" sz="16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389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C748C1-E256-4A71-AA12-19C595F1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동적할당의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F732E1-71A5-4CEC-980A-F9EADDDA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동적 메모리나 문자열 같은 </a:t>
            </a:r>
            <a:r>
              <a:rPr lang="en-US" altLang="ko-KR" sz="1800" dirty="0"/>
              <a:t>'</a:t>
            </a:r>
            <a:r>
              <a:rPr lang="ko-KR" altLang="en-US" sz="1800" dirty="0"/>
              <a:t>값</a:t>
            </a:r>
            <a:r>
              <a:rPr lang="en-US" altLang="ko-KR" sz="1800" dirty="0"/>
              <a:t>'</a:t>
            </a:r>
            <a:r>
              <a:rPr lang="ko-KR" altLang="en-US" sz="1800" dirty="0"/>
              <a:t>을 복사하면 안 되는 것들은 문제됨 </a:t>
            </a:r>
            <a:r>
              <a:rPr lang="en-US" altLang="ko-KR" sz="1800" dirty="0"/>
              <a:t>(</a:t>
            </a:r>
            <a:r>
              <a:rPr lang="ko-KR" altLang="en-US" sz="1800" dirty="0">
                <a:solidFill>
                  <a:srgbClr val="C00000"/>
                </a:solidFill>
              </a:rPr>
              <a:t>포인터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8CBEB-18A8-473B-B3B9-37276EADE6E5}"/>
              </a:ext>
            </a:extLst>
          </p:cNvPr>
          <p:cNvSpPr txBox="1"/>
          <p:nvPr/>
        </p:nvSpPr>
        <p:spPr>
          <a:xfrm>
            <a:off x="904188" y="1786854"/>
            <a:ext cx="5697947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</a:t>
            </a:r>
            <a:r>
              <a:rPr lang="en-US" altLang="ko-KR" sz="1400" dirty="0" err="1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string.h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name;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name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strlen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+ 1];</a:t>
            </a:r>
          </a:p>
          <a:p>
            <a:r>
              <a:rPr lang="nl-NL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strcpy_s(name, strlen(</a:t>
            </a:r>
            <a:r>
              <a:rPr lang="nl-NL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nl-NL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+ 1, </a:t>
            </a:r>
            <a:r>
              <a:rPr lang="nl-NL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</a:t>
            </a:r>
            <a:r>
              <a:rPr lang="nl-NL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복사 생성자 정의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name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strlen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.name) + 1];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strcpy_s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(name,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strlen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.name) + 1,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Show()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std::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std::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~Person() {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delete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name; }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183F26-420E-44AF-8EAA-A0E09376217F}"/>
              </a:ext>
            </a:extLst>
          </p:cNvPr>
          <p:cNvSpPr txBox="1"/>
          <p:nvPr/>
        </p:nvSpPr>
        <p:spPr>
          <a:xfrm>
            <a:off x="6878972" y="1786854"/>
            <a:ext cx="447482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per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"Name"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per-&gt;Show();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it-IT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it-IT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it-IT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per2 = </a:t>
            </a:r>
            <a:r>
              <a:rPr lang="it-IT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it-IT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it-IT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it-IT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(*per);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delete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per;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per2-&gt;Show();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26406-32A1-4C45-866D-C0C0C80B0D03}"/>
              </a:ext>
            </a:extLst>
          </p:cNvPr>
          <p:cNvSpPr txBox="1"/>
          <p:nvPr/>
        </p:nvSpPr>
        <p:spPr>
          <a:xfrm>
            <a:off x="6878972" y="4360207"/>
            <a:ext cx="4474827" cy="16004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디폴트 복사 생성자는 얕은 복사를 진행한다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name = </a:t>
            </a:r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문자열에서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는 문자열 복사가 아니고 주소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복사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b="1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깊은 복사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를 하도록 직접 정의해야 한다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sz="1400" dirty="0">
              <a:solidFill>
                <a:srgbClr val="0066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654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AAA1A-C6FC-4CED-861D-DBB50AA0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83E0A6-EA42-4D6E-B742-9E3AD3E9E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복사 생성자</a:t>
            </a:r>
            <a:r>
              <a:rPr lang="en-US" altLang="ko-KR" sz="1800" dirty="0"/>
              <a:t>, </a:t>
            </a:r>
            <a:r>
              <a:rPr lang="ko-KR" altLang="en-US" sz="1800" dirty="0"/>
              <a:t>복사 대입 연산자</a:t>
            </a:r>
            <a:endParaRPr lang="en-US" altLang="ko-KR" sz="1800" dirty="0"/>
          </a:p>
          <a:p>
            <a:pPr lvl="1"/>
            <a:r>
              <a:rPr lang="ko-KR" altLang="en-US" sz="1600" dirty="0"/>
              <a:t>포인터를 멤버로 가지는 클래스는 복사 생성자에서 </a:t>
            </a:r>
            <a:r>
              <a:rPr lang="ko-KR" altLang="en-US" sz="1600" b="1" dirty="0"/>
              <a:t>깊은 복사</a:t>
            </a:r>
            <a:r>
              <a:rPr lang="en-US" altLang="ko-KR" sz="1600" dirty="0"/>
              <a:t>(deep copy)</a:t>
            </a:r>
            <a:r>
              <a:rPr lang="ko-KR" altLang="en-US" sz="1600" dirty="0"/>
              <a:t>를 수행해야</a:t>
            </a:r>
            <a:r>
              <a:rPr lang="en-US" altLang="ko-KR" sz="1600" dirty="0"/>
              <a:t> </a:t>
            </a:r>
            <a:r>
              <a:rPr lang="ko-KR" altLang="en-US" sz="1600" dirty="0"/>
              <a:t>한다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복사 생성자를 정의한다면</a:t>
            </a:r>
            <a:r>
              <a:rPr lang="en-US" altLang="ko-KR" sz="1600" dirty="0"/>
              <a:t>, </a:t>
            </a:r>
            <a:r>
              <a:rPr lang="ko-KR" altLang="en-US" sz="1600" dirty="0"/>
              <a:t>비슷한 행동을 하는 </a:t>
            </a:r>
            <a:r>
              <a:rPr lang="ko-KR" altLang="en-US" sz="1600" b="1" dirty="0"/>
              <a:t>복사대입 연산자</a:t>
            </a:r>
            <a:r>
              <a:rPr lang="ko-KR" altLang="en-US" sz="1600" dirty="0"/>
              <a:t>도 같이 고려하자</a:t>
            </a:r>
            <a:r>
              <a:rPr lang="en-US" altLang="ko-KR" sz="1600" dirty="0"/>
              <a:t>.</a:t>
            </a:r>
          </a:p>
          <a:p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A48A6-DBED-47A1-9A20-BF8DD741FFD4}"/>
              </a:ext>
            </a:extLst>
          </p:cNvPr>
          <p:cNvSpPr txBox="1"/>
          <p:nvPr/>
        </p:nvSpPr>
        <p:spPr>
          <a:xfrm>
            <a:off x="838200" y="2470505"/>
            <a:ext cx="1021848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: age(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p.age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name =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strlen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.name) + 1];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strcpy_s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(name,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strlen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.name) + 1,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.name);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깊은 복사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::operator=(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!= &amp;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delete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[] name;  </a:t>
            </a:r>
            <a:r>
              <a:rPr lang="en-US" altLang="ko-KR" sz="12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2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기존 포인터 삭제 후 새로 할당</a:t>
            </a:r>
            <a:r>
              <a:rPr lang="en-US" altLang="ko-KR" sz="12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name =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strlen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.name) + 1];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strcpy_s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(name, 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strlen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.name) + 1,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.name);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깊은 복사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age =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129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6774B-8DA6-4E35-9B5C-E799CDC7A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934C40-6E1D-4073-9E2E-1978BC103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324D4-3616-4C54-B669-31EF3B8BD53C}"/>
              </a:ext>
            </a:extLst>
          </p:cNvPr>
          <p:cNvSpPr txBox="1"/>
          <p:nvPr/>
        </p:nvSpPr>
        <p:spPr>
          <a:xfrm>
            <a:off x="838200" y="1235677"/>
            <a:ext cx="1026043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name;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~Person();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    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복사 생성자 선언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operator=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복사 대입 연산자 선언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Person(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&amp;&amp;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noexcept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   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이동 생성자 선언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operator=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&amp;&amp;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noexcept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이동 대입 연산자 선언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::Person()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name = new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[2] {“a”};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age =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::~Person()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delete[]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name;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DeAllocate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the heap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006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AA5E5-413F-4A38-97A1-BB0EA424A27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이동생성자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72825-E972-4470-8823-CB2DF95FF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800" b="0" i="0" dirty="0">
                <a:solidFill>
                  <a:srgbClr val="3C3C3C"/>
                </a:solidFill>
                <a:effectLst/>
              </a:rPr>
              <a:t>이동 생성자 </a:t>
            </a:r>
            <a:r>
              <a:rPr lang="en-US" altLang="ko-KR" sz="1800" b="0" i="0" dirty="0">
                <a:solidFill>
                  <a:srgbClr val="3C3C3C"/>
                </a:solidFill>
                <a:effectLst/>
              </a:rPr>
              <a:t>(move constructor)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err="1">
                <a:solidFill>
                  <a:srgbClr val="3C3C3C"/>
                </a:solidFill>
              </a:rPr>
              <a:t>우측값</a:t>
            </a:r>
            <a:r>
              <a:rPr lang="en-US" altLang="ko-KR" sz="1600" dirty="0">
                <a:solidFill>
                  <a:srgbClr val="3C3C3C"/>
                </a:solidFill>
              </a:rPr>
              <a:t>(</a:t>
            </a:r>
            <a:r>
              <a:rPr lang="en-US" altLang="ko-KR" sz="1600" dirty="0" err="1">
                <a:solidFill>
                  <a:srgbClr val="3C3C3C"/>
                </a:solidFill>
              </a:rPr>
              <a:t>rvalue</a:t>
            </a:r>
            <a:r>
              <a:rPr lang="en-US" altLang="ko-KR" sz="1600" dirty="0">
                <a:solidFill>
                  <a:srgbClr val="3C3C3C"/>
                </a:solidFill>
              </a:rPr>
              <a:t>)</a:t>
            </a:r>
            <a:r>
              <a:rPr lang="ko-KR" altLang="en-US" sz="1600" dirty="0">
                <a:solidFill>
                  <a:srgbClr val="3C3C3C"/>
                </a:solidFill>
              </a:rPr>
              <a:t>으로 새로운 객체를 생성할 때 호출되는 생성자</a:t>
            </a:r>
            <a:r>
              <a:rPr lang="en-US" altLang="ko-KR" sz="1600" dirty="0">
                <a:solidFill>
                  <a:srgbClr val="3C3C3C"/>
                </a:solidFill>
              </a:rPr>
              <a:t>.</a:t>
            </a:r>
            <a:r>
              <a:rPr lang="ko-KR" altLang="en-US" sz="1600" dirty="0">
                <a:solidFill>
                  <a:srgbClr val="3C3C3C"/>
                </a:solidFill>
              </a:rPr>
              <a:t> </a:t>
            </a:r>
            <a:endParaRPr lang="en-US" altLang="ko-KR" sz="1600" dirty="0">
              <a:solidFill>
                <a:srgbClr val="3C3C3C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/>
              <a:t>C++11</a:t>
            </a:r>
            <a:r>
              <a:rPr lang="ko-KR" altLang="en-US" sz="1600" dirty="0"/>
              <a:t>에는 </a:t>
            </a:r>
            <a:r>
              <a:rPr lang="en-US" altLang="ko-KR" sz="1600" b="1" dirty="0" err="1"/>
              <a:t>Rvalue</a:t>
            </a:r>
            <a:r>
              <a:rPr lang="en-US" altLang="ko-KR" sz="1600" b="1" dirty="0"/>
              <a:t> reference</a:t>
            </a:r>
            <a:r>
              <a:rPr lang="ko-KR" altLang="en-US" sz="1600" dirty="0"/>
              <a:t>를 파라미터로 갖는 새로운 타입의 생성자가 </a:t>
            </a:r>
            <a:r>
              <a:rPr lang="ko-KR" altLang="en-US" sz="1600" b="1" dirty="0"/>
              <a:t>추가</a:t>
            </a:r>
            <a:endParaRPr lang="en-US" altLang="ko-KR" sz="1600" dirty="0">
              <a:solidFill>
                <a:srgbClr val="3C3C3C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3C3C3C"/>
              </a:solidFill>
            </a:endParaRPr>
          </a:p>
          <a:p>
            <a:r>
              <a:rPr lang="ko-KR" altLang="en-US" sz="1800" b="0" i="0" dirty="0" err="1">
                <a:solidFill>
                  <a:srgbClr val="3C3C3C"/>
                </a:solidFill>
                <a:effectLst/>
              </a:rPr>
              <a:t>우측값</a:t>
            </a:r>
            <a:endParaRPr lang="en-US" altLang="ko-KR" sz="1800" b="0" i="0" dirty="0">
              <a:solidFill>
                <a:srgbClr val="3C3C3C"/>
              </a:solidFill>
              <a:effectLst/>
            </a:endParaRPr>
          </a:p>
          <a:p>
            <a:pPr lvl="1"/>
            <a:r>
              <a:rPr lang="ko-KR" altLang="en-US" sz="1600" dirty="0" err="1">
                <a:solidFill>
                  <a:srgbClr val="3C3C3C"/>
                </a:solidFill>
              </a:rPr>
              <a:t>우측값</a:t>
            </a:r>
            <a:r>
              <a:rPr lang="en-US" altLang="ko-KR" sz="1600" dirty="0">
                <a:solidFill>
                  <a:srgbClr val="3C3C3C"/>
                </a:solidFill>
              </a:rPr>
              <a:t>(</a:t>
            </a:r>
            <a:r>
              <a:rPr lang="en-US" altLang="ko-KR" sz="1600" dirty="0" err="1">
                <a:solidFill>
                  <a:srgbClr val="3C3C3C"/>
                </a:solidFill>
              </a:rPr>
              <a:t>rvalue</a:t>
            </a:r>
            <a:r>
              <a:rPr lang="en-US" altLang="ko-KR" sz="1600" dirty="0">
                <a:solidFill>
                  <a:srgbClr val="3C3C3C"/>
                </a:solidFill>
              </a:rPr>
              <a:t>) </a:t>
            </a:r>
            <a:r>
              <a:rPr lang="ko-KR" altLang="en-US" sz="1600" dirty="0">
                <a:solidFill>
                  <a:srgbClr val="3C3C3C"/>
                </a:solidFill>
              </a:rPr>
              <a:t>란 상수나 임시객체같이 곧 사라지는 데이터를 말한다</a:t>
            </a:r>
            <a:r>
              <a:rPr lang="en-US" altLang="ko-KR" sz="1600" dirty="0">
                <a:solidFill>
                  <a:srgbClr val="3C3C3C"/>
                </a:solidFill>
              </a:rPr>
              <a:t>.</a:t>
            </a:r>
          </a:p>
          <a:p>
            <a:pPr lvl="1"/>
            <a:endParaRPr lang="en-US" altLang="ko-KR" sz="1600" dirty="0">
              <a:solidFill>
                <a:srgbClr val="3C3C3C"/>
              </a:solidFill>
            </a:endParaRPr>
          </a:p>
          <a:p>
            <a:r>
              <a:rPr lang="ko-KR" altLang="en-US" sz="1800" b="0" i="0" dirty="0" err="1">
                <a:solidFill>
                  <a:srgbClr val="3C3C3C"/>
                </a:solidFill>
                <a:effectLst/>
              </a:rPr>
              <a:t>우측값</a:t>
            </a:r>
            <a:r>
              <a:rPr lang="ko-KR" altLang="en-US" sz="1800" b="0" i="0" dirty="0">
                <a:solidFill>
                  <a:srgbClr val="3C3C3C"/>
                </a:solidFill>
                <a:effectLst/>
              </a:rPr>
              <a:t> 레퍼런스 </a:t>
            </a:r>
            <a:r>
              <a:rPr lang="en-US" altLang="ko-KR" sz="1800" b="0" i="0" dirty="0">
                <a:solidFill>
                  <a:srgbClr val="3C3C3C"/>
                </a:solidFill>
                <a:effectLst/>
              </a:rPr>
              <a:t>(</a:t>
            </a:r>
            <a:r>
              <a:rPr lang="en-US" altLang="ko-KR" sz="1800" b="0" i="0" dirty="0" err="1">
                <a:solidFill>
                  <a:srgbClr val="3C3C3C"/>
                </a:solidFill>
                <a:effectLst/>
              </a:rPr>
              <a:t>rvalue</a:t>
            </a:r>
            <a:r>
              <a:rPr lang="en-US" altLang="ko-KR" sz="1800" b="0" i="0" dirty="0">
                <a:solidFill>
                  <a:srgbClr val="3C3C3C"/>
                </a:solidFill>
                <a:effectLst/>
              </a:rPr>
              <a:t> reference)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err="1">
                <a:solidFill>
                  <a:srgbClr val="3C3C3C"/>
                </a:solidFill>
              </a:rPr>
              <a:t>우측값을</a:t>
            </a:r>
            <a:r>
              <a:rPr lang="en-US" altLang="ko-KR" sz="1600" dirty="0">
                <a:solidFill>
                  <a:srgbClr val="3C3C3C"/>
                </a:solidFill>
              </a:rPr>
              <a:t> </a:t>
            </a:r>
            <a:r>
              <a:rPr lang="ko-KR" altLang="en-US" sz="1600" dirty="0">
                <a:solidFill>
                  <a:srgbClr val="3C3C3C"/>
                </a:solidFill>
              </a:rPr>
              <a:t>참조하기 위해 </a:t>
            </a:r>
            <a:r>
              <a:rPr lang="ko-KR" altLang="en-US" sz="1600" dirty="0" err="1">
                <a:solidFill>
                  <a:srgbClr val="3C3C3C"/>
                </a:solidFill>
              </a:rPr>
              <a:t>우측값</a:t>
            </a:r>
            <a:r>
              <a:rPr lang="ko-KR" altLang="en-US" sz="1600" dirty="0">
                <a:solidFill>
                  <a:srgbClr val="3C3C3C"/>
                </a:solidFill>
              </a:rPr>
              <a:t> 참조 변수를 선언한다</a:t>
            </a:r>
            <a:r>
              <a:rPr lang="en-US" altLang="ko-KR" sz="1600" dirty="0">
                <a:solidFill>
                  <a:srgbClr val="3C3C3C"/>
                </a:solidFill>
              </a:rPr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Consolas" panose="020B0609020204030204" pitchFamily="49" charset="0"/>
              </a:rPr>
              <a:t>ClassName</a:t>
            </a:r>
            <a:r>
              <a:rPr lang="en-US" altLang="ko-KR" sz="1600" dirty="0">
                <a:latin typeface="Consolas" panose="020B0609020204030204" pitchFamily="49" charset="0"/>
              </a:rPr>
              <a:t> (</a:t>
            </a:r>
            <a:r>
              <a:rPr lang="en-US" altLang="ko-KR" sz="1600" dirty="0" err="1">
                <a:latin typeface="Consolas" panose="020B0609020204030204" pitchFamily="49" charset="0"/>
              </a:rPr>
              <a:t>ClassName</a:t>
            </a:r>
            <a:r>
              <a:rPr lang="en-US" altLang="ko-KR" sz="1600" b="1" dirty="0">
                <a:latin typeface="Consolas" panose="020B0609020204030204" pitchFamily="49" charset="0"/>
              </a:rPr>
              <a:t>&amp;&amp;</a:t>
            </a:r>
            <a:r>
              <a:rPr lang="en-US" altLang="ko-KR" sz="1600" dirty="0">
                <a:latin typeface="Consolas" panose="020B0609020204030204" pitchFamily="49" charset="0"/>
              </a:rPr>
              <a:t> );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</a:rPr>
              <a:t>//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</a:rPr>
              <a:t>rvalue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</a:rPr>
              <a:t> reference</a:t>
            </a:r>
            <a:endParaRPr lang="en-US" altLang="ko-KR" sz="1600" dirty="0">
              <a:solidFill>
                <a:srgbClr val="3C3C3C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3C3C3C"/>
              </a:solidFill>
            </a:endParaRPr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71878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E9F1DD-35AD-4ACC-B826-AAD94956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우측값</a:t>
            </a:r>
            <a:r>
              <a:rPr lang="ko-KR" altLang="en-US" dirty="0"/>
              <a:t> 참조 </a:t>
            </a:r>
            <a:r>
              <a:rPr lang="en-US" altLang="ko-KR" dirty="0"/>
              <a:t>( </a:t>
            </a:r>
            <a:r>
              <a:rPr lang="en-US" altLang="ko-KR" dirty="0" err="1"/>
              <a:t>LValue</a:t>
            </a:r>
            <a:r>
              <a:rPr lang="en-US" altLang="ko-KR" dirty="0"/>
              <a:t> Reference 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684299-0915-467B-A2AA-868FDCE29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600" b="1" i="0" dirty="0" err="1">
                <a:solidFill>
                  <a:srgbClr val="3C3C3C"/>
                </a:solidFill>
                <a:effectLst/>
              </a:rPr>
              <a:t>좌측값</a:t>
            </a:r>
            <a:r>
              <a:rPr lang="en-US" altLang="ko-KR" sz="1600" b="0" i="0" dirty="0">
                <a:solidFill>
                  <a:srgbClr val="3C3C3C"/>
                </a:solidFill>
                <a:effectLst/>
              </a:rPr>
              <a:t>(l-value)</a:t>
            </a:r>
            <a:r>
              <a:rPr lang="ko-KR" altLang="en-US" sz="1600" b="0" i="0" dirty="0">
                <a:solidFill>
                  <a:srgbClr val="3C3C3C"/>
                </a:solidFill>
                <a:effectLst/>
              </a:rPr>
              <a:t>과 </a:t>
            </a:r>
            <a:r>
              <a:rPr lang="ko-KR" altLang="en-US" sz="1600" b="1" i="0" dirty="0" err="1">
                <a:solidFill>
                  <a:srgbClr val="3C3C3C"/>
                </a:solidFill>
                <a:effectLst/>
              </a:rPr>
              <a:t>우측값</a:t>
            </a:r>
            <a:r>
              <a:rPr lang="en-US" altLang="ko-KR" sz="1600" b="0" i="0" dirty="0">
                <a:solidFill>
                  <a:srgbClr val="3C3C3C"/>
                </a:solidFill>
                <a:effectLst/>
              </a:rPr>
              <a:t> (</a:t>
            </a:r>
            <a:r>
              <a:rPr lang="en-US" altLang="ko-KR" sz="1600" b="0" i="0" dirty="0" err="1">
                <a:solidFill>
                  <a:srgbClr val="3C3C3C"/>
                </a:solidFill>
                <a:effectLst/>
              </a:rPr>
              <a:t>r-value</a:t>
            </a:r>
            <a:r>
              <a:rPr lang="en-US" altLang="ko-KR" sz="1600" b="0" i="0" dirty="0">
                <a:solidFill>
                  <a:srgbClr val="3C3C3C"/>
                </a:solidFill>
                <a:effectLst/>
              </a:rPr>
              <a:t>) : </a:t>
            </a:r>
            <a:r>
              <a:rPr lang="en-US" altLang="ko-KR" sz="1200" b="0" i="0" dirty="0">
                <a:solidFill>
                  <a:srgbClr val="3C3C3C"/>
                </a:solidFill>
                <a:effectLst/>
              </a:rPr>
              <a:t>C++</a:t>
            </a:r>
            <a:r>
              <a:rPr lang="ko-KR" altLang="en-US" sz="1200" b="0" i="0" dirty="0">
                <a:solidFill>
                  <a:srgbClr val="3C3C3C"/>
                </a:solidFill>
                <a:effectLst/>
              </a:rPr>
              <a:t>에서 표현식은 </a:t>
            </a:r>
            <a:r>
              <a:rPr lang="en-US" altLang="ko-KR" sz="1200" b="0" i="0" dirty="0" err="1">
                <a:solidFill>
                  <a:srgbClr val="3C3C3C"/>
                </a:solidFill>
                <a:effectLst/>
              </a:rPr>
              <a:t>Lvalue</a:t>
            </a:r>
            <a:r>
              <a:rPr lang="en-US" altLang="ko-KR" sz="1200" b="0" i="0" dirty="0">
                <a:solidFill>
                  <a:srgbClr val="3C3C3C"/>
                </a:solidFill>
                <a:effectLst/>
              </a:rPr>
              <a:t> </a:t>
            </a:r>
            <a:r>
              <a:rPr lang="ko-KR" altLang="en-US" sz="1200" b="0" i="0" dirty="0">
                <a:solidFill>
                  <a:srgbClr val="3C3C3C"/>
                </a:solidFill>
                <a:effectLst/>
              </a:rPr>
              <a:t>또는 </a:t>
            </a:r>
            <a:r>
              <a:rPr lang="en-US" altLang="ko-KR" sz="1200" b="0" i="0" dirty="0" err="1">
                <a:solidFill>
                  <a:srgbClr val="3C3C3C"/>
                </a:solidFill>
                <a:effectLst/>
              </a:rPr>
              <a:t>Rvalue</a:t>
            </a:r>
            <a:r>
              <a:rPr lang="en-US" altLang="ko-KR" sz="1200" b="0" i="0" dirty="0">
                <a:solidFill>
                  <a:srgbClr val="3C3C3C"/>
                </a:solidFill>
                <a:effectLst/>
              </a:rPr>
              <a:t> </a:t>
            </a:r>
            <a:r>
              <a:rPr lang="ko-KR" altLang="en-US" sz="1200" b="0" i="0" dirty="0">
                <a:solidFill>
                  <a:srgbClr val="3C3C3C"/>
                </a:solidFill>
                <a:effectLst/>
              </a:rPr>
              <a:t>이다</a:t>
            </a:r>
            <a:r>
              <a:rPr lang="en-US" altLang="ko-KR" sz="1200" b="0" i="0" dirty="0">
                <a:solidFill>
                  <a:srgbClr val="3C3C3C"/>
                </a:solidFill>
                <a:effectLst/>
              </a:rPr>
              <a:t>.</a:t>
            </a:r>
          </a:p>
          <a:p>
            <a:pPr marL="457200" lvl="1" indent="0">
              <a:buNone/>
            </a:pPr>
            <a:r>
              <a:rPr lang="en-US" altLang="ko-KR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int</a:t>
            </a:r>
            <a:r>
              <a:rPr lang="en-US" altLang="ko-KR" sz="1800" b="0" i="0" dirty="0">
                <a:solidFill>
                  <a:srgbClr val="3C3C3C"/>
                </a:solidFill>
                <a:effectLst/>
                <a:latin typeface="Consolas" panose="020B0609020204030204" pitchFamily="49" charset="0"/>
              </a:rPr>
              <a:t> a = 3;</a:t>
            </a:r>
          </a:p>
          <a:p>
            <a:pPr lvl="1"/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a 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는 메모리 상에서 존재하는 변수다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. a 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의 </a:t>
            </a:r>
            <a:r>
              <a:rPr lang="ko-KR" altLang="en-US" sz="1400" b="0" i="0" dirty="0" err="1">
                <a:solidFill>
                  <a:srgbClr val="3C3C3C"/>
                </a:solidFill>
                <a:effectLst/>
              </a:rPr>
              <a:t>주소값을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 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&amp; 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연산자를 통해 알아 낼 수 있다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.</a:t>
            </a:r>
          </a:p>
          <a:p>
            <a:pPr lvl="1"/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보통 이렇게 </a:t>
            </a:r>
            <a:r>
              <a:rPr lang="ko-KR" altLang="en-US" sz="1400" b="1" i="0" dirty="0" err="1">
                <a:solidFill>
                  <a:srgbClr val="3C3C3C"/>
                </a:solidFill>
                <a:effectLst/>
              </a:rPr>
              <a:t>주소값을</a:t>
            </a:r>
            <a:r>
              <a:rPr lang="ko-KR" altLang="en-US" sz="1400" b="1" i="0" dirty="0">
                <a:solidFill>
                  <a:srgbClr val="3C3C3C"/>
                </a:solidFill>
                <a:effectLst/>
              </a:rPr>
              <a:t> 취할 수 있는 값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을 </a:t>
            </a:r>
            <a:r>
              <a:rPr lang="en-US" altLang="ko-KR" sz="1400" b="1" i="0" dirty="0" err="1">
                <a:solidFill>
                  <a:srgbClr val="C00000"/>
                </a:solidFill>
                <a:effectLst/>
              </a:rPr>
              <a:t>LValue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 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라고 부른다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. </a:t>
            </a:r>
          </a:p>
          <a:p>
            <a:pPr lvl="1"/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오른쪽에 있는 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'3' 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은 위 표현식을 연산할 때만 잠깐 존재하고 연산후에는 사라지는 값이다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. </a:t>
            </a:r>
          </a:p>
          <a:p>
            <a:pPr lvl="1"/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즉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, '3' 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은 실체가 없는 값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. 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이렇게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, </a:t>
            </a:r>
            <a:r>
              <a:rPr lang="ko-KR" altLang="en-US" sz="1400" b="1" i="0" dirty="0" err="1">
                <a:solidFill>
                  <a:srgbClr val="3C3C3C"/>
                </a:solidFill>
                <a:effectLst/>
              </a:rPr>
              <a:t>주소값을</a:t>
            </a:r>
            <a:r>
              <a:rPr lang="ko-KR" altLang="en-US" sz="1400" b="1" i="0" dirty="0">
                <a:solidFill>
                  <a:srgbClr val="3C3C3C"/>
                </a:solidFill>
                <a:effectLst/>
              </a:rPr>
              <a:t> 취할 수 없는 값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을 </a:t>
            </a:r>
            <a:r>
              <a:rPr lang="en-US" altLang="ko-KR" sz="1400" b="1" i="0" dirty="0" err="1">
                <a:solidFill>
                  <a:srgbClr val="C00000"/>
                </a:solidFill>
                <a:effectLst/>
              </a:rPr>
              <a:t>RValue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 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라고 부른다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.</a:t>
            </a:r>
          </a:p>
          <a:p>
            <a:pPr lvl="1"/>
            <a:r>
              <a:rPr lang="en-US" altLang="ko-KR" sz="1400" b="0" i="0" dirty="0" err="1">
                <a:solidFill>
                  <a:srgbClr val="3C3C3C"/>
                </a:solidFill>
                <a:effectLst/>
              </a:rPr>
              <a:t>Lvalue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가 식의 왼쪽 오른쪽 모두 올 수 있는 반면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, </a:t>
            </a:r>
            <a:r>
              <a:rPr lang="en-US" altLang="ko-KR" sz="1400" b="0" i="0" dirty="0" err="1">
                <a:solidFill>
                  <a:srgbClr val="3C3C3C"/>
                </a:solidFill>
                <a:effectLst/>
              </a:rPr>
              <a:t>Rvalue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는 식의 오른쪽에만 존재해야 한다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600" b="1" dirty="0" err="1">
                <a:solidFill>
                  <a:srgbClr val="C00000"/>
                </a:solidFill>
              </a:rPr>
              <a:t>Lvalue</a:t>
            </a:r>
            <a:r>
              <a:rPr lang="en-US" altLang="ko-KR" sz="1600" b="1" dirty="0">
                <a:solidFill>
                  <a:srgbClr val="C00000"/>
                </a:solidFill>
              </a:rPr>
              <a:t> </a:t>
            </a:r>
            <a:r>
              <a:rPr lang="ko-KR" altLang="en-US" sz="1600" b="1" dirty="0" err="1">
                <a:solidFill>
                  <a:srgbClr val="C00000"/>
                </a:solidFill>
              </a:rPr>
              <a:t>참조자</a:t>
            </a:r>
            <a:endParaRPr lang="en-US" altLang="ko-KR" sz="1600" b="1" dirty="0">
              <a:solidFill>
                <a:srgbClr val="3C3C3C"/>
              </a:solidFill>
            </a:endParaRPr>
          </a:p>
          <a:p>
            <a:pPr lvl="1"/>
            <a:r>
              <a:rPr lang="en-US" altLang="ko-KR" sz="1400" dirty="0">
                <a:solidFill>
                  <a:srgbClr val="3C3C3C"/>
                </a:solidFill>
              </a:rPr>
              <a:t>C++ </a:t>
            </a:r>
            <a:r>
              <a:rPr lang="ko-KR" altLang="en-US" sz="1400" dirty="0">
                <a:solidFill>
                  <a:srgbClr val="3C3C3C"/>
                </a:solidFill>
              </a:rPr>
              <a:t>에서 </a:t>
            </a:r>
            <a:r>
              <a:rPr lang="en-US" altLang="ko-KR" sz="1400" dirty="0">
                <a:solidFill>
                  <a:srgbClr val="3C3C3C"/>
                </a:solidFill>
              </a:rPr>
              <a:t>int&amp; b = a; </a:t>
            </a:r>
            <a:r>
              <a:rPr lang="ko-KR" altLang="en-US" sz="1400" dirty="0">
                <a:solidFill>
                  <a:srgbClr val="3C3C3C"/>
                </a:solidFill>
              </a:rPr>
              <a:t>형태로 사용하는 </a:t>
            </a:r>
            <a:r>
              <a:rPr lang="en-US" altLang="ko-KR" sz="1400" dirty="0">
                <a:solidFill>
                  <a:srgbClr val="3C3C3C"/>
                </a:solidFill>
              </a:rPr>
              <a:t>reference(</a:t>
            </a:r>
            <a:r>
              <a:rPr lang="ko-KR" altLang="en-US" sz="1400" dirty="0" err="1">
                <a:solidFill>
                  <a:srgbClr val="3C3C3C"/>
                </a:solidFill>
              </a:rPr>
              <a:t>참조자</a:t>
            </a:r>
            <a:r>
              <a:rPr lang="en-US" altLang="ko-KR" sz="1400" dirty="0">
                <a:solidFill>
                  <a:srgbClr val="3C3C3C"/>
                </a:solidFill>
              </a:rPr>
              <a:t>, </a:t>
            </a:r>
            <a:r>
              <a:rPr lang="ko-KR" altLang="en-US" sz="1400" dirty="0">
                <a:solidFill>
                  <a:srgbClr val="3C3C3C"/>
                </a:solidFill>
              </a:rPr>
              <a:t>참조변수</a:t>
            </a:r>
            <a:r>
              <a:rPr lang="en-US" altLang="ko-KR" sz="1400" dirty="0">
                <a:solidFill>
                  <a:srgbClr val="3C3C3C"/>
                </a:solidFill>
              </a:rPr>
              <a:t>)</a:t>
            </a:r>
            <a:r>
              <a:rPr lang="ko-KR" altLang="en-US" sz="1400" dirty="0">
                <a:solidFill>
                  <a:srgbClr val="3C3C3C"/>
                </a:solidFill>
              </a:rPr>
              <a:t>는 </a:t>
            </a:r>
            <a:r>
              <a:rPr lang="en-US" altLang="ko-KR" sz="1400" b="1" dirty="0" err="1"/>
              <a:t>Lvalue</a:t>
            </a:r>
            <a:r>
              <a:rPr lang="en-US" altLang="ko-KR" sz="1400" b="1" dirty="0"/>
              <a:t> </a:t>
            </a:r>
            <a:r>
              <a:rPr lang="ko-KR" altLang="en-US" sz="1400" b="1" dirty="0" err="1"/>
              <a:t>참조자</a:t>
            </a:r>
            <a:r>
              <a:rPr lang="ko-KR" altLang="en-US" sz="1400" dirty="0" err="1">
                <a:solidFill>
                  <a:srgbClr val="3C3C3C"/>
                </a:solidFill>
              </a:rPr>
              <a:t>이다</a:t>
            </a:r>
            <a:r>
              <a:rPr lang="en-US" altLang="ko-KR" sz="1400" dirty="0">
                <a:solidFill>
                  <a:srgbClr val="3C3C3C"/>
                </a:solidFill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sz="1600" b="1" i="0" dirty="0" err="1">
                <a:solidFill>
                  <a:srgbClr val="C00000"/>
                </a:solidFill>
                <a:effectLst/>
              </a:rPr>
              <a:t>Rvalue</a:t>
            </a:r>
            <a:r>
              <a:rPr lang="en-US" altLang="ko-KR" sz="1600" b="1" i="0" dirty="0">
                <a:solidFill>
                  <a:srgbClr val="C00000"/>
                </a:solidFill>
                <a:effectLst/>
              </a:rPr>
              <a:t> </a:t>
            </a:r>
            <a:r>
              <a:rPr lang="ko-KR" altLang="en-US" sz="1600" b="1" i="0" dirty="0" err="1">
                <a:solidFill>
                  <a:srgbClr val="C00000"/>
                </a:solidFill>
                <a:effectLst/>
              </a:rPr>
              <a:t>참조자</a:t>
            </a:r>
            <a:endParaRPr lang="en-US" altLang="ko-KR" sz="1600" b="0" i="0" dirty="0">
              <a:solidFill>
                <a:srgbClr val="3C3C3C"/>
              </a:solidFill>
              <a:effectLst/>
            </a:endParaRPr>
          </a:p>
          <a:p>
            <a:pPr lvl="1"/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C++11 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표준에서는 </a:t>
            </a:r>
            <a:r>
              <a:rPr lang="en-US" altLang="ko-KR" sz="1400" b="0" i="0" dirty="0" err="1">
                <a:solidFill>
                  <a:srgbClr val="3C3C3C"/>
                </a:solidFill>
                <a:effectLst/>
              </a:rPr>
              <a:t>Rvalue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를 참조할 수 있는 </a:t>
            </a:r>
            <a:r>
              <a:rPr lang="en-US" altLang="ko-KR" sz="1400" b="1" i="0" dirty="0" err="1">
                <a:effectLst/>
              </a:rPr>
              <a:t>Rvalue</a:t>
            </a:r>
            <a:r>
              <a:rPr lang="en-US" altLang="ko-KR" sz="1400" b="1" i="0" dirty="0">
                <a:effectLst/>
              </a:rPr>
              <a:t> </a:t>
            </a:r>
            <a:r>
              <a:rPr lang="ko-KR" altLang="en-US" sz="1400" b="1" i="0" dirty="0">
                <a:effectLst/>
              </a:rPr>
              <a:t>참조자</a:t>
            </a:r>
            <a:r>
              <a:rPr lang="ko-KR" altLang="en-US" sz="1400" b="0" i="0" dirty="0">
                <a:solidFill>
                  <a:srgbClr val="3C3C3C"/>
                </a:solidFill>
                <a:effectLst/>
              </a:rPr>
              <a:t>를 추가했다</a:t>
            </a:r>
            <a:r>
              <a:rPr lang="en-US" altLang="ko-KR" sz="1400" b="0" i="0" dirty="0">
                <a:solidFill>
                  <a:srgbClr val="3C3C3C"/>
                </a:solidFill>
                <a:effectLst/>
              </a:rPr>
              <a:t>.</a:t>
            </a:r>
          </a:p>
          <a:p>
            <a:pPr marL="0" indent="0">
              <a:buNone/>
            </a:pPr>
            <a:r>
              <a:rPr lang="en-US" altLang="ko-KR" sz="1600" dirty="0">
                <a:solidFill>
                  <a:srgbClr val="3C3C3C"/>
                </a:solidFill>
              </a:rPr>
              <a:t>       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800" dirty="0">
                <a:solidFill>
                  <a:srgbClr val="3C3C3C"/>
                </a:solidFill>
                <a:latin typeface="Consolas" panose="020B0609020204030204" pitchFamily="49" charset="0"/>
              </a:rPr>
              <a:t>&amp; </a:t>
            </a:r>
            <a:r>
              <a:rPr lang="en-US" altLang="ko-KR" sz="1800" dirty="0" err="1">
                <a:solidFill>
                  <a:srgbClr val="3C3C3C"/>
                </a:solidFill>
                <a:latin typeface="Consolas" panose="020B0609020204030204" pitchFamily="49" charset="0"/>
              </a:rPr>
              <a:t>lr</a:t>
            </a:r>
            <a:r>
              <a:rPr lang="en-US" altLang="ko-KR" sz="1800" dirty="0">
                <a:solidFill>
                  <a:srgbClr val="3C3C3C"/>
                </a:solidFill>
                <a:latin typeface="Consolas" panose="020B0609020204030204" pitchFamily="49" charset="0"/>
              </a:rPr>
              <a:t> = a;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//l-value reference</a:t>
            </a:r>
            <a:r>
              <a:rPr lang="en-US" altLang="ko-KR" sz="1800" dirty="0">
                <a:solidFill>
                  <a:srgbClr val="3C3C3C"/>
                </a:solidFill>
                <a:latin typeface="Consolas" panose="020B0609020204030204" pitchFamily="49" charset="0"/>
              </a:rPr>
              <a:t> 	const</a:t>
            </a:r>
            <a:r>
              <a:rPr lang="ko-KR" altLang="en-US" sz="1800" dirty="0">
                <a:solidFill>
                  <a:srgbClr val="3C3C3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800" dirty="0">
                <a:solidFill>
                  <a:srgbClr val="3C3C3C"/>
                </a:solidFill>
                <a:latin typeface="Consolas" panose="020B0609020204030204" pitchFamily="49" charset="0"/>
              </a:rPr>
              <a:t>&amp; </a:t>
            </a:r>
            <a:r>
              <a:rPr lang="en-US" altLang="ko-KR" sz="1800" dirty="0" err="1">
                <a:solidFill>
                  <a:srgbClr val="3C3C3C"/>
                </a:solidFill>
                <a:latin typeface="Consolas" panose="020B0609020204030204" pitchFamily="49" charset="0"/>
              </a:rPr>
              <a:t>clr</a:t>
            </a:r>
            <a:r>
              <a:rPr lang="en-US" altLang="ko-KR" sz="1800" dirty="0">
                <a:solidFill>
                  <a:srgbClr val="3C3C3C"/>
                </a:solidFill>
                <a:latin typeface="Consolas" panose="020B0609020204030204" pitchFamily="49" charset="0"/>
              </a:rPr>
              <a:t> = 1;	</a:t>
            </a:r>
            <a:r>
              <a:rPr lang="en-US" altLang="ko-KR" sz="1800" dirty="0">
                <a:solidFill>
                  <a:srgbClr val="0066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//const l-value reference</a:t>
            </a:r>
            <a:r>
              <a:rPr lang="en-US" altLang="ko-KR" sz="1800" dirty="0">
                <a:solidFill>
                  <a:srgbClr val="3C3C3C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algn="l">
              <a:buNone/>
            </a:pPr>
            <a:r>
              <a:rPr lang="en-US" altLang="ko-KR" sz="1800" b="0" i="0" dirty="0">
                <a:solidFill>
                  <a:srgbClr val="3C3C3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dirty="0">
                <a:solidFill>
                  <a:srgbClr val="3C3C3C"/>
                </a:solidFill>
                <a:latin typeface="Consolas" panose="020B0609020204030204" pitchFamily="49" charset="0"/>
              </a:rPr>
              <a:t>&amp;&amp; </a:t>
            </a:r>
            <a:r>
              <a:rPr lang="en-US" altLang="ko-KR" sz="1800" dirty="0" err="1">
                <a:solidFill>
                  <a:srgbClr val="3C3C3C"/>
                </a:solidFill>
                <a:latin typeface="Consolas" panose="020B0609020204030204" pitchFamily="49" charset="0"/>
              </a:rPr>
              <a:t>rr</a:t>
            </a:r>
            <a:r>
              <a:rPr lang="en-US" altLang="ko-KR" sz="1800" dirty="0">
                <a:solidFill>
                  <a:srgbClr val="3C3C3C"/>
                </a:solidFill>
                <a:latin typeface="Consolas" panose="020B0609020204030204" pitchFamily="49" charset="0"/>
              </a:rPr>
              <a:t> = 1;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//</a:t>
            </a:r>
            <a:r>
              <a:rPr lang="en-US" altLang="ko-KR" sz="1400" dirty="0" err="1">
                <a:solidFill>
                  <a:srgbClr val="006600"/>
                </a:solidFill>
                <a:latin typeface="Consolas" panose="020B0609020204030204" pitchFamily="49" charset="0"/>
              </a:rPr>
              <a:t>r-value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</a:rPr>
              <a:t> reference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70771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769E1E-169F-49B1-A3A1-6D035AAFD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이동생성자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C0A1B-ED92-4387-A8F5-63ECB138C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dirty="0"/>
              <a:t>C++ </a:t>
            </a:r>
            <a:r>
              <a:rPr lang="ko-KR" altLang="en-US" sz="1600" dirty="0"/>
              <a:t>클래스에는 </a:t>
            </a:r>
            <a:r>
              <a:rPr lang="ko-KR" altLang="en-US" sz="1600" dirty="0">
                <a:solidFill>
                  <a:srgbClr val="0070C0"/>
                </a:solidFill>
              </a:rPr>
              <a:t>기본 생성자</a:t>
            </a:r>
            <a:r>
              <a:rPr lang="en-US" altLang="ko-KR" sz="1600" dirty="0"/>
              <a:t>, </a:t>
            </a:r>
            <a:r>
              <a:rPr lang="ko-KR" altLang="en-US" sz="1600" dirty="0">
                <a:solidFill>
                  <a:srgbClr val="0070C0"/>
                </a:solidFill>
              </a:rPr>
              <a:t>복사 생성자</a:t>
            </a:r>
            <a:r>
              <a:rPr lang="en-US" altLang="ko-KR" sz="1600" dirty="0"/>
              <a:t>, </a:t>
            </a:r>
            <a:r>
              <a:rPr lang="ko-KR" altLang="en-US" sz="1600" dirty="0">
                <a:solidFill>
                  <a:srgbClr val="0070C0"/>
                </a:solidFill>
              </a:rPr>
              <a:t>이동 생성자</a:t>
            </a:r>
            <a:r>
              <a:rPr lang="ko-KR" altLang="en-US" sz="1600" dirty="0"/>
              <a:t>가 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C++11</a:t>
            </a:r>
            <a:r>
              <a:rPr lang="ko-KR" altLang="en-US" sz="1600" dirty="0"/>
              <a:t>에는 </a:t>
            </a:r>
            <a:r>
              <a:rPr lang="en-US" altLang="ko-KR" sz="1600" b="1" dirty="0" err="1"/>
              <a:t>Rvalue</a:t>
            </a:r>
            <a:r>
              <a:rPr lang="en-US" altLang="ko-KR" sz="1600" b="1" dirty="0"/>
              <a:t> reference</a:t>
            </a:r>
            <a:r>
              <a:rPr lang="ko-KR" altLang="en-US" sz="1600" dirty="0"/>
              <a:t>를 파라미터로 갖는 새로운 타입의 생성자가 </a:t>
            </a:r>
            <a:r>
              <a:rPr lang="ko-KR" altLang="en-US" sz="1600" b="1" dirty="0"/>
              <a:t>추가</a:t>
            </a:r>
            <a:r>
              <a:rPr lang="ko-KR" altLang="en-US" sz="1600" dirty="0"/>
              <a:t>되었으며</a:t>
            </a:r>
            <a:r>
              <a:rPr lang="en-US" altLang="ko-KR" sz="1600" dirty="0"/>
              <a:t>, </a:t>
            </a:r>
          </a:p>
          <a:p>
            <a:pPr marL="0" indent="0">
              <a:buNone/>
            </a:pPr>
            <a:r>
              <a:rPr lang="ko-KR" altLang="en-US" sz="1600" dirty="0"/>
              <a:t>   이를 </a:t>
            </a:r>
            <a:r>
              <a:rPr lang="ko-KR" altLang="en-US" sz="1600" b="1" dirty="0">
                <a:solidFill>
                  <a:srgbClr val="C00000"/>
                </a:solidFill>
              </a:rPr>
              <a:t>이동 생성자</a:t>
            </a:r>
            <a:r>
              <a:rPr lang="en-US" altLang="ko-KR" sz="1600" dirty="0"/>
              <a:t>(move constructor)</a:t>
            </a:r>
            <a:r>
              <a:rPr lang="ko-KR" altLang="en-US" sz="1600" dirty="0"/>
              <a:t>라고 한다</a:t>
            </a:r>
            <a:r>
              <a:rPr lang="en-US" altLang="ko-KR" sz="1600" dirty="0"/>
              <a:t>. </a:t>
            </a:r>
          </a:p>
          <a:p>
            <a:pPr marL="0" indent="0">
              <a:buNone/>
            </a:pPr>
            <a:r>
              <a:rPr lang="en-US" altLang="ko-KR" sz="1600" dirty="0">
                <a:latin typeface="Consolas" panose="020B0609020204030204" pitchFamily="49" charset="0"/>
              </a:rPr>
              <a:t>	</a:t>
            </a:r>
            <a:r>
              <a:rPr lang="en-US" altLang="ko-KR" sz="1600" dirty="0" err="1">
                <a:latin typeface="Consolas" panose="020B0609020204030204" pitchFamily="49" charset="0"/>
              </a:rPr>
              <a:t>ClassName</a:t>
            </a:r>
            <a:r>
              <a:rPr lang="en-US" altLang="ko-KR" sz="1600" dirty="0">
                <a:latin typeface="Consolas" panose="020B0609020204030204" pitchFamily="49" charset="0"/>
              </a:rPr>
              <a:t> (</a:t>
            </a:r>
            <a:r>
              <a:rPr lang="en-US" altLang="ko-KR" sz="1600" dirty="0" err="1">
                <a:latin typeface="Consolas" panose="020B0609020204030204" pitchFamily="49" charset="0"/>
              </a:rPr>
              <a:t>ClassName</a:t>
            </a:r>
            <a:r>
              <a:rPr lang="en-US" altLang="ko-KR" sz="1600" b="1" dirty="0">
                <a:latin typeface="Consolas" panose="020B0609020204030204" pitchFamily="49" charset="0"/>
              </a:rPr>
              <a:t>&amp;&amp;</a:t>
            </a:r>
            <a:r>
              <a:rPr lang="en-US" altLang="ko-KR" sz="1600" dirty="0">
                <a:latin typeface="Consolas" panose="020B0609020204030204" pitchFamily="49" charset="0"/>
              </a:rPr>
              <a:t> );  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</a:rPr>
              <a:t>//</a:t>
            </a:r>
            <a:r>
              <a:rPr lang="en-US" altLang="ko-KR" sz="1600" dirty="0" err="1">
                <a:solidFill>
                  <a:srgbClr val="006600"/>
                </a:solidFill>
                <a:latin typeface="Consolas" panose="020B0609020204030204" pitchFamily="49" charset="0"/>
              </a:rPr>
              <a:t>rvalue</a:t>
            </a:r>
            <a:r>
              <a:rPr lang="en-US" altLang="ko-KR" sz="1600" dirty="0">
                <a:solidFill>
                  <a:srgbClr val="006600"/>
                </a:solidFill>
                <a:latin typeface="Consolas" panose="020B0609020204030204" pitchFamily="49" charset="0"/>
              </a:rPr>
              <a:t> reference</a:t>
            </a:r>
          </a:p>
          <a:p>
            <a:pPr marL="0" indent="0">
              <a:buNone/>
            </a:pPr>
            <a:endParaRPr lang="en-US" altLang="ko-KR" sz="1600" dirty="0"/>
          </a:p>
          <a:p>
            <a:r>
              <a:rPr lang="ko-KR" altLang="en-US" sz="1600" b="1" dirty="0"/>
              <a:t>이동생성자 </a:t>
            </a:r>
            <a:endParaRPr lang="en-US" altLang="ko-KR" sz="1600" dirty="0"/>
          </a:p>
          <a:p>
            <a:pPr lvl="1"/>
            <a:r>
              <a:rPr lang="ko-KR" altLang="en-US" sz="1400" dirty="0"/>
              <a:t>이동 생성자는 호출되면 </a:t>
            </a:r>
            <a:r>
              <a:rPr lang="ko-KR" altLang="en-US" sz="1400" b="1" dirty="0"/>
              <a:t>얕은 복사</a:t>
            </a:r>
            <a:r>
              <a:rPr lang="en-US" altLang="ko-KR" sz="1400" b="1" dirty="0"/>
              <a:t>(shallow copy)</a:t>
            </a:r>
            <a:r>
              <a:rPr lang="ko-KR" altLang="en-US" sz="1400" dirty="0"/>
              <a:t>를 하고 </a:t>
            </a:r>
            <a:endParaRPr lang="en-US" altLang="ko-KR" sz="1400" dirty="0"/>
          </a:p>
          <a:p>
            <a:pPr lvl="1"/>
            <a:r>
              <a:rPr lang="ko-KR" altLang="en-US" sz="1400" dirty="0"/>
              <a:t>원본의 </a:t>
            </a:r>
            <a:r>
              <a:rPr lang="ko-KR" altLang="en-US" sz="1400" b="1" dirty="0"/>
              <a:t>소유권</a:t>
            </a:r>
            <a:r>
              <a:rPr lang="ko-KR" altLang="en-US" sz="1400" dirty="0"/>
              <a:t>을 대상으로 이전</a:t>
            </a:r>
            <a:r>
              <a:rPr lang="en-US" altLang="ko-KR" sz="1400" dirty="0"/>
              <a:t>(move)</a:t>
            </a:r>
            <a:r>
              <a:rPr lang="ko-KR" altLang="en-US" sz="1400" dirty="0"/>
              <a:t>하는 방식으로 객체를 생성한다</a:t>
            </a:r>
            <a:r>
              <a:rPr lang="en-US" altLang="ko-KR" sz="1400" dirty="0"/>
              <a:t>.  </a:t>
            </a:r>
          </a:p>
          <a:p>
            <a:pPr lvl="1"/>
            <a:r>
              <a:rPr lang="ko-KR" altLang="en-US" sz="1400" dirty="0"/>
              <a:t>포인터인 </a:t>
            </a:r>
            <a:r>
              <a:rPr lang="ko-KR" altLang="en-US" sz="1400" b="1" dirty="0"/>
              <a:t>원본 객체를 </a:t>
            </a:r>
            <a:r>
              <a:rPr lang="en-US" altLang="ko-KR" sz="1400" b="1" dirty="0" err="1"/>
              <a:t>nullptr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로 초기화</a:t>
            </a:r>
            <a:r>
              <a:rPr lang="ko-KR" altLang="en-US" sz="1400" dirty="0"/>
              <a:t>하여 접근할 수 없게 만든다</a:t>
            </a:r>
            <a:r>
              <a:rPr lang="en-US" altLang="ko-KR" sz="1400" dirty="0"/>
              <a:t>.</a:t>
            </a:r>
          </a:p>
          <a:p>
            <a:pPr lvl="1"/>
            <a:endParaRPr lang="en-US" altLang="ko-KR" sz="1600" dirty="0"/>
          </a:p>
          <a:p>
            <a:r>
              <a:rPr lang="ko-KR" altLang="en-US" sz="1600" dirty="0"/>
              <a:t>이동</a:t>
            </a:r>
            <a:r>
              <a:rPr lang="en-US" altLang="ko-KR" sz="1600" dirty="0"/>
              <a:t>(move)</a:t>
            </a:r>
          </a:p>
          <a:p>
            <a:pPr lvl="1"/>
            <a:r>
              <a:rPr lang="ko-KR" altLang="en-US" sz="1400" dirty="0"/>
              <a:t>데이터를 </a:t>
            </a:r>
            <a:r>
              <a:rPr lang="ko-KR" altLang="en-US" sz="1400" b="1" dirty="0"/>
              <a:t>복사</a:t>
            </a:r>
            <a:r>
              <a:rPr lang="en-US" altLang="ko-KR" sz="1400" dirty="0"/>
              <a:t>(</a:t>
            </a:r>
            <a:r>
              <a:rPr lang="en-US" altLang="ko-KR" sz="1400" b="1" dirty="0">
                <a:solidFill>
                  <a:srgbClr val="C00000"/>
                </a:solidFill>
              </a:rPr>
              <a:t>copy</a:t>
            </a:r>
            <a:r>
              <a:rPr lang="en-US" altLang="ko-KR" sz="1400" dirty="0"/>
              <a:t>)</a:t>
            </a:r>
            <a:r>
              <a:rPr lang="ko-KR" altLang="en-US" sz="1400" dirty="0"/>
              <a:t>하는 것이 아니라</a:t>
            </a:r>
            <a:r>
              <a:rPr lang="en-US" altLang="ko-KR" sz="1400" dirty="0"/>
              <a:t>, </a:t>
            </a:r>
            <a:r>
              <a:rPr lang="ko-KR" altLang="en-US" sz="1400" b="1" dirty="0">
                <a:solidFill>
                  <a:srgbClr val="C00000"/>
                </a:solidFill>
              </a:rPr>
              <a:t>주소</a:t>
            </a:r>
            <a:r>
              <a:rPr lang="ko-KR" altLang="en-US" sz="1400" dirty="0"/>
              <a:t>만 치환해서 </a:t>
            </a:r>
            <a:r>
              <a:rPr lang="ko-KR" altLang="en-US" sz="1400" b="1" dirty="0"/>
              <a:t>이동</a:t>
            </a:r>
            <a:r>
              <a:rPr lang="en-US" altLang="ko-KR" sz="1400" dirty="0"/>
              <a:t>(</a:t>
            </a:r>
            <a:r>
              <a:rPr lang="en-US" altLang="ko-KR" sz="1400" b="1" dirty="0">
                <a:solidFill>
                  <a:srgbClr val="C00000"/>
                </a:solidFill>
              </a:rPr>
              <a:t>move</a:t>
            </a:r>
            <a:r>
              <a:rPr lang="en-US" altLang="ko-KR" sz="1400" dirty="0"/>
              <a:t>)</a:t>
            </a:r>
            <a:r>
              <a:rPr lang="ko-KR" altLang="en-US" sz="1400" dirty="0"/>
              <a:t>된 효과를 만드는 것</a:t>
            </a:r>
            <a:r>
              <a:rPr lang="en-US" altLang="ko-KR" sz="1400" dirty="0"/>
              <a:t>. (</a:t>
            </a:r>
            <a:r>
              <a:rPr lang="ko-KR" altLang="en-US" sz="1400" dirty="0"/>
              <a:t>성능 향상</a:t>
            </a:r>
            <a:r>
              <a:rPr lang="en-US" altLang="ko-KR" sz="1400" dirty="0"/>
              <a:t>)</a:t>
            </a:r>
          </a:p>
          <a:p>
            <a:pPr lvl="1"/>
            <a:r>
              <a:rPr lang="en-US" altLang="ko-KR" sz="1400" dirty="0"/>
              <a:t>C++11 -  </a:t>
            </a:r>
            <a:r>
              <a:rPr lang="en-US" altLang="ko-KR" sz="1400" b="1" dirty="0"/>
              <a:t>std::move</a:t>
            </a:r>
            <a:r>
              <a:rPr lang="en-US" altLang="ko-KR" sz="1400" dirty="0"/>
              <a:t>( ) </a:t>
            </a:r>
            <a:r>
              <a:rPr lang="ko-KR" altLang="en-US" sz="1400" dirty="0"/>
              <a:t>함수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r-value</a:t>
            </a:r>
            <a:r>
              <a:rPr lang="ko-KR" altLang="en-US" sz="1400" dirty="0"/>
              <a:t>로 변환하여 리턴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94334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0A518-A6FF-43E6-8831-1FEAF068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이동생성자의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5AAF89-A2EC-4E12-BE84-10979AB85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600" dirty="0"/>
              <a:t>이동 생성자의 호출</a:t>
            </a:r>
            <a:endParaRPr lang="en-US" altLang="ko-KR" sz="1600" dirty="0"/>
          </a:p>
          <a:p>
            <a:pPr lvl="1"/>
            <a:r>
              <a:rPr lang="en-US" altLang="ko-KR" sz="1600" dirty="0"/>
              <a:t>Person A;</a:t>
            </a:r>
          </a:p>
          <a:p>
            <a:pPr lvl="1"/>
            <a:r>
              <a:rPr lang="en-US" altLang="ko-KR" sz="1600" dirty="0"/>
              <a:t>Person B = A; 	           //</a:t>
            </a:r>
            <a:r>
              <a:rPr lang="ko-KR" altLang="en-US" sz="1600" dirty="0"/>
              <a:t>복사 생성자 호출</a:t>
            </a:r>
            <a:endParaRPr lang="en-US" altLang="ko-KR" sz="1600" dirty="0"/>
          </a:p>
          <a:p>
            <a:pPr lvl="1"/>
            <a:r>
              <a:rPr lang="en-US" altLang="ko-KR" sz="1600" dirty="0"/>
              <a:t>Person C; </a:t>
            </a:r>
          </a:p>
          <a:p>
            <a:pPr lvl="1"/>
            <a:r>
              <a:rPr lang="en-US" altLang="ko-KR" sz="1600" dirty="0"/>
              <a:t>C = A; 		           //</a:t>
            </a:r>
            <a:r>
              <a:rPr lang="ko-KR" altLang="en-US" sz="1600" dirty="0"/>
              <a:t>복사</a:t>
            </a:r>
            <a:r>
              <a:rPr lang="en-US" altLang="ko-KR" sz="1600" dirty="0"/>
              <a:t> </a:t>
            </a:r>
            <a:r>
              <a:rPr lang="ko-KR" altLang="en-US" sz="1600" dirty="0"/>
              <a:t>대입 연산자 호출</a:t>
            </a:r>
            <a:endParaRPr lang="en-US" altLang="ko-KR" sz="1600" dirty="0"/>
          </a:p>
          <a:p>
            <a:pPr lvl="1"/>
            <a:r>
              <a:rPr lang="en-US" altLang="ko-KR" sz="1600" dirty="0"/>
              <a:t>Person D = std::move(A);        //</a:t>
            </a:r>
            <a:r>
              <a:rPr lang="ko-KR" altLang="en-US" sz="1600" dirty="0"/>
              <a:t>이동</a:t>
            </a:r>
            <a:r>
              <a:rPr lang="en-US" altLang="ko-KR" sz="1600" dirty="0"/>
              <a:t> </a:t>
            </a:r>
            <a:r>
              <a:rPr lang="ko-KR" altLang="en-US" sz="1600" dirty="0"/>
              <a:t>생성자 호출</a:t>
            </a:r>
          </a:p>
          <a:p>
            <a:pPr lvl="1"/>
            <a:r>
              <a:rPr lang="en-US" altLang="ko-KR" sz="1600" dirty="0"/>
              <a:t>D = Person();                       //</a:t>
            </a:r>
            <a:r>
              <a:rPr lang="ko-KR" altLang="en-US" sz="1600" dirty="0"/>
              <a:t>이동</a:t>
            </a:r>
            <a:r>
              <a:rPr lang="en-US" altLang="ko-KR" sz="1600" dirty="0"/>
              <a:t> </a:t>
            </a:r>
            <a:r>
              <a:rPr lang="ko-KR" altLang="en-US" sz="1600" dirty="0"/>
              <a:t>대입 연산자 호출 </a:t>
            </a:r>
            <a:r>
              <a:rPr lang="en-US" altLang="ko-KR" sz="1600" dirty="0"/>
              <a:t>	</a:t>
            </a:r>
            <a:endParaRPr lang="ko-KR" altLang="en-US" sz="1600" dirty="0"/>
          </a:p>
          <a:p>
            <a:endParaRPr lang="en-US" altLang="ko-KR" sz="1600" b="1" dirty="0"/>
          </a:p>
          <a:p>
            <a:r>
              <a:rPr lang="ko-KR" altLang="en-US" sz="1600" b="1" dirty="0"/>
              <a:t>이동생성자의 호출 조건</a:t>
            </a:r>
          </a:p>
          <a:p>
            <a:pPr lvl="1"/>
            <a:r>
              <a:rPr lang="en-US" altLang="ko-KR" sz="1400" dirty="0"/>
              <a:t>1. </a:t>
            </a:r>
            <a:r>
              <a:rPr lang="ko-KR" altLang="en-US" sz="1400" b="1" dirty="0"/>
              <a:t>임시객체</a:t>
            </a:r>
            <a:r>
              <a:rPr lang="ko-KR" altLang="en-US" sz="1400" dirty="0"/>
              <a:t>를 전달할 때</a:t>
            </a:r>
            <a:r>
              <a:rPr lang="en-US" altLang="ko-KR" sz="1400" dirty="0"/>
              <a:t>.   Person()</a:t>
            </a:r>
          </a:p>
          <a:p>
            <a:pPr lvl="1"/>
            <a:r>
              <a:rPr lang="en-US" altLang="ko-KR" sz="1400" dirty="0"/>
              <a:t>2. </a:t>
            </a:r>
            <a:r>
              <a:rPr lang="en-US" altLang="ko-KR" sz="1400" b="1" dirty="0"/>
              <a:t>std::move()</a:t>
            </a:r>
            <a:r>
              <a:rPr lang="ko-KR" altLang="en-US" sz="1400" dirty="0"/>
              <a:t>를 사용하여 인자를 </a:t>
            </a:r>
            <a:r>
              <a:rPr lang="en-US" altLang="ko-KR" sz="1400" dirty="0" err="1"/>
              <a:t>r-value</a:t>
            </a:r>
            <a:r>
              <a:rPr lang="ko-KR" altLang="en-US" sz="1400" dirty="0"/>
              <a:t>참조자로 변환하여 전달할 때</a:t>
            </a:r>
            <a:r>
              <a:rPr lang="en-US" altLang="ko-KR" sz="14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이동 생성자와 복사 생성자를 </a:t>
            </a:r>
            <a:r>
              <a:rPr lang="ko-KR" altLang="en-US" sz="1600" b="1" dirty="0"/>
              <a:t>모두 구현해 놓으면</a:t>
            </a:r>
            <a:r>
              <a:rPr lang="en-US" altLang="ko-KR" sz="1600" dirty="0"/>
              <a:t>, </a:t>
            </a:r>
            <a:r>
              <a:rPr lang="ko-KR" altLang="en-US" sz="1600" dirty="0"/>
              <a:t>코드 상황에 따라 </a:t>
            </a:r>
            <a:r>
              <a:rPr lang="ko-KR" altLang="en-US" sz="1600" b="1" dirty="0">
                <a:solidFill>
                  <a:srgbClr val="C00000"/>
                </a:solidFill>
              </a:rPr>
              <a:t>복사</a:t>
            </a:r>
            <a:r>
              <a:rPr lang="ko-KR" altLang="en-US" sz="1600" dirty="0"/>
              <a:t>가 되거나</a:t>
            </a:r>
            <a:r>
              <a:rPr lang="en-US" altLang="ko-KR" sz="1600" dirty="0"/>
              <a:t>, </a:t>
            </a:r>
            <a:r>
              <a:rPr lang="ko-KR" altLang="en-US" sz="1600" b="1" dirty="0">
                <a:solidFill>
                  <a:srgbClr val="C00000"/>
                </a:solidFill>
              </a:rPr>
              <a:t>이동</a:t>
            </a:r>
            <a:r>
              <a:rPr lang="ko-KR" altLang="en-US" sz="1600" dirty="0"/>
              <a:t>이 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lvl="1"/>
            <a:r>
              <a:rPr lang="ko-KR" altLang="en-US" sz="1400" dirty="0"/>
              <a:t>사라질 </a:t>
            </a:r>
            <a:r>
              <a:rPr lang="ko-KR" altLang="en-US" sz="1400" dirty="0" err="1"/>
              <a:t>우측값</a:t>
            </a:r>
            <a:r>
              <a:rPr lang="ko-KR" altLang="en-US" sz="1400" dirty="0"/>
              <a:t> 이라면</a:t>
            </a:r>
            <a:r>
              <a:rPr lang="en-US" altLang="ko-KR" sz="1400" dirty="0"/>
              <a:t>,</a:t>
            </a:r>
            <a:r>
              <a:rPr lang="ko-KR" altLang="en-US" sz="1400" dirty="0"/>
              <a:t> 이동생성을 하는 것이 복사하는 것보다 효율적이다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주소 치환</a:t>
            </a:r>
            <a:r>
              <a:rPr lang="en-US" altLang="ko-KR" sz="1400" dirty="0"/>
              <a:t>, </a:t>
            </a:r>
            <a:r>
              <a:rPr lang="ko-KR" altLang="en-US" sz="1400" dirty="0"/>
              <a:t>성능 향상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7529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7FB4F-1CB9-4FFE-AF5F-6D93E4AC5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5373C-6531-4DC0-8C3B-8DABD0F6D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이동생성자</a:t>
            </a:r>
            <a:r>
              <a:rPr lang="en-US" altLang="ko-KR" sz="1800" dirty="0"/>
              <a:t>, </a:t>
            </a:r>
            <a:r>
              <a:rPr lang="ko-KR" altLang="en-US" sz="1800" dirty="0"/>
              <a:t>이동 대입 연산자</a:t>
            </a:r>
            <a:r>
              <a:rPr lang="en-US" altLang="ko-KR" sz="18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AEE29F-FAA8-41A4-A195-D597B7D481C4}"/>
              </a:ext>
            </a:extLst>
          </p:cNvPr>
          <p:cNvSpPr txBox="1"/>
          <p:nvPr/>
        </p:nvSpPr>
        <p:spPr>
          <a:xfrm>
            <a:off x="838200" y="1722337"/>
            <a:ext cx="10103176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::Person(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&amp;&amp;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noexcept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예외발생 안함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name =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.name;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얕은 복사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age =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임시 객체 소멸 시에 메모리를 해제하지 못하게 한다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 =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nullptr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en-US" altLang="ko-KR" sz="11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nullptr</a:t>
            </a:r>
            <a:r>
              <a:rPr lang="ko-KR" altLang="en-US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은 해제하지 않음</a:t>
            </a:r>
            <a:r>
              <a:rPr lang="en-US" altLang="ko-KR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 // </a:t>
            </a:r>
            <a:r>
              <a:rPr lang="en-US" altLang="ko-KR" sz="11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nullptr</a:t>
            </a:r>
            <a:r>
              <a:rPr lang="en-US" altLang="ko-KR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는 </a:t>
            </a:r>
            <a:r>
              <a:rPr lang="en-US" altLang="ko-KR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C++ 11 </a:t>
            </a:r>
            <a:r>
              <a:rPr lang="ko-KR" altLang="en-US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에 추가</a:t>
            </a:r>
            <a:r>
              <a:rPr lang="en-US" altLang="ko-KR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ko-KR" altLang="en-US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기존의 </a:t>
            </a:r>
            <a:r>
              <a:rPr lang="en-US" altLang="ko-KR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NULL </a:t>
            </a:r>
            <a:r>
              <a:rPr lang="ko-KR" altLang="en-US" sz="11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대체</a:t>
            </a:r>
            <a:endParaRPr lang="en-US" altLang="ko-KR" sz="16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::o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perator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=(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&amp;&amp;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noexcept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!= &amp;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delete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[] name;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이전 데이터가 있으니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삭제한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후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name =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.name;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얕은 복사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주소 이전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age =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.name = </a:t>
            </a:r>
            <a:r>
              <a:rPr lang="en-US" altLang="ko-KR" sz="16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nullptr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이전 객체에서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pointer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는 삭제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other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*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this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833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BE812-6D12-45D9-B193-C8DB4AAA0CB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/>
          </a:solidFill>
        </p:spPr>
        <p:txBody>
          <a:bodyPr/>
          <a:lstStyle/>
          <a:p>
            <a:r>
              <a:rPr lang="ko-KR" altLang="en-US" dirty="0"/>
              <a:t>특수 </a:t>
            </a:r>
            <a:r>
              <a:rPr lang="ko-KR" altLang="en-US" dirty="0" err="1"/>
              <a:t>맴버</a:t>
            </a:r>
            <a:r>
              <a:rPr lang="ko-KR" altLang="en-US" dirty="0"/>
              <a:t>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052975-41E1-44FA-A786-589B7A6C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b="1" dirty="0"/>
              <a:t>특수 멤버 함수</a:t>
            </a:r>
            <a:r>
              <a:rPr lang="en-US" altLang="ko-KR" b="1" dirty="0"/>
              <a:t>(Special Member Function)</a:t>
            </a:r>
          </a:p>
          <a:p>
            <a:pPr lvl="1"/>
            <a:r>
              <a:rPr lang="ko-KR" altLang="en-US" dirty="0"/>
              <a:t>기본 생성자 </a:t>
            </a:r>
            <a:r>
              <a:rPr lang="en-US" altLang="ko-KR" dirty="0"/>
              <a:t>(constructor)</a:t>
            </a:r>
          </a:p>
          <a:p>
            <a:pPr lvl="1"/>
            <a:r>
              <a:rPr lang="ko-KR" altLang="en-US" dirty="0" err="1"/>
              <a:t>소멸자</a:t>
            </a:r>
            <a:r>
              <a:rPr lang="ko-KR" altLang="en-US" dirty="0"/>
              <a:t> </a:t>
            </a:r>
            <a:r>
              <a:rPr lang="en-US" altLang="ko-KR" dirty="0"/>
              <a:t>(destructor)</a:t>
            </a:r>
          </a:p>
          <a:p>
            <a:pPr lvl="1"/>
            <a:r>
              <a:rPr lang="ko-KR" altLang="en-US" dirty="0"/>
              <a:t>복사 생성자 및 복사 </a:t>
            </a:r>
            <a:r>
              <a:rPr lang="ko-KR" altLang="en-US" dirty="0" err="1"/>
              <a:t>할당자</a:t>
            </a:r>
            <a:r>
              <a:rPr lang="ko-KR" altLang="en-US" dirty="0"/>
              <a:t> </a:t>
            </a:r>
            <a:r>
              <a:rPr lang="en-US" altLang="ko-KR" dirty="0"/>
              <a:t>(copy assignment)</a:t>
            </a:r>
            <a:endParaRPr lang="ko-KR" altLang="en-US" dirty="0"/>
          </a:p>
          <a:p>
            <a:pPr lvl="1"/>
            <a:r>
              <a:rPr lang="ko-KR" altLang="en-US" dirty="0"/>
              <a:t>이동 생성자 및 이동 </a:t>
            </a:r>
            <a:r>
              <a:rPr lang="ko-KR" altLang="en-US" dirty="0" err="1"/>
              <a:t>할당자</a:t>
            </a:r>
            <a:r>
              <a:rPr lang="ko-KR" altLang="en-US" dirty="0"/>
              <a:t> </a:t>
            </a:r>
            <a:r>
              <a:rPr lang="en-US" altLang="ko-KR" dirty="0"/>
              <a:t>(move assignment)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컴파일러가 스스로 작성할 수 있는 멤버 함수들</a:t>
            </a:r>
            <a:endParaRPr lang="en-US" altLang="ko-KR" dirty="0"/>
          </a:p>
          <a:p>
            <a:pPr lvl="1"/>
            <a:r>
              <a:rPr lang="ko-KR" altLang="en-US" b="1" dirty="0"/>
              <a:t>복사 생성자</a:t>
            </a:r>
            <a:r>
              <a:rPr lang="ko-KR" altLang="en-US" dirty="0"/>
              <a:t>는 복사 생성자가 명시적으로 선언되어 있지 않은 클래스에 대해서만 자동 작성되며</a:t>
            </a:r>
            <a:r>
              <a:rPr lang="en-US" altLang="ko-KR" dirty="0"/>
              <a:t>, </a:t>
            </a:r>
          </a:p>
          <a:p>
            <a:pPr marL="457200" lvl="1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만일 </a:t>
            </a:r>
            <a:r>
              <a:rPr lang="ko-KR" altLang="en-US" b="1" dirty="0"/>
              <a:t>이동</a:t>
            </a:r>
            <a:r>
              <a:rPr lang="ko-KR" altLang="en-US" dirty="0"/>
              <a:t> 연산이 하나라도 선언되어 있으면 삭제된다</a:t>
            </a:r>
            <a:r>
              <a:rPr lang="en-US" altLang="ko-KR" dirty="0"/>
              <a:t>.  </a:t>
            </a:r>
            <a:r>
              <a:rPr lang="ko-KR" altLang="en-US" dirty="0"/>
              <a:t>복사할당연산의 경우도 마찬가지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소멸자가 명시적으로 선언된 클래스에서 복사 연산들이 자동 작성되는 기능은 비 권장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b="1" dirty="0"/>
              <a:t>이동 연산</a:t>
            </a:r>
            <a:r>
              <a:rPr lang="ko-KR" altLang="en-US" dirty="0"/>
              <a:t>들은 </a:t>
            </a:r>
            <a:r>
              <a:rPr lang="ko-KR" altLang="en-US" b="1" dirty="0"/>
              <a:t>이동</a:t>
            </a:r>
            <a:r>
              <a:rPr lang="ko-KR" altLang="en-US" dirty="0"/>
              <a:t> 연산들이나 </a:t>
            </a:r>
            <a:r>
              <a:rPr lang="ko-KR" altLang="en-US" b="1" dirty="0"/>
              <a:t>복사</a:t>
            </a:r>
            <a:r>
              <a:rPr lang="ko-KR" altLang="en-US" dirty="0"/>
              <a:t> 연산들</a:t>
            </a:r>
            <a:r>
              <a:rPr lang="en-US" altLang="ko-KR" dirty="0"/>
              <a:t>, </a:t>
            </a:r>
            <a:r>
              <a:rPr lang="ko-KR" altLang="en-US" b="1" dirty="0"/>
              <a:t>소멸자</a:t>
            </a:r>
            <a:r>
              <a:rPr lang="ko-KR" altLang="en-US" dirty="0"/>
              <a:t>가 명시적으로 선언되어 있지 않은 클래스에 대해서만 자동으로 작성된다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의 법칙 </a:t>
            </a:r>
            <a:r>
              <a:rPr lang="en-US" altLang="ko-KR" dirty="0"/>
              <a:t>(Rule Of Three), 5</a:t>
            </a:r>
            <a:r>
              <a:rPr lang="ko-KR" altLang="en-US" dirty="0"/>
              <a:t>의 법칙</a:t>
            </a:r>
            <a:r>
              <a:rPr lang="en-US" altLang="ko-KR" dirty="0"/>
              <a:t>(Rule Of Five)</a:t>
            </a:r>
            <a:endParaRPr lang="ko-KR" altLang="en-US" dirty="0"/>
          </a:p>
          <a:p>
            <a:pPr lvl="1"/>
            <a:r>
              <a:rPr lang="ko-KR" altLang="en-US" dirty="0"/>
              <a:t>만일 복사 생성자와 복사 할당 연산자</a:t>
            </a:r>
            <a:r>
              <a:rPr lang="en-US" altLang="ko-KR" dirty="0"/>
              <a:t>, </a:t>
            </a:r>
            <a:r>
              <a:rPr lang="ko-KR" altLang="en-US" dirty="0" err="1"/>
              <a:t>소멸자</a:t>
            </a:r>
            <a:r>
              <a:rPr lang="ko-KR" altLang="en-US" dirty="0"/>
              <a:t> 중 하나라도 선언했다면 나머지도 전부 선언하는 것이</a:t>
            </a:r>
            <a:r>
              <a:rPr lang="en-US" altLang="ko-KR" dirty="0"/>
              <a:t> </a:t>
            </a:r>
            <a:r>
              <a:rPr lang="ko-KR" altLang="en-US" dirty="0"/>
              <a:t>좋다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705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968E3B-7890-4169-A993-B39D98DD2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5BDE66-4635-4D6A-A683-E17069F90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 </a:t>
            </a:r>
            <a:r>
              <a:rPr lang="ko-KR" altLang="en-US" sz="1800" dirty="0"/>
              <a:t>특수 </a:t>
            </a:r>
            <a:r>
              <a:rPr lang="ko-KR" altLang="en-US" sz="1800" dirty="0" err="1"/>
              <a:t>맴버</a:t>
            </a:r>
            <a:r>
              <a:rPr lang="ko-KR" altLang="en-US" sz="1800" dirty="0"/>
              <a:t> 함수를 선언해 보세요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9D3E4-0D23-4664-A211-8DAF6B5E5C37}"/>
              </a:ext>
            </a:extLst>
          </p:cNvPr>
          <p:cNvSpPr txBox="1"/>
          <p:nvPr/>
        </p:nvSpPr>
        <p:spPr>
          <a:xfrm>
            <a:off x="838200" y="1903381"/>
            <a:ext cx="1037788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	</a:t>
            </a:r>
            <a:r>
              <a:rPr lang="en-US" altLang="ko-KR" sz="18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생성자</a:t>
            </a:r>
            <a:endParaRPr lang="ko-KR" altLang="en-US" sz="18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	~</a:t>
            </a:r>
            <a:r>
              <a:rPr lang="en-US" altLang="ko-KR" sz="18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8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소멸자</a:t>
            </a:r>
            <a:endParaRPr lang="en-US" altLang="ko-KR" sz="18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8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	</a:t>
            </a:r>
            <a:r>
              <a:rPr lang="en-US" altLang="ko-KR" sz="18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8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복사 생성자 선언</a:t>
            </a:r>
            <a:endParaRPr lang="ko-KR" altLang="en-US" sz="18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	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operator=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8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const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8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); 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복사 대입 연산자 선언</a:t>
            </a:r>
            <a:endParaRPr lang="en-US" altLang="ko-KR" sz="1800" dirty="0">
              <a:solidFill>
                <a:srgbClr val="008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8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	</a:t>
            </a:r>
            <a:r>
              <a:rPr lang="en-US" altLang="ko-KR" sz="18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&amp;&amp; </a:t>
            </a:r>
            <a:r>
              <a:rPr lang="en-US" altLang="ko-KR" sz="18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8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noexcept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이동 생성자 선언</a:t>
            </a:r>
            <a:endParaRPr lang="ko-KR" altLang="en-US" sz="18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	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 </a:t>
            </a:r>
            <a:r>
              <a:rPr lang="en-US" altLang="ko-KR" sz="18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operator=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CTest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&amp;&amp; </a:t>
            </a:r>
            <a:r>
              <a:rPr lang="en-US" altLang="ko-KR" sz="18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  <a:r>
              <a:rPr lang="en-US" altLang="ko-KR" sz="18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noexcept</a:t>
            </a:r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8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이동 대입 연산자 선언</a:t>
            </a:r>
            <a:endParaRPr lang="ko-KR" altLang="en-US" sz="18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8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  <a:endParaRPr lang="ko-KR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088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439BE-DD4B-48C3-8B8C-E810356D2B4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ko-KR" altLang="en-US" dirty="0"/>
              <a:t>변환생성자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FEAB58-C374-4427-ACFA-D25B06BF7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기본 자료형이나 다른 어떤 클래스와 충분히 관련되어 있어</a:t>
            </a:r>
            <a:r>
              <a:rPr lang="en-US" altLang="ko-KR" sz="1600" dirty="0"/>
              <a:t>, </a:t>
            </a:r>
            <a:r>
              <a:rPr lang="ko-KR" altLang="en-US" sz="1600" dirty="0"/>
              <a:t>서로 간에 변환할 수 있는 클래스를 정의할 수 있다</a:t>
            </a:r>
            <a:r>
              <a:rPr lang="en-US" altLang="ko-KR" sz="1600" dirty="0"/>
              <a:t>. </a:t>
            </a:r>
            <a:r>
              <a:rPr lang="ko-KR" altLang="en-US" sz="1600" dirty="0"/>
              <a:t>그러한 경우에</a:t>
            </a:r>
            <a:r>
              <a:rPr lang="en-US" altLang="ko-KR" sz="1600" dirty="0"/>
              <a:t>, </a:t>
            </a:r>
            <a:r>
              <a:rPr lang="ko-KR" altLang="en-US" sz="1600" dirty="0"/>
              <a:t>자동 변환을 할 것인지 강제 변환을 할 것인지 사용자가 </a:t>
            </a:r>
            <a:r>
              <a:rPr lang="en-US" altLang="ko-KR" sz="1600" dirty="0"/>
              <a:t>C++</a:t>
            </a:r>
            <a:r>
              <a:rPr lang="ko-KR" altLang="en-US" sz="1600" dirty="0"/>
              <a:t>에게 지시할 수 있다</a:t>
            </a:r>
            <a:r>
              <a:rPr lang="en-US" altLang="ko-KR" sz="1600" dirty="0"/>
              <a:t>.</a:t>
            </a:r>
          </a:p>
          <a:p>
            <a:r>
              <a:rPr lang="ko-KR" altLang="en-US" sz="1600" b="1" dirty="0">
                <a:solidFill>
                  <a:srgbClr val="C00000"/>
                </a:solidFill>
              </a:rPr>
              <a:t>하나</a:t>
            </a:r>
            <a:r>
              <a:rPr lang="ko-KR" altLang="en-US" sz="1600" b="1" dirty="0"/>
              <a:t>의 </a:t>
            </a:r>
            <a:r>
              <a:rPr lang="ko-KR" altLang="en-US" sz="1600" b="1" dirty="0">
                <a:solidFill>
                  <a:srgbClr val="C00000"/>
                </a:solidFill>
              </a:rPr>
              <a:t>매개변수</a:t>
            </a:r>
            <a:r>
              <a:rPr lang="ko-KR" altLang="en-US" sz="1600" b="1" dirty="0"/>
              <a:t>를 취하는 생성자</a:t>
            </a:r>
            <a:r>
              <a:rPr lang="ko-KR" altLang="en-US" sz="1600" dirty="0"/>
              <a:t>는 그 매개변수 데이터형의 값을 클래스형으로 변환하는 설계도처럼 동작</a:t>
            </a:r>
            <a:r>
              <a:rPr lang="en-US" altLang="ko-KR" sz="1600" dirty="0"/>
              <a:t>, </a:t>
            </a:r>
            <a:r>
              <a:rPr lang="ko-KR" altLang="en-US" sz="1600" dirty="0"/>
              <a:t>명시적 형변환이 필요 없이 자동으로 이루어지므로 </a:t>
            </a:r>
            <a:r>
              <a:rPr lang="ko-KR" altLang="en-US" sz="1600" b="1" dirty="0"/>
              <a:t>암시적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묵시적</a:t>
            </a:r>
            <a:r>
              <a:rPr lang="en-US" altLang="ko-KR" sz="1600" b="1" dirty="0"/>
              <a:t>) </a:t>
            </a:r>
            <a:r>
              <a:rPr lang="ko-KR" altLang="en-US" sz="1600" b="1" dirty="0"/>
              <a:t>형 변환</a:t>
            </a:r>
            <a:r>
              <a:rPr lang="ko-KR" altLang="en-US" sz="1600" dirty="0"/>
              <a:t>이라고 한다</a:t>
            </a:r>
            <a:r>
              <a:rPr lang="en-US" altLang="ko-KR" sz="1600" dirty="0"/>
              <a:t>. </a:t>
            </a:r>
          </a:p>
          <a:p>
            <a:r>
              <a:rPr lang="ko-KR" altLang="en-US" sz="1600" dirty="0"/>
              <a:t>하나의 매개변수만 사용할 수 있는 생성자만이 이와 같은 변환 생성자로 동작한다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8766A-0E1C-4B68-8CD7-DD8B1EFA0381}"/>
              </a:ext>
            </a:extLst>
          </p:cNvPr>
          <p:cNvSpPr txBox="1"/>
          <p:nvPr/>
        </p:nvSpPr>
        <p:spPr>
          <a:xfrm>
            <a:off x="1166070" y="3112027"/>
            <a:ext cx="778839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_age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age =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_age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  </a:t>
            </a:r>
            <a:r>
              <a:rPr lang="en-US" altLang="ko-KR" sz="1600" dirty="0">
                <a:solidFill>
                  <a:srgbClr val="0066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// </a:t>
            </a:r>
            <a:r>
              <a:rPr lang="ko-KR" altLang="en-US" sz="1600" dirty="0">
                <a:solidFill>
                  <a:srgbClr val="0066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변환 생성자</a:t>
            </a:r>
            <a:endParaRPr lang="en-US" altLang="ko-KR" sz="1600" dirty="0">
              <a:solidFill>
                <a:srgbClr val="000000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per = 11;    </a:t>
            </a:r>
            <a:r>
              <a:rPr lang="en-US" altLang="ko-KR" sz="1600" dirty="0">
                <a:solidFill>
                  <a:srgbClr val="0066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//</a:t>
            </a:r>
            <a:r>
              <a:rPr lang="ko-KR" altLang="en-US" sz="1600" dirty="0">
                <a:solidFill>
                  <a:srgbClr val="0066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암시적 </a:t>
            </a:r>
            <a:r>
              <a:rPr lang="ko-KR" altLang="en-US" sz="1600" dirty="0" err="1">
                <a:solidFill>
                  <a:srgbClr val="0066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형변환</a:t>
            </a:r>
            <a:r>
              <a:rPr lang="en-US" altLang="ko-KR" sz="1600" dirty="0">
                <a:solidFill>
                  <a:srgbClr val="0066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603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BEE6AB-D589-4E19-A406-6A1B734A0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변환생성자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947BA1-F499-4FC8-9279-E601FA8D8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b="1" dirty="0"/>
              <a:t>변환 생성자</a:t>
            </a:r>
            <a:r>
              <a:rPr lang="ko-KR" altLang="en-US" sz="1800" dirty="0"/>
              <a:t>의 호출</a:t>
            </a:r>
            <a:endParaRPr lang="en-US" altLang="ko-KR" sz="1800" dirty="0"/>
          </a:p>
          <a:p>
            <a:pPr lvl="1"/>
            <a:r>
              <a:rPr lang="en-US" altLang="ko-KR" sz="1600" dirty="0"/>
              <a:t>Person </a:t>
            </a:r>
            <a:r>
              <a:rPr lang="ko-KR" altLang="en-US" sz="1600" dirty="0"/>
              <a:t>객체를 </a:t>
            </a:r>
            <a:r>
              <a:rPr lang="en-US" altLang="ko-KR" sz="1600" dirty="0"/>
              <a:t>int</a:t>
            </a:r>
            <a:r>
              <a:rPr lang="ko-KR" altLang="en-US" sz="1600" dirty="0"/>
              <a:t>형 값으로 초기화할 때</a:t>
            </a:r>
          </a:p>
          <a:p>
            <a:pPr lvl="1"/>
            <a:r>
              <a:rPr lang="en-US" altLang="ko-KR" sz="1600" dirty="0"/>
              <a:t>Person </a:t>
            </a:r>
            <a:r>
              <a:rPr lang="ko-KR" altLang="en-US" sz="1600" dirty="0"/>
              <a:t>객체에 </a:t>
            </a:r>
            <a:r>
              <a:rPr lang="en-US" altLang="ko-KR" sz="1600" dirty="0"/>
              <a:t>int</a:t>
            </a:r>
            <a:r>
              <a:rPr lang="ko-KR" altLang="en-US" sz="1600" dirty="0"/>
              <a:t>형 값을 대입할 때</a:t>
            </a:r>
          </a:p>
          <a:p>
            <a:pPr lvl="1"/>
            <a:r>
              <a:rPr lang="en-US" altLang="ko-KR" sz="1600" dirty="0"/>
              <a:t>Person</a:t>
            </a:r>
            <a:r>
              <a:rPr lang="ko-KR" altLang="en-US" sz="1600" dirty="0"/>
              <a:t>형 매개변수를 기대하는 함수에 </a:t>
            </a:r>
            <a:r>
              <a:rPr lang="en-US" altLang="ko-KR" sz="1600" dirty="0"/>
              <a:t>int</a:t>
            </a:r>
            <a:r>
              <a:rPr lang="ko-KR" altLang="en-US" sz="1600" dirty="0"/>
              <a:t>형으로 전달할 때</a:t>
            </a:r>
            <a:r>
              <a:rPr lang="en-US" altLang="ko-KR" sz="1600" dirty="0"/>
              <a:t>, </a:t>
            </a:r>
            <a:r>
              <a:rPr lang="ko-KR" altLang="en-US" sz="1600" dirty="0"/>
              <a:t>함수가 </a:t>
            </a:r>
            <a:r>
              <a:rPr lang="en-US" altLang="ko-KR" sz="1600" dirty="0"/>
              <a:t>int</a:t>
            </a:r>
            <a:r>
              <a:rPr lang="ko-KR" altLang="en-US" sz="1600" dirty="0"/>
              <a:t>형 값을 </a:t>
            </a:r>
            <a:r>
              <a:rPr lang="ko-KR" altLang="en-US" sz="1600" dirty="0" err="1"/>
              <a:t>리턴할</a:t>
            </a:r>
            <a:r>
              <a:rPr lang="ko-KR" altLang="en-US" sz="1600" dirty="0"/>
              <a:t> 때</a:t>
            </a:r>
          </a:p>
          <a:p>
            <a:pPr lvl="1"/>
            <a:r>
              <a:rPr lang="en-US" altLang="ko-KR" sz="1600" dirty="0"/>
              <a:t>int</a:t>
            </a:r>
            <a:r>
              <a:rPr lang="ko-KR" altLang="en-US" sz="1600" dirty="0"/>
              <a:t>형으로 암시적 형 변환이 가능한 내장 데이터형을 사용할 때</a:t>
            </a:r>
            <a:endParaRPr lang="en-US" altLang="ko-KR" sz="16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156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9663D5-6ACB-4C40-BADD-7D2EB8E62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클래스의 명시적 </a:t>
            </a:r>
            <a:r>
              <a:rPr lang="ko-KR" altLang="en-US" dirty="0" err="1"/>
              <a:t>형변환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875A2E-03BA-449E-B929-CEC322DA0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자동 데이터형 변환을 막기 위한 키워드 </a:t>
            </a:r>
            <a:r>
              <a:rPr lang="en-US" altLang="ko-KR" sz="1800" dirty="0">
                <a:solidFill>
                  <a:srgbClr val="0000FF"/>
                </a:solidFill>
              </a:rPr>
              <a:t>explicit</a:t>
            </a:r>
            <a:endParaRPr lang="ko-KR" altLang="en-US" sz="1800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DB22F9-BF9B-4C24-8FB1-BE026F9DE1F2}"/>
              </a:ext>
            </a:extLst>
          </p:cNvPr>
          <p:cNvSpPr txBox="1"/>
          <p:nvPr/>
        </p:nvSpPr>
        <p:spPr>
          <a:xfrm>
            <a:off x="1048733" y="1800127"/>
            <a:ext cx="75919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explicit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Person(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_age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age = 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_age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per1 = 11;  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불가능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per2 =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(11);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per3 = (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)11;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526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0B8F0-92A0-4595-9BA8-372A86DE7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변환 연산자</a:t>
            </a:r>
            <a:r>
              <a:rPr lang="en-US" altLang="ko-KR" dirty="0"/>
              <a:t>, </a:t>
            </a:r>
            <a:r>
              <a:rPr lang="ko-KR" altLang="en-US" dirty="0"/>
              <a:t>변환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B7CFE0-40E5-4908-B080-B16CA6022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/>
              <a:t>변환 함수</a:t>
            </a:r>
            <a:r>
              <a:rPr lang="ko-KR" altLang="en-US" sz="1800" dirty="0"/>
              <a:t> </a:t>
            </a:r>
            <a:r>
              <a:rPr lang="en-US" altLang="ko-KR" sz="1800" dirty="0"/>
              <a:t>(</a:t>
            </a:r>
            <a:r>
              <a:rPr lang="ko-KR" altLang="en-US" sz="1800" dirty="0"/>
              <a:t>변환연산자</a:t>
            </a:r>
            <a:r>
              <a:rPr lang="en-US" altLang="ko-KR" sz="1800" dirty="0"/>
              <a:t>)</a:t>
            </a:r>
          </a:p>
          <a:p>
            <a:pPr lvl="1"/>
            <a:r>
              <a:rPr lang="ko-KR" altLang="en-US" sz="1600" dirty="0"/>
              <a:t>객체에서 어떤 데이터형으로 변환하기 위해 있는 것이 변환 함수</a:t>
            </a:r>
            <a:endParaRPr lang="en-US" altLang="ko-KR" sz="1600" dirty="0"/>
          </a:p>
          <a:p>
            <a:pPr lvl="1"/>
            <a:r>
              <a:rPr lang="ko-KR" altLang="en-US" sz="1600" dirty="0"/>
              <a:t>변환 생성자는 일반 타입에서 클래스의 객체를 생성하는 역할을 하고</a:t>
            </a:r>
            <a:r>
              <a:rPr lang="en-US" altLang="ko-KR" sz="1600" dirty="0"/>
              <a:t>, </a:t>
            </a:r>
            <a:r>
              <a:rPr lang="ko-KR" altLang="en-US" sz="1600" dirty="0"/>
              <a:t>변환 함수는 이와 반대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변환 함수 작성 방법</a:t>
            </a:r>
          </a:p>
          <a:p>
            <a:pPr marL="457200" lvl="1" indent="0">
              <a:buNone/>
            </a:pPr>
            <a:r>
              <a:rPr lang="en-US" altLang="ko-KR" sz="1600" dirty="0">
                <a:solidFill>
                  <a:srgbClr val="0000FF"/>
                </a:solidFill>
              </a:rPr>
              <a:t>operator</a:t>
            </a:r>
            <a:r>
              <a:rPr lang="en-US" altLang="ko-KR" sz="1600" dirty="0"/>
              <a:t> </a:t>
            </a:r>
            <a:r>
              <a:rPr lang="en-US" altLang="ko-KR" sz="1600" b="1" dirty="0" err="1"/>
              <a:t>typeName</a:t>
            </a:r>
            <a:r>
              <a:rPr lang="en-US" altLang="ko-KR" sz="1600" dirty="0"/>
              <a:t>();</a:t>
            </a:r>
          </a:p>
          <a:p>
            <a:pPr lvl="1"/>
            <a:r>
              <a:rPr lang="ko-KR" altLang="en-US" sz="1600" dirty="0"/>
              <a:t>변환 함수는 </a:t>
            </a:r>
            <a:r>
              <a:rPr lang="ko-KR" altLang="en-US" sz="1600" dirty="0" err="1"/>
              <a:t>메서드여야</a:t>
            </a:r>
            <a:r>
              <a:rPr lang="ko-KR" altLang="en-US" sz="1600" dirty="0"/>
              <a:t> 합니다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변환 함수는 리턴형을 가지면 안 됩니다</a:t>
            </a:r>
            <a:r>
              <a:rPr lang="en-US" altLang="ko-KR" sz="1600" dirty="0"/>
              <a:t>.</a:t>
            </a:r>
          </a:p>
          <a:p>
            <a:pPr lvl="1"/>
            <a:r>
              <a:rPr lang="ko-KR" altLang="en-US" sz="1600" dirty="0"/>
              <a:t>변환 함수는 매개변수를 가지면 안 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46961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0A6BF-B96B-47E6-A40E-D908B003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변환 함수 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D2DAFF-3AE5-40A3-9ADF-87A66C45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5E72D-AF0E-451E-88D2-DF63FD6D1943}"/>
              </a:ext>
            </a:extLst>
          </p:cNvPr>
          <p:cNvSpPr txBox="1"/>
          <p:nvPr/>
        </p:nvSpPr>
        <p:spPr>
          <a:xfrm>
            <a:off x="838200" y="1235676"/>
            <a:ext cx="830344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Person(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p_age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 age =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p_age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    </a:t>
            </a:r>
            <a:r>
              <a:rPr lang="en-US" altLang="ko-KR" sz="1600" dirty="0">
                <a:solidFill>
                  <a:srgbClr val="008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//int</a:t>
            </a:r>
            <a:r>
              <a:rPr lang="ko-KR" altLang="en-US" sz="1600" dirty="0">
                <a:solidFill>
                  <a:srgbClr val="008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로 변환 가능</a:t>
            </a:r>
            <a:endParaRPr lang="en-US" altLang="ko-KR" sz="1600" dirty="0">
              <a:solidFill>
                <a:srgbClr val="000000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{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per1 = 11;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 = per1;      </a:t>
            </a:r>
            <a:r>
              <a:rPr lang="en-US" altLang="ko-KR" sz="1600" dirty="0">
                <a:solidFill>
                  <a:srgbClr val="008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가능</a:t>
            </a:r>
            <a:endParaRPr lang="ko-KR" altLang="en-US" sz="1600" dirty="0">
              <a:solidFill>
                <a:srgbClr val="000000"/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106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9FCA6-8041-42E0-9404-7733AFE21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명시적 데이터형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0EF4F1-5647-41C7-97F8-EBDEC8C52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AA6ED-8E82-4203-9A9F-5E9C74BCD410}"/>
              </a:ext>
            </a:extLst>
          </p:cNvPr>
          <p:cNvSpPr txBox="1"/>
          <p:nvPr/>
        </p:nvSpPr>
        <p:spPr>
          <a:xfrm>
            <a:off x="838200" y="1235675"/>
            <a:ext cx="98880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class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private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Person(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p_age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age = </a:t>
            </a:r>
            <a:r>
              <a:rPr lang="en-US" altLang="ko-KR" sz="1600" dirty="0" err="1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p_age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explicit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age; </a:t>
            </a:r>
            <a:r>
              <a:rPr lang="en-US" altLang="ko-KR" sz="160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           </a:t>
            </a:r>
            <a:r>
              <a:rPr lang="en-US" altLang="ko-KR" sz="160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명시적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6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형변환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가능</a:t>
            </a:r>
            <a:endParaRPr lang="en-US" altLang="ko-KR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explicit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double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(age);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explicit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operator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long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 {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long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(age); }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};</a:t>
            </a:r>
          </a:p>
          <a:p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Person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per1 = 11;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a = per1;         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컴파일 에러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std::</a:t>
            </a:r>
            <a:r>
              <a:rPr lang="en-US" altLang="ko-KR" sz="16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(per1);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문제없음  </a:t>
            </a:r>
            <a:r>
              <a:rPr lang="en-US" altLang="ko-KR" sz="16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//(int)per1</a:t>
            </a:r>
            <a:endParaRPr lang="ko-KR" altLang="en-US" sz="16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6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282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A5536-DA41-4532-A913-1CD741DEA2F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/>
          </a:solidFill>
        </p:spPr>
        <p:txBody>
          <a:bodyPr/>
          <a:lstStyle/>
          <a:p>
            <a:r>
              <a:rPr lang="ko-KR" altLang="en-US" dirty="0"/>
              <a:t>연습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C4CB8F-75AD-4F4F-9B05-7B91A6546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복사 생성자 작성</a:t>
            </a:r>
            <a:endParaRPr lang="en-US" altLang="ko-KR" dirty="0"/>
          </a:p>
          <a:p>
            <a:r>
              <a:rPr lang="ko-KR" altLang="en-US" dirty="0"/>
              <a:t>복사 대입연산자 작성</a:t>
            </a:r>
            <a:endParaRPr lang="en-US" altLang="ko-KR" dirty="0"/>
          </a:p>
          <a:p>
            <a:r>
              <a:rPr lang="ko-KR" altLang="en-US" dirty="0"/>
              <a:t>이동 생성자 작성</a:t>
            </a:r>
            <a:endParaRPr lang="en-US" altLang="ko-KR" dirty="0"/>
          </a:p>
          <a:p>
            <a:r>
              <a:rPr lang="ko-KR" altLang="en-US" dirty="0"/>
              <a:t>이동 대입연산자 작성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특수 </a:t>
            </a:r>
            <a:r>
              <a:rPr lang="ko-KR" altLang="en-US" dirty="0" err="1"/>
              <a:t>맴버</a:t>
            </a:r>
            <a:r>
              <a:rPr lang="ko-KR" altLang="en-US" dirty="0"/>
              <a:t> 함수의 자동 생성 규칙을 알아보자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9030084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F28DBF1B-01D0-4FBC-BB1B-5659CB34DC19}" vid="{4A242179-4008-4EAD-92AB-026544F4F03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2490</TotalTime>
  <Words>2169</Words>
  <Application>Microsoft Office PowerPoint</Application>
  <PresentationFormat>와이드스크린</PresentationFormat>
  <Paragraphs>328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HY헤드라인M</vt:lpstr>
      <vt:lpstr>맑은 고딕</vt:lpstr>
      <vt:lpstr>함초롬돋움</vt:lpstr>
      <vt:lpstr>Arial</vt:lpstr>
      <vt:lpstr>Consolas</vt:lpstr>
      <vt:lpstr>Wingdings</vt:lpstr>
      <vt:lpstr>kdw</vt:lpstr>
      <vt:lpstr>C++ 객체의 활용</vt:lpstr>
      <vt:lpstr>학습목표</vt:lpstr>
      <vt:lpstr>복사생성자</vt:lpstr>
      <vt:lpstr>얕은 복사, 깊은 복사</vt:lpstr>
      <vt:lpstr>동적할당의 경우</vt:lpstr>
      <vt:lpstr>예시</vt:lpstr>
      <vt:lpstr>예시</vt:lpstr>
      <vt:lpstr>이동생성자</vt:lpstr>
      <vt:lpstr>우측값 참조 ( LValue Reference )</vt:lpstr>
      <vt:lpstr>이동생성자</vt:lpstr>
      <vt:lpstr>이동생성자의 호출</vt:lpstr>
      <vt:lpstr>예제</vt:lpstr>
      <vt:lpstr>특수 맴버 함수</vt:lpstr>
      <vt:lpstr>예시</vt:lpstr>
      <vt:lpstr>변환생성자</vt:lpstr>
      <vt:lpstr>변환생성자</vt:lpstr>
      <vt:lpstr>클래스의 명시적 형변환</vt:lpstr>
      <vt:lpstr>변환 연산자, 변환 함수</vt:lpstr>
      <vt:lpstr>변환 함수 예제</vt:lpstr>
      <vt:lpstr>명시적 데이터형 변환</vt:lpstr>
      <vt:lpstr>연습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552</cp:revision>
  <dcterms:created xsi:type="dcterms:W3CDTF">2020-02-16T05:20:05Z</dcterms:created>
  <dcterms:modified xsi:type="dcterms:W3CDTF">2023-07-29T01:35:06Z</dcterms:modified>
</cp:coreProperties>
</file>